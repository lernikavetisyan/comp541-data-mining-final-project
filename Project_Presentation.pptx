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4975" y="1133475"/>
            <a:ext cx="5734199" cy="28766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11378" y="1821688"/>
            <a:ext cx="5321934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7FAF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1" i="0">
                <a:solidFill>
                  <a:srgbClr val="37BDF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7FAF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37BDF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7FAF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F7FAF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302830"/>
            <a:ext cx="2802255" cy="420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F7FAF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047750"/>
            <a:ext cx="3715385" cy="1048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1" i="0">
                <a:solidFill>
                  <a:srgbClr val="37BDF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3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69.png"/><Relationship Id="rId5" Type="http://schemas.openxmlformats.org/officeDocument/2006/relationships/image" Target="../media/image33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4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29.png"/><Relationship Id="rId4" Type="http://schemas.openxmlformats.org/officeDocument/2006/relationships/image" Target="../media/image76.png"/><Relationship Id="rId5" Type="http://schemas.openxmlformats.org/officeDocument/2006/relationships/image" Target="../media/image30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13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8300" y="399362"/>
            <a:ext cx="1031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7BDF7"/>
                </a:solidFill>
                <a:latin typeface="Arial"/>
                <a:cs typeface="Arial"/>
              </a:rPr>
              <a:t>Data</a:t>
            </a:r>
            <a:r>
              <a:rPr dirty="0" sz="1400" spc="-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37BDF7"/>
                </a:solidFill>
                <a:latin typeface="Arial"/>
                <a:cs typeface="Arial"/>
              </a:rPr>
              <a:t>Mining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8300" y="1433601"/>
            <a:ext cx="4897120" cy="183261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75"/>
              </a:spcBef>
            </a:pPr>
            <a:r>
              <a:rPr dirty="0" sz="5900" spc="190">
                <a:solidFill>
                  <a:srgbClr val="FFFFFF"/>
                </a:solidFill>
              </a:rPr>
              <a:t>Project </a:t>
            </a:r>
            <a:r>
              <a:rPr dirty="0" sz="5900" spc="175">
                <a:solidFill>
                  <a:srgbClr val="FFFFFF"/>
                </a:solidFill>
              </a:rPr>
              <a:t>Presentation</a:t>
            </a:r>
            <a:endParaRPr sz="5900"/>
          </a:p>
        </p:txBody>
      </p:sp>
      <p:grpSp>
        <p:nvGrpSpPr>
          <p:cNvPr id="5" name="object 5"/>
          <p:cNvGrpSpPr/>
          <p:nvPr/>
        </p:nvGrpSpPr>
        <p:grpSpPr>
          <a:xfrm>
            <a:off x="373850" y="3612350"/>
            <a:ext cx="1062355" cy="338455"/>
            <a:chOff x="373850" y="3612350"/>
            <a:chExt cx="1062355" cy="338455"/>
          </a:xfrm>
        </p:grpSpPr>
        <p:sp>
          <p:nvSpPr>
            <p:cNvPr id="6" name="object 6"/>
            <p:cNvSpPr/>
            <p:nvPr/>
          </p:nvSpPr>
          <p:spPr>
            <a:xfrm>
              <a:off x="380999" y="3619500"/>
              <a:ext cx="1048385" cy="324485"/>
            </a:xfrm>
            <a:custGeom>
              <a:avLst/>
              <a:gdLst/>
              <a:ahLst/>
              <a:cxnLst/>
              <a:rect l="l" t="t" r="r" b="b"/>
              <a:pathLst>
                <a:path w="1048385" h="324485">
                  <a:moveTo>
                    <a:pt x="885899" y="323999"/>
                  </a:moveTo>
                  <a:lnTo>
                    <a:pt x="161999" y="323999"/>
                  </a:lnTo>
                  <a:lnTo>
                    <a:pt x="118933" y="318213"/>
                  </a:lnTo>
                  <a:lnTo>
                    <a:pt x="80235" y="301882"/>
                  </a:lnTo>
                  <a:lnTo>
                    <a:pt x="47448" y="276551"/>
                  </a:lnTo>
                  <a:lnTo>
                    <a:pt x="22117" y="243764"/>
                  </a:lnTo>
                  <a:lnTo>
                    <a:pt x="5786" y="205066"/>
                  </a:lnTo>
                  <a:lnTo>
                    <a:pt x="0" y="161999"/>
                  </a:lnTo>
                  <a:lnTo>
                    <a:pt x="5786" y="118933"/>
                  </a:lnTo>
                  <a:lnTo>
                    <a:pt x="22117" y="80235"/>
                  </a:lnTo>
                  <a:lnTo>
                    <a:pt x="47448" y="47448"/>
                  </a:lnTo>
                  <a:lnTo>
                    <a:pt x="80235" y="22117"/>
                  </a:lnTo>
                  <a:lnTo>
                    <a:pt x="118933" y="5786"/>
                  </a:lnTo>
                  <a:lnTo>
                    <a:pt x="161999" y="0"/>
                  </a:lnTo>
                  <a:lnTo>
                    <a:pt x="885899" y="0"/>
                  </a:lnTo>
                  <a:lnTo>
                    <a:pt x="947894" y="12331"/>
                  </a:lnTo>
                  <a:lnTo>
                    <a:pt x="1000451" y="47448"/>
                  </a:lnTo>
                  <a:lnTo>
                    <a:pt x="1035568" y="100005"/>
                  </a:lnTo>
                  <a:lnTo>
                    <a:pt x="1047899" y="161999"/>
                  </a:lnTo>
                  <a:lnTo>
                    <a:pt x="1042113" y="205066"/>
                  </a:lnTo>
                  <a:lnTo>
                    <a:pt x="1025782" y="243764"/>
                  </a:lnTo>
                  <a:lnTo>
                    <a:pt x="1000451" y="276551"/>
                  </a:lnTo>
                  <a:lnTo>
                    <a:pt x="967664" y="301882"/>
                  </a:lnTo>
                  <a:lnTo>
                    <a:pt x="928966" y="318213"/>
                  </a:lnTo>
                  <a:lnTo>
                    <a:pt x="885899" y="323999"/>
                  </a:lnTo>
                  <a:close/>
                </a:path>
              </a:pathLst>
            </a:custGeom>
            <a:solidFill>
              <a:srgbClr val="37BDF7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3619500"/>
              <a:ext cx="1048385" cy="324485"/>
            </a:xfrm>
            <a:custGeom>
              <a:avLst/>
              <a:gdLst/>
              <a:ahLst/>
              <a:cxnLst/>
              <a:rect l="l" t="t" r="r" b="b"/>
              <a:pathLst>
                <a:path w="1048385" h="324485">
                  <a:moveTo>
                    <a:pt x="0" y="161999"/>
                  </a:moveTo>
                  <a:lnTo>
                    <a:pt x="5786" y="118933"/>
                  </a:lnTo>
                  <a:lnTo>
                    <a:pt x="22117" y="80235"/>
                  </a:lnTo>
                  <a:lnTo>
                    <a:pt x="47448" y="47448"/>
                  </a:lnTo>
                  <a:lnTo>
                    <a:pt x="80235" y="22117"/>
                  </a:lnTo>
                  <a:lnTo>
                    <a:pt x="118933" y="5786"/>
                  </a:lnTo>
                  <a:lnTo>
                    <a:pt x="161999" y="0"/>
                  </a:lnTo>
                  <a:lnTo>
                    <a:pt x="885899" y="0"/>
                  </a:lnTo>
                  <a:lnTo>
                    <a:pt x="947894" y="12331"/>
                  </a:lnTo>
                  <a:lnTo>
                    <a:pt x="1000451" y="47448"/>
                  </a:lnTo>
                  <a:lnTo>
                    <a:pt x="1035568" y="100005"/>
                  </a:lnTo>
                  <a:lnTo>
                    <a:pt x="1047899" y="161999"/>
                  </a:lnTo>
                  <a:lnTo>
                    <a:pt x="1042113" y="205066"/>
                  </a:lnTo>
                  <a:lnTo>
                    <a:pt x="1025782" y="243764"/>
                  </a:lnTo>
                  <a:lnTo>
                    <a:pt x="1000451" y="276551"/>
                  </a:lnTo>
                  <a:lnTo>
                    <a:pt x="967664" y="301882"/>
                  </a:lnTo>
                  <a:lnTo>
                    <a:pt x="928966" y="318213"/>
                  </a:lnTo>
                  <a:lnTo>
                    <a:pt x="885899" y="323999"/>
                  </a:lnTo>
                  <a:lnTo>
                    <a:pt x="161999" y="323999"/>
                  </a:lnTo>
                  <a:lnTo>
                    <a:pt x="118933" y="318213"/>
                  </a:lnTo>
                  <a:lnTo>
                    <a:pt x="80235" y="301882"/>
                  </a:lnTo>
                  <a:lnTo>
                    <a:pt x="47448" y="276551"/>
                  </a:lnTo>
                  <a:lnTo>
                    <a:pt x="22117" y="243764"/>
                  </a:lnTo>
                  <a:lnTo>
                    <a:pt x="5786" y="205066"/>
                  </a:lnTo>
                  <a:lnTo>
                    <a:pt x="0" y="161999"/>
                  </a:lnTo>
                  <a:close/>
                </a:path>
              </a:pathLst>
            </a:custGeom>
            <a:ln w="142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53684" y="3712856"/>
            <a:ext cx="9036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 b="1">
                <a:solidFill>
                  <a:srgbClr val="37BDF7"/>
                </a:solidFill>
                <a:latin typeface="Arial"/>
                <a:cs typeface="Arial"/>
              </a:rPr>
              <a:t>Department:</a:t>
            </a:r>
            <a:r>
              <a:rPr dirty="0" sz="700" spc="4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16849" y="3612350"/>
            <a:ext cx="1157605" cy="338455"/>
            <a:chOff x="1516849" y="3612350"/>
            <a:chExt cx="1157605" cy="338455"/>
          </a:xfrm>
        </p:grpSpPr>
        <p:sp>
          <p:nvSpPr>
            <p:cNvPr id="10" name="object 10"/>
            <p:cNvSpPr/>
            <p:nvPr/>
          </p:nvSpPr>
          <p:spPr>
            <a:xfrm>
              <a:off x="1523999" y="3619500"/>
              <a:ext cx="1143000" cy="324485"/>
            </a:xfrm>
            <a:custGeom>
              <a:avLst/>
              <a:gdLst/>
              <a:ahLst/>
              <a:cxnLst/>
              <a:rect l="l" t="t" r="r" b="b"/>
              <a:pathLst>
                <a:path w="1143000" h="324485">
                  <a:moveTo>
                    <a:pt x="980999" y="323999"/>
                  </a:moveTo>
                  <a:lnTo>
                    <a:pt x="161999" y="323999"/>
                  </a:lnTo>
                  <a:lnTo>
                    <a:pt x="118933" y="318213"/>
                  </a:lnTo>
                  <a:lnTo>
                    <a:pt x="80235" y="301882"/>
                  </a:lnTo>
                  <a:lnTo>
                    <a:pt x="47448" y="276551"/>
                  </a:lnTo>
                  <a:lnTo>
                    <a:pt x="22117" y="243764"/>
                  </a:lnTo>
                  <a:lnTo>
                    <a:pt x="5786" y="205066"/>
                  </a:lnTo>
                  <a:lnTo>
                    <a:pt x="0" y="161999"/>
                  </a:lnTo>
                  <a:lnTo>
                    <a:pt x="5786" y="118933"/>
                  </a:lnTo>
                  <a:lnTo>
                    <a:pt x="22117" y="80235"/>
                  </a:lnTo>
                  <a:lnTo>
                    <a:pt x="47448" y="47448"/>
                  </a:lnTo>
                  <a:lnTo>
                    <a:pt x="80235" y="22117"/>
                  </a:lnTo>
                  <a:lnTo>
                    <a:pt x="118933" y="5786"/>
                  </a:lnTo>
                  <a:lnTo>
                    <a:pt x="161999" y="0"/>
                  </a:lnTo>
                  <a:lnTo>
                    <a:pt x="980999" y="0"/>
                  </a:lnTo>
                  <a:lnTo>
                    <a:pt x="1042994" y="12331"/>
                  </a:lnTo>
                  <a:lnTo>
                    <a:pt x="1095551" y="47448"/>
                  </a:lnTo>
                  <a:lnTo>
                    <a:pt x="1130668" y="100005"/>
                  </a:lnTo>
                  <a:lnTo>
                    <a:pt x="1142999" y="161999"/>
                  </a:lnTo>
                  <a:lnTo>
                    <a:pt x="1137213" y="205066"/>
                  </a:lnTo>
                  <a:lnTo>
                    <a:pt x="1120882" y="243764"/>
                  </a:lnTo>
                  <a:lnTo>
                    <a:pt x="1095551" y="276551"/>
                  </a:lnTo>
                  <a:lnTo>
                    <a:pt x="1062764" y="301882"/>
                  </a:lnTo>
                  <a:lnTo>
                    <a:pt x="1024066" y="318213"/>
                  </a:lnTo>
                  <a:lnTo>
                    <a:pt x="980999" y="323999"/>
                  </a:lnTo>
                  <a:close/>
                </a:path>
              </a:pathLst>
            </a:custGeom>
            <a:solidFill>
              <a:srgbClr val="37BDF7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23999" y="3619500"/>
              <a:ext cx="1143000" cy="324485"/>
            </a:xfrm>
            <a:custGeom>
              <a:avLst/>
              <a:gdLst/>
              <a:ahLst/>
              <a:cxnLst/>
              <a:rect l="l" t="t" r="r" b="b"/>
              <a:pathLst>
                <a:path w="1143000" h="324485">
                  <a:moveTo>
                    <a:pt x="0" y="161999"/>
                  </a:moveTo>
                  <a:lnTo>
                    <a:pt x="5786" y="118933"/>
                  </a:lnTo>
                  <a:lnTo>
                    <a:pt x="22117" y="80235"/>
                  </a:lnTo>
                  <a:lnTo>
                    <a:pt x="47448" y="47448"/>
                  </a:lnTo>
                  <a:lnTo>
                    <a:pt x="80235" y="22117"/>
                  </a:lnTo>
                  <a:lnTo>
                    <a:pt x="118933" y="5786"/>
                  </a:lnTo>
                  <a:lnTo>
                    <a:pt x="161999" y="0"/>
                  </a:lnTo>
                  <a:lnTo>
                    <a:pt x="980999" y="0"/>
                  </a:lnTo>
                  <a:lnTo>
                    <a:pt x="1042994" y="12331"/>
                  </a:lnTo>
                  <a:lnTo>
                    <a:pt x="1095551" y="47448"/>
                  </a:lnTo>
                  <a:lnTo>
                    <a:pt x="1130668" y="100005"/>
                  </a:lnTo>
                  <a:lnTo>
                    <a:pt x="1142999" y="161999"/>
                  </a:lnTo>
                  <a:lnTo>
                    <a:pt x="1137213" y="205066"/>
                  </a:lnTo>
                  <a:lnTo>
                    <a:pt x="1120882" y="243764"/>
                  </a:lnTo>
                  <a:lnTo>
                    <a:pt x="1095551" y="276551"/>
                  </a:lnTo>
                  <a:lnTo>
                    <a:pt x="1062764" y="301882"/>
                  </a:lnTo>
                  <a:lnTo>
                    <a:pt x="1024066" y="318213"/>
                  </a:lnTo>
                  <a:lnTo>
                    <a:pt x="980999" y="323999"/>
                  </a:lnTo>
                  <a:lnTo>
                    <a:pt x="161999" y="323999"/>
                  </a:lnTo>
                  <a:lnTo>
                    <a:pt x="118933" y="318213"/>
                  </a:lnTo>
                  <a:lnTo>
                    <a:pt x="80235" y="301882"/>
                  </a:lnTo>
                  <a:lnTo>
                    <a:pt x="47448" y="276551"/>
                  </a:lnTo>
                  <a:lnTo>
                    <a:pt x="22117" y="243764"/>
                  </a:lnTo>
                  <a:lnTo>
                    <a:pt x="5786" y="205066"/>
                  </a:lnTo>
                  <a:lnTo>
                    <a:pt x="0" y="161999"/>
                  </a:lnTo>
                  <a:close/>
                </a:path>
              </a:pathLst>
            </a:custGeom>
            <a:ln w="142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741128" y="3677487"/>
            <a:ext cx="7092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COMP</a:t>
            </a:r>
            <a:r>
              <a:rPr dirty="0" sz="1100" spc="-14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37BDF7"/>
                </a:solidFill>
                <a:latin typeface="Arial"/>
                <a:cs typeface="Arial"/>
              </a:rPr>
              <a:t>541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2218" y="110521"/>
            <a:ext cx="11176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1000" y="4191000"/>
            <a:ext cx="8382000" cy="19685"/>
          </a:xfrm>
          <a:custGeom>
            <a:avLst/>
            <a:gdLst/>
            <a:ahLst/>
            <a:cxnLst/>
            <a:rect l="l" t="t" r="r" b="b"/>
            <a:pathLst>
              <a:path w="8382000" h="19685">
                <a:moveTo>
                  <a:pt x="8381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381999" y="0"/>
                </a:lnTo>
                <a:lnTo>
                  <a:pt x="8381999" y="1919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8300" y="4399788"/>
            <a:ext cx="9937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94A3B8"/>
                </a:solidFill>
                <a:latin typeface="Microsoft Sans Serif"/>
                <a:cs typeface="Microsoft Sans Serif"/>
              </a:rPr>
              <a:t>May</a:t>
            </a:r>
            <a:r>
              <a:rPr dirty="0" sz="1400" spc="-70">
                <a:solidFill>
                  <a:srgbClr val="94A3B8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94A3B8"/>
                </a:solidFill>
                <a:latin typeface="Microsoft Sans Serif"/>
                <a:cs typeface="Microsoft Sans Serif"/>
              </a:rPr>
              <a:t>6,</a:t>
            </a:r>
            <a:r>
              <a:rPr dirty="0" sz="1400" spc="-70">
                <a:solidFill>
                  <a:srgbClr val="94A3B8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94A3B8"/>
                </a:solidFill>
                <a:latin typeface="Microsoft Sans Serif"/>
                <a:cs typeface="Microsoft Sans Serif"/>
              </a:rPr>
              <a:t>2026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83834" y="4167199"/>
            <a:ext cx="144081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527050">
              <a:lnSpc>
                <a:spcPts val="2630"/>
              </a:lnSpc>
              <a:spcBef>
                <a:spcPts val="195"/>
              </a:spcBef>
            </a:pPr>
            <a:r>
              <a:rPr dirty="0" sz="2200" spc="45" b="1">
                <a:solidFill>
                  <a:srgbClr val="37BDF7"/>
                </a:solidFill>
                <a:latin typeface="Arial"/>
                <a:cs typeface="Arial"/>
              </a:rPr>
              <a:t>Lernik Avetisyan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87917" y="39098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97603" y="216661"/>
            <a:ext cx="68351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65"/>
              <a:t>Dataset</a:t>
            </a:r>
            <a:r>
              <a:rPr dirty="0" sz="3600" spc="-330"/>
              <a:t> </a:t>
            </a:r>
            <a:r>
              <a:rPr dirty="0" sz="3600" spc="120"/>
              <a:t>Overview</a:t>
            </a:r>
            <a:r>
              <a:rPr dirty="0" sz="3600" spc="185"/>
              <a:t>  </a:t>
            </a:r>
            <a:r>
              <a:rPr dirty="0" sz="3600" spc="919">
                <a:solidFill>
                  <a:srgbClr val="37BDF7"/>
                </a:solidFill>
              </a:rPr>
              <a:t>3</a:t>
            </a:r>
            <a:r>
              <a:rPr dirty="0" sz="3600" spc="-200">
                <a:solidFill>
                  <a:srgbClr val="37BDF7"/>
                </a:solidFill>
              </a:rPr>
              <a:t> </a:t>
            </a:r>
            <a:r>
              <a:rPr dirty="0" sz="3600" spc="120"/>
              <a:t>Strategy</a:t>
            </a:r>
            <a:endParaRPr sz="3600"/>
          </a:p>
        </p:txBody>
      </p:sp>
      <p:grpSp>
        <p:nvGrpSpPr>
          <p:cNvPr id="5" name="object 5"/>
          <p:cNvGrpSpPr/>
          <p:nvPr/>
        </p:nvGrpSpPr>
        <p:grpSpPr>
          <a:xfrm>
            <a:off x="571500" y="1047750"/>
            <a:ext cx="3715385" cy="1048385"/>
            <a:chOff x="571500" y="1047750"/>
            <a:chExt cx="3715385" cy="1048385"/>
          </a:xfrm>
        </p:grpSpPr>
        <p:sp>
          <p:nvSpPr>
            <p:cNvPr id="6" name="object 6"/>
            <p:cNvSpPr/>
            <p:nvPr/>
          </p:nvSpPr>
          <p:spPr>
            <a:xfrm>
              <a:off x="571500" y="1047750"/>
              <a:ext cx="3715385" cy="1048385"/>
            </a:xfrm>
            <a:custGeom>
              <a:avLst/>
              <a:gdLst/>
              <a:ahLst/>
              <a:cxnLst/>
              <a:rect l="l" t="t" r="r" b="b"/>
              <a:pathLst>
                <a:path w="3715385" h="1048385">
                  <a:moveTo>
                    <a:pt x="3714899" y="1047899"/>
                  </a:moveTo>
                  <a:lnTo>
                    <a:pt x="0" y="1047899"/>
                  </a:lnTo>
                  <a:lnTo>
                    <a:pt x="0" y="0"/>
                  </a:lnTo>
                  <a:lnTo>
                    <a:pt x="3714899" y="0"/>
                  </a:lnTo>
                  <a:lnTo>
                    <a:pt x="3714899" y="1047899"/>
                  </a:lnTo>
                  <a:close/>
                </a:path>
              </a:pathLst>
            </a:custGeom>
            <a:solidFill>
              <a:srgbClr val="0F172A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075" y="1070773"/>
              <a:ext cx="139700" cy="114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01617" y="1906839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90" h="0">
                  <a:moveTo>
                    <a:pt x="0" y="0"/>
                  </a:moveTo>
                  <a:lnTo>
                    <a:pt x="84539" y="0"/>
                  </a:lnTo>
                </a:path>
              </a:pathLst>
            </a:custGeom>
            <a:ln w="5839">
              <a:solidFill>
                <a:srgbClr val="F6F9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 marL="404495">
              <a:lnSpc>
                <a:spcPct val="100000"/>
              </a:lnSpc>
              <a:spcBef>
                <a:spcPts val="530"/>
              </a:spcBef>
            </a:pPr>
            <a:r>
              <a:rPr dirty="0"/>
              <a:t>DATASET</a:t>
            </a:r>
            <a:r>
              <a:rPr dirty="0" spc="35"/>
              <a:t> </a:t>
            </a:r>
            <a:r>
              <a:rPr dirty="0" spc="-10"/>
              <a:t>SCOPE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</a:p>
          <a:p>
            <a:pPr marL="142875">
              <a:lnSpc>
                <a:spcPct val="100000"/>
              </a:lnSpc>
            </a:pPr>
            <a:r>
              <a:rPr dirty="0" spc="20">
                <a:solidFill>
                  <a:srgbClr val="94A3B8"/>
                </a:solidFill>
              </a:rPr>
              <a:t>Department:</a:t>
            </a:r>
            <a:r>
              <a:rPr dirty="0" spc="-25">
                <a:solidFill>
                  <a:srgbClr val="94A3B8"/>
                </a:solidFill>
              </a:rPr>
              <a:t> </a:t>
            </a:r>
            <a:r>
              <a:rPr dirty="0" spc="-10" b="0">
                <a:solidFill>
                  <a:srgbClr val="F7FAFC"/>
                </a:solidFill>
                <a:latin typeface="Microsoft Sans Serif"/>
                <a:cs typeface="Microsoft Sans Serif"/>
              </a:rPr>
              <a:t>Produce</a:t>
            </a:r>
          </a:p>
          <a:p>
            <a:pPr marL="142875">
              <a:lnSpc>
                <a:spcPct val="100000"/>
              </a:lnSpc>
              <a:spcBef>
                <a:spcPts val="450"/>
              </a:spcBef>
            </a:pPr>
            <a:r>
              <a:rPr dirty="0" spc="20">
                <a:solidFill>
                  <a:srgbClr val="94A3B8"/>
                </a:solidFill>
              </a:rPr>
              <a:t>Dataset:</a:t>
            </a:r>
            <a:r>
              <a:rPr dirty="0">
                <a:solidFill>
                  <a:srgbClr val="94A3B8"/>
                </a:solidFill>
              </a:rPr>
              <a:t> </a:t>
            </a:r>
            <a:r>
              <a:rPr dirty="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Instacart</a:t>
            </a:r>
            <a:r>
              <a:rPr dirty="0" spc="35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training-order </a:t>
            </a:r>
            <a:r>
              <a:rPr dirty="0" spc="-20" b="0">
                <a:solidFill>
                  <a:srgbClr val="F7FAFC"/>
                </a:solidFill>
                <a:latin typeface="Microsoft Sans Serif"/>
                <a:cs typeface="Microsoft Sans Serif"/>
              </a:rPr>
              <a:t>data</a:t>
            </a:r>
          </a:p>
          <a:p>
            <a:pPr marL="142875" marR="1002030">
              <a:lnSpc>
                <a:spcPct val="108800"/>
              </a:lnSpc>
              <a:spcBef>
                <a:spcPts val="370"/>
              </a:spcBef>
            </a:pPr>
            <a:r>
              <a:rPr dirty="0" spc="10" b="0">
                <a:solidFill>
                  <a:srgbClr val="94A3B8"/>
                </a:solidFill>
                <a:latin typeface="Microsoft Sans Serif"/>
                <a:cs typeface="Microsoft Sans Serif"/>
              </a:rPr>
              <a:t>Files</a:t>
            </a:r>
            <a:r>
              <a:rPr dirty="0" spc="15" b="0">
                <a:solidFill>
                  <a:srgbClr val="94A3B8"/>
                </a:solidFill>
                <a:latin typeface="Microsoft Sans Serif"/>
                <a:cs typeface="Microsoft Sans Serif"/>
              </a:rPr>
              <a:t> </a:t>
            </a:r>
            <a:r>
              <a:rPr dirty="0" spc="10" b="0">
                <a:solidFill>
                  <a:srgbClr val="94A3B8"/>
                </a:solidFill>
                <a:latin typeface="Microsoft Sans Serif"/>
                <a:cs typeface="Microsoft Sans Serif"/>
              </a:rPr>
              <a:t>Used:</a:t>
            </a:r>
            <a:r>
              <a:rPr dirty="0" spc="5" b="0">
                <a:solidFill>
                  <a:srgbClr val="94A3B8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aisles.csv,</a:t>
            </a:r>
            <a:r>
              <a:rPr dirty="0" sz="650" spc="20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departments.csv,</a:t>
            </a:r>
            <a:r>
              <a:rPr dirty="0" sz="650" spc="15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products.csv,</a:t>
            </a:r>
            <a:r>
              <a:rPr dirty="0" sz="650" spc="20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 b="0">
                <a:solidFill>
                  <a:srgbClr val="F7FAFC"/>
                </a:solidFill>
                <a:latin typeface="Microsoft Sans Serif"/>
                <a:cs typeface="Microsoft Sans Serif"/>
              </a:rPr>
              <a:t>orders.csv,</a:t>
            </a:r>
            <a:r>
              <a:rPr dirty="0" sz="650" spc="500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z="650" b="0">
                <a:solidFill>
                  <a:srgbClr val="F7FAFC"/>
                </a:solidFill>
                <a:latin typeface="Microsoft Sans Serif"/>
                <a:cs typeface="Microsoft Sans Serif"/>
              </a:rPr>
              <a:t>order_products</a:t>
            </a:r>
            <a:r>
              <a:rPr dirty="0" sz="650" spc="275" b="0">
                <a:solidFill>
                  <a:srgbClr val="F7FAFC"/>
                </a:solidFill>
                <a:latin typeface="Microsoft Sans Serif"/>
                <a:cs typeface="Microsoft Sans Serif"/>
              </a:rPr>
              <a:t>  </a:t>
            </a:r>
            <a:r>
              <a:rPr dirty="0" sz="650" spc="-10" b="0">
                <a:solidFill>
                  <a:srgbClr val="F7FAFC"/>
                </a:solidFill>
                <a:latin typeface="Microsoft Sans Serif"/>
                <a:cs typeface="Microsoft Sans Serif"/>
              </a:rPr>
              <a:t>train.csv</a:t>
            </a:r>
            <a:endParaRPr sz="650">
              <a:latin typeface="Microsoft Sans Serif"/>
              <a:cs typeface="Microsoft Sans Serif"/>
            </a:endParaRPr>
          </a:p>
          <a:p>
            <a:pPr marL="142875">
              <a:lnSpc>
                <a:spcPct val="100000"/>
              </a:lnSpc>
              <a:spcBef>
                <a:spcPts val="415"/>
              </a:spcBef>
            </a:pPr>
            <a:r>
              <a:rPr dirty="0" spc="10">
                <a:solidFill>
                  <a:srgbClr val="94A3B8"/>
                </a:solidFill>
              </a:rPr>
              <a:t>Analysis</a:t>
            </a:r>
            <a:r>
              <a:rPr dirty="0" spc="5">
                <a:solidFill>
                  <a:srgbClr val="94A3B8"/>
                </a:solidFill>
              </a:rPr>
              <a:t> </a:t>
            </a:r>
            <a:r>
              <a:rPr dirty="0" spc="10">
                <a:solidFill>
                  <a:srgbClr val="94A3B8"/>
                </a:solidFill>
              </a:rPr>
              <a:t>Scope:</a:t>
            </a:r>
            <a:r>
              <a:rPr dirty="0" spc="-5">
                <a:solidFill>
                  <a:srgbClr val="94A3B8"/>
                </a:solidFill>
              </a:rPr>
              <a:t> </a:t>
            </a:r>
            <a:r>
              <a:rPr dirty="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Produce</a:t>
            </a:r>
            <a:r>
              <a:rPr dirty="0" spc="35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products,</a:t>
            </a:r>
            <a:r>
              <a:rPr dirty="0" spc="30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aisles</a:t>
            </a:r>
            <a:r>
              <a:rPr dirty="0" spc="35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pc="125" b="0">
                <a:solidFill>
                  <a:srgbClr val="F7FAFC"/>
                </a:solidFill>
                <a:latin typeface="Microsoft Sans Serif"/>
                <a:cs typeface="Microsoft Sans Serif"/>
              </a:rPr>
              <a:t>3</a:t>
            </a:r>
            <a:r>
              <a:rPr dirty="0" spc="30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pc="10" b="0">
                <a:solidFill>
                  <a:srgbClr val="F7FAFC"/>
                </a:solidFill>
                <a:latin typeface="Microsoft Sans Serif"/>
                <a:cs typeface="Microsoft Sans Serif"/>
              </a:rPr>
              <a:t>cross-dept.</a:t>
            </a:r>
            <a:r>
              <a:rPr dirty="0" spc="35" b="0">
                <a:solidFill>
                  <a:srgbClr val="F7FAFC"/>
                </a:solidFill>
                <a:latin typeface="Microsoft Sans Serif"/>
                <a:cs typeface="Microsoft Sans Serif"/>
              </a:rPr>
              <a:t> </a:t>
            </a:r>
            <a:r>
              <a:rPr dirty="0" spc="-10" b="0">
                <a:solidFill>
                  <a:srgbClr val="F7FAFC"/>
                </a:solidFill>
                <a:latin typeface="Microsoft Sans Serif"/>
                <a:cs typeface="Microsoft Sans Serif"/>
              </a:rPr>
              <a:t>patterns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857750" y="1047750"/>
            <a:ext cx="3715385" cy="1048385"/>
            <a:chOff x="4857750" y="1047750"/>
            <a:chExt cx="3715385" cy="1048385"/>
          </a:xfrm>
        </p:grpSpPr>
        <p:sp>
          <p:nvSpPr>
            <p:cNvPr id="11" name="object 11"/>
            <p:cNvSpPr/>
            <p:nvPr/>
          </p:nvSpPr>
          <p:spPr>
            <a:xfrm>
              <a:off x="4857750" y="1047750"/>
              <a:ext cx="3715385" cy="1048385"/>
            </a:xfrm>
            <a:custGeom>
              <a:avLst/>
              <a:gdLst/>
              <a:ahLst/>
              <a:cxnLst/>
              <a:rect l="l" t="t" r="r" b="b"/>
              <a:pathLst>
                <a:path w="3715384" h="1048385">
                  <a:moveTo>
                    <a:pt x="3714899" y="1047899"/>
                  </a:moveTo>
                  <a:lnTo>
                    <a:pt x="0" y="1047899"/>
                  </a:lnTo>
                  <a:lnTo>
                    <a:pt x="0" y="0"/>
                  </a:lnTo>
                  <a:lnTo>
                    <a:pt x="3714899" y="0"/>
                  </a:lnTo>
                  <a:lnTo>
                    <a:pt x="3714899" y="1047899"/>
                  </a:lnTo>
                  <a:close/>
                </a:path>
              </a:pathLst>
            </a:custGeom>
            <a:solidFill>
              <a:srgbClr val="0F172A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6025" y="1207298"/>
              <a:ext cx="114300" cy="1270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857750" y="1047750"/>
            <a:ext cx="3715385" cy="10483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750">
              <a:latin typeface="Times New Roman"/>
              <a:cs typeface="Times New Roman"/>
            </a:endParaRPr>
          </a:p>
          <a:p>
            <a:pPr marL="404495">
              <a:lnSpc>
                <a:spcPct val="100000"/>
              </a:lnSpc>
            </a:pP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APPROACH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50">
              <a:latin typeface="Arial"/>
              <a:cs typeface="Arial"/>
            </a:endParaRPr>
          </a:p>
          <a:p>
            <a:pPr marL="142875" marR="361315">
              <a:lnSpc>
                <a:spcPct val="100000"/>
              </a:lnSpc>
            </a:pP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The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analysis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focuses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on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discovering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insights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beyond</a:t>
            </a:r>
            <a:r>
              <a:rPr dirty="0" sz="750" spc="50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common-sense</a:t>
            </a:r>
            <a:r>
              <a:rPr dirty="0" sz="7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co-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purchase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behavior.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analysis,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7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pattern</a:t>
            </a:r>
            <a:r>
              <a:rPr dirty="0" sz="750" spc="50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mining,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cross-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rule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mining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were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used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to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identify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750" spc="50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patterns</a:t>
            </a:r>
            <a:r>
              <a:rPr dirty="0" sz="75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within</a:t>
            </a:r>
            <a:r>
              <a:rPr dirty="0" sz="75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75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75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across</a:t>
            </a:r>
            <a:r>
              <a:rPr dirty="0" sz="75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other</a:t>
            </a:r>
            <a:r>
              <a:rPr dirty="0" sz="750" spc="-4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departments.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1475" y="2276475"/>
            <a:ext cx="8401685" cy="1734185"/>
            <a:chOff x="371475" y="2276475"/>
            <a:chExt cx="8401685" cy="173418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475" y="2276475"/>
              <a:ext cx="8401199" cy="17336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9447" y="2357818"/>
              <a:ext cx="190500" cy="1714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003479" y="2367343"/>
            <a:ext cx="3505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7BDF7"/>
                </a:solidFill>
                <a:latin typeface="Arial"/>
                <a:cs typeface="Arial"/>
              </a:rPr>
              <a:t>PROJECT</a:t>
            </a:r>
            <a:r>
              <a:rPr dirty="0" sz="1400" spc="-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7BDF7"/>
                </a:solidFill>
                <a:latin typeface="Arial"/>
                <a:cs typeface="Arial"/>
              </a:rPr>
              <a:t>OBJECTIVES</a:t>
            </a:r>
            <a:r>
              <a:rPr dirty="0" sz="1400" spc="-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400" spc="290" b="1">
                <a:solidFill>
                  <a:srgbClr val="37BDF7"/>
                </a:solidFill>
                <a:latin typeface="Arial"/>
                <a:cs typeface="Arial"/>
              </a:rPr>
              <a:t>3</a:t>
            </a:r>
            <a:r>
              <a:rPr dirty="0" sz="1400" spc="-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37BDF7"/>
                </a:solidFill>
                <a:latin typeface="Arial"/>
                <a:cs typeface="Arial"/>
              </a:rPr>
              <a:t>COMPLIANCE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4197" y="2707322"/>
            <a:ext cx="3920490" cy="1205865"/>
            <a:chOff x="564197" y="2707322"/>
            <a:chExt cx="3920490" cy="1205865"/>
          </a:xfrm>
        </p:grpSpPr>
        <p:sp>
          <p:nvSpPr>
            <p:cNvPr id="19" name="object 19"/>
            <p:cNvSpPr/>
            <p:nvPr/>
          </p:nvSpPr>
          <p:spPr>
            <a:xfrm>
              <a:off x="571499" y="2714625"/>
              <a:ext cx="3905885" cy="1191260"/>
            </a:xfrm>
            <a:custGeom>
              <a:avLst/>
              <a:gdLst/>
              <a:ahLst/>
              <a:cxnLst/>
              <a:rect l="l" t="t" r="r" b="b"/>
              <a:pathLst>
                <a:path w="3905885" h="1191260">
                  <a:moveTo>
                    <a:pt x="3791092" y="1190699"/>
                  </a:moveTo>
                  <a:lnTo>
                    <a:pt x="114307" y="1190699"/>
                  </a:lnTo>
                  <a:lnTo>
                    <a:pt x="69813" y="1181717"/>
                  </a:lnTo>
                  <a:lnTo>
                    <a:pt x="33479" y="1157220"/>
                  </a:lnTo>
                  <a:lnTo>
                    <a:pt x="8982" y="1120886"/>
                  </a:lnTo>
                  <a:lnTo>
                    <a:pt x="0" y="1076392"/>
                  </a:lnTo>
                  <a:lnTo>
                    <a:pt x="0" y="114307"/>
                  </a:lnTo>
                  <a:lnTo>
                    <a:pt x="8982" y="69813"/>
                  </a:lnTo>
                  <a:lnTo>
                    <a:pt x="33479" y="33479"/>
                  </a:lnTo>
                  <a:lnTo>
                    <a:pt x="69813" y="8982"/>
                  </a:lnTo>
                  <a:lnTo>
                    <a:pt x="114307" y="0"/>
                  </a:lnTo>
                  <a:lnTo>
                    <a:pt x="3791092" y="0"/>
                  </a:lnTo>
                  <a:lnTo>
                    <a:pt x="3834836" y="8701"/>
                  </a:lnTo>
                  <a:lnTo>
                    <a:pt x="3871920" y="33479"/>
                  </a:lnTo>
                  <a:lnTo>
                    <a:pt x="3896698" y="70563"/>
                  </a:lnTo>
                  <a:lnTo>
                    <a:pt x="3905399" y="114307"/>
                  </a:lnTo>
                  <a:lnTo>
                    <a:pt x="3905399" y="1076392"/>
                  </a:lnTo>
                  <a:lnTo>
                    <a:pt x="3896417" y="1120886"/>
                  </a:lnTo>
                  <a:lnTo>
                    <a:pt x="3871920" y="1157220"/>
                  </a:lnTo>
                  <a:lnTo>
                    <a:pt x="3835586" y="1181717"/>
                  </a:lnTo>
                  <a:lnTo>
                    <a:pt x="3791092" y="1190699"/>
                  </a:lnTo>
                  <a:close/>
                </a:path>
              </a:pathLst>
            </a:custGeom>
            <a:solidFill>
              <a:srgbClr val="0F172A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1499" y="2714625"/>
              <a:ext cx="3905885" cy="1191260"/>
            </a:xfrm>
            <a:custGeom>
              <a:avLst/>
              <a:gdLst/>
              <a:ahLst/>
              <a:cxnLst/>
              <a:rect l="l" t="t" r="r" b="b"/>
              <a:pathLst>
                <a:path w="3905885" h="1191260">
                  <a:moveTo>
                    <a:pt x="0" y="114307"/>
                  </a:moveTo>
                  <a:lnTo>
                    <a:pt x="8982" y="69813"/>
                  </a:lnTo>
                  <a:lnTo>
                    <a:pt x="33479" y="33479"/>
                  </a:lnTo>
                  <a:lnTo>
                    <a:pt x="69813" y="8982"/>
                  </a:lnTo>
                  <a:lnTo>
                    <a:pt x="114307" y="0"/>
                  </a:lnTo>
                  <a:lnTo>
                    <a:pt x="3791092" y="0"/>
                  </a:lnTo>
                  <a:lnTo>
                    <a:pt x="3834836" y="8701"/>
                  </a:lnTo>
                  <a:lnTo>
                    <a:pt x="3871920" y="33479"/>
                  </a:lnTo>
                  <a:lnTo>
                    <a:pt x="3896698" y="70563"/>
                  </a:lnTo>
                  <a:lnTo>
                    <a:pt x="3905399" y="114307"/>
                  </a:lnTo>
                  <a:lnTo>
                    <a:pt x="3905399" y="1076392"/>
                  </a:lnTo>
                  <a:lnTo>
                    <a:pt x="3896417" y="1120886"/>
                  </a:lnTo>
                  <a:lnTo>
                    <a:pt x="3871920" y="1157220"/>
                  </a:lnTo>
                  <a:lnTo>
                    <a:pt x="3835586" y="1181717"/>
                  </a:lnTo>
                  <a:lnTo>
                    <a:pt x="3791092" y="1190699"/>
                  </a:lnTo>
                  <a:lnTo>
                    <a:pt x="114307" y="1190699"/>
                  </a:lnTo>
                  <a:lnTo>
                    <a:pt x="69813" y="1181717"/>
                  </a:lnTo>
                  <a:lnTo>
                    <a:pt x="33479" y="1157220"/>
                  </a:lnTo>
                  <a:lnTo>
                    <a:pt x="8982" y="1120886"/>
                  </a:lnTo>
                  <a:lnTo>
                    <a:pt x="0" y="1076392"/>
                  </a:lnTo>
                  <a:lnTo>
                    <a:pt x="0" y="114307"/>
                  </a:lnTo>
                  <a:close/>
                </a:path>
              </a:pathLst>
            </a:custGeom>
            <a:ln w="142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0250" y="3031807"/>
              <a:ext cx="95250" cy="1079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0250" y="3203257"/>
              <a:ext cx="95250" cy="1079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0250" y="3374707"/>
              <a:ext cx="95250" cy="1079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0250" y="3546157"/>
              <a:ext cx="95250" cy="1079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01675" y="2835973"/>
            <a:ext cx="1593215" cy="8648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REQUIREMENTS</a:t>
            </a:r>
            <a:endParaRPr sz="800">
              <a:latin typeface="Arial"/>
              <a:cs typeface="Arial"/>
            </a:endParaRPr>
          </a:p>
          <a:p>
            <a:pPr marL="160655" marR="405130">
              <a:lnSpc>
                <a:spcPct val="140600"/>
              </a:lnSpc>
              <a:spcBef>
                <a:spcPts val="26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Select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one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department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Use</a:t>
            </a:r>
            <a:r>
              <a:rPr dirty="0" sz="80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80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full</a:t>
            </a:r>
            <a:r>
              <a:rPr dirty="0" sz="80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dataset</a:t>
            </a:r>
            <a:endParaRPr sz="800">
              <a:latin typeface="Microsoft Sans Serif"/>
              <a:cs typeface="Microsoft Sans Serif"/>
            </a:endParaRPr>
          </a:p>
          <a:p>
            <a:pPr marL="160655">
              <a:lnSpc>
                <a:spcPct val="100000"/>
              </a:lnSpc>
              <a:spcBef>
                <a:spcPts val="390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Complete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3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analyses</a:t>
            </a:r>
            <a:endParaRPr sz="800">
              <a:latin typeface="Microsoft Sans Serif"/>
              <a:cs typeface="Microsoft Sans Serif"/>
            </a:endParaRPr>
          </a:p>
          <a:p>
            <a:pPr marL="160655">
              <a:lnSpc>
                <a:spcPct val="100000"/>
              </a:lnSpc>
              <a:spcBef>
                <a:spcPts val="490"/>
              </a:spcBef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Complete</a:t>
            </a:r>
            <a:r>
              <a:rPr dirty="0" sz="7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3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pattern-mining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analyses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19362" y="2805112"/>
            <a:ext cx="265430" cy="962025"/>
            <a:chOff x="2519362" y="2805112"/>
            <a:chExt cx="265430" cy="962025"/>
          </a:xfrm>
        </p:grpSpPr>
        <p:sp>
          <p:nvSpPr>
            <p:cNvPr id="27" name="object 27"/>
            <p:cNvSpPr/>
            <p:nvPr/>
          </p:nvSpPr>
          <p:spPr>
            <a:xfrm>
              <a:off x="2524125" y="2809875"/>
              <a:ext cx="0" cy="952500"/>
            </a:xfrm>
            <a:custGeom>
              <a:avLst/>
              <a:gdLst/>
              <a:ahLst/>
              <a:cxnLst/>
              <a:rect l="l" t="t" r="r" b="b"/>
              <a:pathLst>
                <a:path w="0" h="952500">
                  <a:moveTo>
                    <a:pt x="0" y="0"/>
                  </a:moveTo>
                  <a:lnTo>
                    <a:pt x="0" y="952499"/>
                  </a:lnTo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6525" y="3038157"/>
              <a:ext cx="107950" cy="1079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6525" y="3209607"/>
              <a:ext cx="107950" cy="1079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6525" y="3381057"/>
              <a:ext cx="107950" cy="1079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6525" y="3552507"/>
              <a:ext cx="107950" cy="1079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654300" y="2835973"/>
            <a:ext cx="1741170" cy="8648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2C55E"/>
                </a:solidFill>
                <a:latin typeface="Arial"/>
                <a:cs typeface="Arial"/>
              </a:rPr>
              <a:t>IMPLEMENTATION</a:t>
            </a:r>
            <a:endParaRPr sz="8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65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selected</a:t>
            </a:r>
            <a:endParaRPr sz="800">
              <a:latin typeface="Microsoft Sans Serif"/>
              <a:cs typeface="Microsoft Sans Serif"/>
            </a:endParaRPr>
          </a:p>
          <a:p>
            <a:pPr marL="160655">
              <a:lnSpc>
                <a:spcPct val="100000"/>
              </a:lnSpc>
              <a:spcBef>
                <a:spcPts val="39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Full training-order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data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endParaRPr sz="800">
              <a:latin typeface="Microsoft Sans Serif"/>
              <a:cs typeface="Microsoft Sans Serif"/>
            </a:endParaRPr>
          </a:p>
          <a:p>
            <a:pPr marL="160655">
              <a:lnSpc>
                <a:spcPct val="100000"/>
              </a:lnSpc>
              <a:spcBef>
                <a:spcPts val="540"/>
              </a:spcBef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Aisle,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product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85">
                <a:solidFill>
                  <a:srgbClr val="E1E7F0"/>
                </a:solidFill>
                <a:latin typeface="Microsoft Sans Serif"/>
                <a:cs typeface="Microsoft Sans Serif"/>
              </a:rPr>
              <a:t>3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timing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analyses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completed</a:t>
            </a:r>
            <a:endParaRPr sz="650">
              <a:latin typeface="Microsoft Sans Serif"/>
              <a:cs typeface="Microsoft Sans Serif"/>
            </a:endParaRPr>
          </a:p>
          <a:p>
            <a:pPr marL="160655">
              <a:lnSpc>
                <a:spcPct val="100000"/>
              </a:lnSpc>
              <a:spcBef>
                <a:spcPts val="520"/>
              </a:spcBef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Product,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7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95">
                <a:solidFill>
                  <a:srgbClr val="E1E7F0"/>
                </a:solidFill>
                <a:latin typeface="Microsoft Sans Serif"/>
                <a:cs typeface="Microsoft Sans Serif"/>
              </a:rPr>
              <a:t>3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cross-dept</a:t>
            </a:r>
            <a:r>
              <a:rPr dirty="0" sz="7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7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mined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59947" y="2707322"/>
            <a:ext cx="3920490" cy="1205865"/>
            <a:chOff x="4659947" y="2707322"/>
            <a:chExt cx="3920490" cy="1205865"/>
          </a:xfrm>
        </p:grpSpPr>
        <p:sp>
          <p:nvSpPr>
            <p:cNvPr id="34" name="object 34"/>
            <p:cNvSpPr/>
            <p:nvPr/>
          </p:nvSpPr>
          <p:spPr>
            <a:xfrm>
              <a:off x="4667249" y="2714625"/>
              <a:ext cx="3905885" cy="1191260"/>
            </a:xfrm>
            <a:custGeom>
              <a:avLst/>
              <a:gdLst/>
              <a:ahLst/>
              <a:cxnLst/>
              <a:rect l="l" t="t" r="r" b="b"/>
              <a:pathLst>
                <a:path w="3905884" h="1191260">
                  <a:moveTo>
                    <a:pt x="3791092" y="1190699"/>
                  </a:moveTo>
                  <a:lnTo>
                    <a:pt x="114306" y="1190699"/>
                  </a:lnTo>
                  <a:lnTo>
                    <a:pt x="69813" y="1181717"/>
                  </a:lnTo>
                  <a:lnTo>
                    <a:pt x="33479" y="1157220"/>
                  </a:lnTo>
                  <a:lnTo>
                    <a:pt x="8982" y="1120886"/>
                  </a:lnTo>
                  <a:lnTo>
                    <a:pt x="0" y="1076392"/>
                  </a:lnTo>
                  <a:lnTo>
                    <a:pt x="0" y="114307"/>
                  </a:lnTo>
                  <a:lnTo>
                    <a:pt x="8982" y="69813"/>
                  </a:lnTo>
                  <a:lnTo>
                    <a:pt x="33479" y="33479"/>
                  </a:lnTo>
                  <a:lnTo>
                    <a:pt x="69813" y="8982"/>
                  </a:lnTo>
                  <a:lnTo>
                    <a:pt x="114306" y="0"/>
                  </a:lnTo>
                  <a:lnTo>
                    <a:pt x="3791092" y="0"/>
                  </a:lnTo>
                  <a:lnTo>
                    <a:pt x="3834836" y="8701"/>
                  </a:lnTo>
                  <a:lnTo>
                    <a:pt x="3871919" y="33479"/>
                  </a:lnTo>
                  <a:lnTo>
                    <a:pt x="3896698" y="70563"/>
                  </a:lnTo>
                  <a:lnTo>
                    <a:pt x="3905399" y="114307"/>
                  </a:lnTo>
                  <a:lnTo>
                    <a:pt x="3905399" y="1076392"/>
                  </a:lnTo>
                  <a:lnTo>
                    <a:pt x="3896417" y="1120886"/>
                  </a:lnTo>
                  <a:lnTo>
                    <a:pt x="3871920" y="1157220"/>
                  </a:lnTo>
                  <a:lnTo>
                    <a:pt x="3835586" y="1181717"/>
                  </a:lnTo>
                  <a:lnTo>
                    <a:pt x="3791092" y="1190699"/>
                  </a:lnTo>
                  <a:close/>
                </a:path>
              </a:pathLst>
            </a:custGeom>
            <a:solidFill>
              <a:srgbClr val="0F172A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67249" y="2714625"/>
              <a:ext cx="3905885" cy="1191260"/>
            </a:xfrm>
            <a:custGeom>
              <a:avLst/>
              <a:gdLst/>
              <a:ahLst/>
              <a:cxnLst/>
              <a:rect l="l" t="t" r="r" b="b"/>
              <a:pathLst>
                <a:path w="3905884" h="1191260">
                  <a:moveTo>
                    <a:pt x="0" y="114307"/>
                  </a:moveTo>
                  <a:lnTo>
                    <a:pt x="8982" y="69813"/>
                  </a:lnTo>
                  <a:lnTo>
                    <a:pt x="33479" y="33479"/>
                  </a:lnTo>
                  <a:lnTo>
                    <a:pt x="69813" y="8982"/>
                  </a:lnTo>
                  <a:lnTo>
                    <a:pt x="114306" y="0"/>
                  </a:lnTo>
                  <a:lnTo>
                    <a:pt x="3791092" y="0"/>
                  </a:lnTo>
                  <a:lnTo>
                    <a:pt x="3834836" y="8701"/>
                  </a:lnTo>
                  <a:lnTo>
                    <a:pt x="3871919" y="33479"/>
                  </a:lnTo>
                  <a:lnTo>
                    <a:pt x="3896698" y="70563"/>
                  </a:lnTo>
                  <a:lnTo>
                    <a:pt x="3905399" y="114307"/>
                  </a:lnTo>
                  <a:lnTo>
                    <a:pt x="3905399" y="1076392"/>
                  </a:lnTo>
                  <a:lnTo>
                    <a:pt x="3896417" y="1120886"/>
                  </a:lnTo>
                  <a:lnTo>
                    <a:pt x="3871920" y="1157220"/>
                  </a:lnTo>
                  <a:lnTo>
                    <a:pt x="3835586" y="1181717"/>
                  </a:lnTo>
                  <a:lnTo>
                    <a:pt x="3791092" y="1190699"/>
                  </a:lnTo>
                  <a:lnTo>
                    <a:pt x="114306" y="1190699"/>
                  </a:lnTo>
                  <a:lnTo>
                    <a:pt x="69813" y="1181717"/>
                  </a:lnTo>
                  <a:lnTo>
                    <a:pt x="33479" y="1157220"/>
                  </a:lnTo>
                  <a:lnTo>
                    <a:pt x="8982" y="1120886"/>
                  </a:lnTo>
                  <a:lnTo>
                    <a:pt x="0" y="1076392"/>
                  </a:lnTo>
                  <a:lnTo>
                    <a:pt x="0" y="114307"/>
                  </a:lnTo>
                  <a:close/>
                </a:path>
              </a:pathLst>
            </a:custGeom>
            <a:ln w="14299">
              <a:solidFill>
                <a:srgbClr val="22C55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6000" y="3031807"/>
              <a:ext cx="95250" cy="1079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6000" y="3203257"/>
              <a:ext cx="95250" cy="1079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6000" y="3374707"/>
              <a:ext cx="95250" cy="1079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6000" y="3546157"/>
              <a:ext cx="95250" cy="10795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797425" y="2835973"/>
            <a:ext cx="1582420" cy="867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REQUIREMENTS</a:t>
            </a:r>
            <a:endParaRPr sz="800">
              <a:latin typeface="Arial"/>
              <a:cs typeface="Arial"/>
            </a:endParaRPr>
          </a:p>
          <a:p>
            <a:pPr marL="160655" marR="5080">
              <a:lnSpc>
                <a:spcPct val="140600"/>
              </a:lnSpc>
              <a:spcBef>
                <a:spcPts val="265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Use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Apriori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or</a:t>
            </a:r>
            <a:r>
              <a:rPr dirty="0" sz="800" spc="-6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FP-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Growth Include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support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confidence Explain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80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choices</a:t>
            </a:r>
            <a:endParaRPr sz="800">
              <a:latin typeface="Microsoft Sans Serif"/>
              <a:cs typeface="Microsoft Sans Serif"/>
            </a:endParaRPr>
          </a:p>
          <a:p>
            <a:pPr marL="160655">
              <a:lnSpc>
                <a:spcPct val="100000"/>
              </a:lnSpc>
              <a:spcBef>
                <a:spcPts val="390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Add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one extra-credit insight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615112" y="2809875"/>
            <a:ext cx="265430" cy="952500"/>
            <a:chOff x="6615112" y="2809875"/>
            <a:chExt cx="265430" cy="952500"/>
          </a:xfrm>
        </p:grpSpPr>
        <p:sp>
          <p:nvSpPr>
            <p:cNvPr id="42" name="object 42"/>
            <p:cNvSpPr/>
            <p:nvPr/>
          </p:nvSpPr>
          <p:spPr>
            <a:xfrm>
              <a:off x="6619875" y="2809875"/>
              <a:ext cx="0" cy="952500"/>
            </a:xfrm>
            <a:custGeom>
              <a:avLst/>
              <a:gdLst/>
              <a:ahLst/>
              <a:cxnLst/>
              <a:rect l="l" t="t" r="r" b="b"/>
              <a:pathLst>
                <a:path w="0" h="952500">
                  <a:moveTo>
                    <a:pt x="0" y="0"/>
                  </a:moveTo>
                  <a:lnTo>
                    <a:pt x="0" y="952499"/>
                  </a:lnTo>
                </a:path>
              </a:pathLst>
            </a:custGeom>
            <a:ln w="9524">
              <a:solidFill>
                <a:srgbClr val="33415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2275" y="3038157"/>
              <a:ext cx="107950" cy="10795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2275" y="3209607"/>
              <a:ext cx="107950" cy="1079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2275" y="3381057"/>
              <a:ext cx="107950" cy="1079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2275" y="3552507"/>
              <a:ext cx="107950" cy="10795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6750050" y="2835973"/>
            <a:ext cx="1722755" cy="867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2C55E"/>
                </a:solidFill>
                <a:latin typeface="Arial"/>
                <a:cs typeface="Arial"/>
              </a:rPr>
              <a:t>IMPLEMENTATION</a:t>
            </a:r>
            <a:endParaRPr sz="8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655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applied</a:t>
            </a:r>
            <a:endParaRPr sz="800">
              <a:latin typeface="Microsoft Sans Serif"/>
              <a:cs typeface="Microsoft Sans Serif"/>
            </a:endParaRPr>
          </a:p>
          <a:p>
            <a:pPr marL="160655" marR="5080">
              <a:lnSpc>
                <a:spcPts val="1350"/>
              </a:lnSpc>
              <a:spcBef>
                <a:spcPts val="100"/>
              </a:spcBef>
            </a:pP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Support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count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0">
                <a:solidFill>
                  <a:srgbClr val="E1E7F0"/>
                </a:solidFill>
                <a:latin typeface="Microsoft Sans Serif"/>
                <a:cs typeface="Microsoft Sans Serif"/>
              </a:rPr>
              <a:t>3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7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reported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Thresholds</a:t>
            </a:r>
            <a:r>
              <a:rPr dirty="0" sz="7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justified</a:t>
            </a:r>
            <a:r>
              <a:rPr dirty="0" sz="7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by</a:t>
            </a:r>
            <a:r>
              <a:rPr dirty="0" sz="7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analysis</a:t>
            </a:r>
            <a:r>
              <a:rPr dirty="0" sz="7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scope</a:t>
            </a:r>
            <a:r>
              <a:rPr dirty="0" sz="70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Reorder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behavior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analysis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added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76225" y="4181475"/>
            <a:ext cx="8591550" cy="876300"/>
            <a:chOff x="276225" y="4181475"/>
            <a:chExt cx="8591550" cy="87630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6225" y="4181475"/>
              <a:ext cx="8591399" cy="8762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43896" y="4220437"/>
              <a:ext cx="152400" cy="13335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4004800" y="4236313"/>
            <a:ext cx="14217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WORKFLOW</a:t>
            </a:r>
            <a:r>
              <a:rPr dirty="0" sz="1000" spc="-3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PIPELINE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28650" y="4438650"/>
            <a:ext cx="7648575" cy="361950"/>
            <a:chOff x="628650" y="4438650"/>
            <a:chExt cx="7648575" cy="361950"/>
          </a:xfrm>
        </p:grpSpPr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2000" y="4605337"/>
              <a:ext cx="7334399" cy="2849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865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8524" y="4572000"/>
              <a:ext cx="127000" cy="889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67640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472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62149" y="4584700"/>
              <a:ext cx="95250" cy="635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72415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4D3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97199" y="4556125"/>
              <a:ext cx="120650" cy="12065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77190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ABE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44949" y="4568825"/>
              <a:ext cx="120650" cy="9207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81965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818C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99049" y="4562475"/>
              <a:ext cx="107950" cy="10795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86740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FA92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46799" y="4578350"/>
              <a:ext cx="107950" cy="762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915150" y="448627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1201" y="259901"/>
                  </a:lnTo>
                  <a:lnTo>
                    <a:pt x="54595" y="240971"/>
                  </a:lnTo>
                  <a:lnTo>
                    <a:pt x="25728" y="212104"/>
                  </a:lnTo>
                  <a:lnTo>
                    <a:pt x="6798" y="175498"/>
                  </a:lnTo>
                  <a:lnTo>
                    <a:pt x="0" y="133349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49" y="0"/>
                  </a:lnTo>
                  <a:lnTo>
                    <a:pt x="159486" y="2585"/>
                  </a:lnTo>
                  <a:lnTo>
                    <a:pt x="207332" y="22404"/>
                  </a:lnTo>
                  <a:lnTo>
                    <a:pt x="244295" y="59367"/>
                  </a:lnTo>
                  <a:lnTo>
                    <a:pt x="264114" y="107213"/>
                  </a:lnTo>
                  <a:lnTo>
                    <a:pt x="266699" y="133349"/>
                  </a:lnTo>
                  <a:lnTo>
                    <a:pt x="259901" y="175498"/>
                  </a:lnTo>
                  <a:lnTo>
                    <a:pt x="240971" y="212104"/>
                  </a:lnTo>
                  <a:lnTo>
                    <a:pt x="212104" y="240971"/>
                  </a:lnTo>
                  <a:lnTo>
                    <a:pt x="175498" y="259901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A78B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88200" y="4578350"/>
              <a:ext cx="120650" cy="762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924800" y="444817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5871" y="336775"/>
                  </a:lnTo>
                  <a:lnTo>
                    <a:pt x="84915" y="319491"/>
                  </a:lnTo>
                  <a:lnTo>
                    <a:pt x="50216" y="292683"/>
                  </a:lnTo>
                  <a:lnTo>
                    <a:pt x="23407" y="257983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1" y="257983"/>
                  </a:lnTo>
                  <a:lnTo>
                    <a:pt x="292683" y="292683"/>
                  </a:lnTo>
                  <a:lnTo>
                    <a:pt x="257983" y="319491"/>
                  </a:lnTo>
                  <a:lnTo>
                    <a:pt x="217028" y="336775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22C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924800" y="444817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171449"/>
                  </a:move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5054" y="3324"/>
                  </a:lnTo>
                  <a:lnTo>
                    <a:pt x="266570" y="28805"/>
                  </a:lnTo>
                  <a:lnTo>
                    <a:pt x="314094" y="76329"/>
                  </a:lnTo>
                  <a:lnTo>
                    <a:pt x="339575" y="137845"/>
                  </a:lnTo>
                  <a:lnTo>
                    <a:pt x="342899" y="171449"/>
                  </a:lnTo>
                  <a:lnTo>
                    <a:pt x="336775" y="217028"/>
                  </a:lnTo>
                  <a:lnTo>
                    <a:pt x="319491" y="257983"/>
                  </a:lnTo>
                  <a:lnTo>
                    <a:pt x="292683" y="292683"/>
                  </a:lnTo>
                  <a:lnTo>
                    <a:pt x="257983" y="319491"/>
                  </a:lnTo>
                  <a:lnTo>
                    <a:pt x="217028" y="336775"/>
                  </a:ln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1"/>
                  </a:lnTo>
                  <a:lnTo>
                    <a:pt x="50216" y="292683"/>
                  </a:lnTo>
                  <a:lnTo>
                    <a:pt x="23407" y="257983"/>
                  </a:lnTo>
                  <a:lnTo>
                    <a:pt x="6124" y="217028"/>
                  </a:lnTo>
                  <a:lnTo>
                    <a:pt x="0" y="171449"/>
                  </a:lnTo>
                  <a:close/>
                </a:path>
              </a:pathLst>
            </a:custGeom>
            <a:ln w="19049">
              <a:solidFill>
                <a:srgbClr val="F7FA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23225" y="4543742"/>
              <a:ext cx="146050" cy="146050"/>
            </a:xfrm>
            <a:prstGeom prst="rect">
              <a:avLst/>
            </a:prstGeom>
          </p:spPr>
        </p:pic>
      </p:grp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631638" y="4816868"/>
          <a:ext cx="7720965" cy="184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/>
                <a:gridCol w="1035685"/>
                <a:gridCol w="1106805"/>
                <a:gridCol w="1049654"/>
                <a:gridCol w="1052195"/>
                <a:gridCol w="963295"/>
                <a:gridCol w="1143634"/>
                <a:gridCol w="667384"/>
              </a:tblGrid>
              <a:tr h="92075">
                <a:tc>
                  <a:txBody>
                    <a:bodyPr/>
                    <a:lstStyle/>
                    <a:p>
                      <a:pPr marL="31750">
                        <a:lnSpc>
                          <a:spcPts val="630"/>
                        </a:lnSpc>
                      </a:pPr>
                      <a:r>
                        <a:rPr dirty="0" sz="650" spc="-2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Load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ts val="630"/>
                        </a:lnSpc>
                      </a:pPr>
                      <a:r>
                        <a:rPr dirty="0" sz="650" spc="-1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Isolate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630"/>
                        </a:lnSpc>
                      </a:pPr>
                      <a:r>
                        <a:rPr dirty="0" sz="650" spc="-2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Build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ts val="630"/>
                        </a:lnSpc>
                      </a:pPr>
                      <a:r>
                        <a:rPr dirty="0" sz="650" spc="-1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Statistical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0">
                        <a:lnSpc>
                          <a:spcPts val="630"/>
                        </a:lnSpc>
                      </a:pPr>
                      <a:r>
                        <a:rPr dirty="0" sz="650" spc="-1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630"/>
                        </a:lnSpc>
                      </a:pPr>
                      <a:r>
                        <a:rPr dirty="0" sz="650" spc="-2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Aisle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ts val="630"/>
                        </a:lnSpc>
                      </a:pPr>
                      <a:r>
                        <a:rPr dirty="0" sz="650" spc="-1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Cross-</a:t>
                      </a:r>
                      <a:r>
                        <a:rPr dirty="0" sz="650" spc="-20" b="1">
                          <a:solidFill>
                            <a:srgbClr val="E1E7F0"/>
                          </a:solidFill>
                          <a:latin typeface="Arial"/>
                          <a:cs typeface="Arial"/>
                        </a:rPr>
                        <a:t>Dept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100">
                        <a:lnSpc>
                          <a:spcPts val="630"/>
                        </a:lnSpc>
                      </a:pPr>
                      <a:r>
                        <a:rPr dirty="0" sz="650" spc="-10" b="1">
                          <a:solidFill>
                            <a:srgbClr val="22C55E"/>
                          </a:solidFill>
                          <a:latin typeface="Arial"/>
                          <a:cs typeface="Arial"/>
                        </a:rPr>
                        <a:t>Insight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92075">
                <a:tc>
                  <a:txBody>
                    <a:bodyPr/>
                    <a:lstStyle/>
                    <a:p>
                      <a:pPr marL="42545">
                        <a:lnSpc>
                          <a:spcPts val="630"/>
                        </a:lnSpc>
                      </a:pPr>
                      <a:r>
                        <a:rPr dirty="0" sz="650" spc="-2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Data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Produce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Transactions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Analysis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0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Rules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Rules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Rules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630"/>
                        </a:lnSpc>
                      </a:pPr>
                      <a:r>
                        <a:rPr dirty="0" sz="650" spc="-10">
                          <a:solidFill>
                            <a:srgbClr val="94A3B8"/>
                          </a:solidFill>
                          <a:latin typeface="Microsoft Sans Serif"/>
                          <a:cs typeface="Microsoft Sans Serif"/>
                        </a:rPr>
                        <a:t>Reorder</a:t>
                      </a:r>
                      <a:endParaRPr sz="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272375"/>
            <a:ext cx="6609715" cy="47688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20"/>
              <a:t>Methods</a:t>
            </a:r>
            <a:r>
              <a:rPr dirty="0" sz="2950" spc="-260"/>
              <a:t> </a:t>
            </a:r>
            <a:r>
              <a:rPr dirty="0" sz="2950" spc="125"/>
              <a:t>Used</a:t>
            </a:r>
            <a:r>
              <a:rPr dirty="0" sz="2950" spc="-30"/>
              <a:t>  </a:t>
            </a:r>
            <a:r>
              <a:rPr dirty="0" sz="2950" spc="765">
                <a:solidFill>
                  <a:srgbClr val="37BDF7"/>
                </a:solidFill>
              </a:rPr>
              <a:t>3</a:t>
            </a:r>
            <a:r>
              <a:rPr dirty="0" sz="2950" spc="-160">
                <a:solidFill>
                  <a:srgbClr val="37BDF7"/>
                </a:solidFill>
              </a:rPr>
              <a:t> </a:t>
            </a:r>
            <a:r>
              <a:rPr dirty="0" sz="2950" spc="100"/>
              <a:t>Prepared</a:t>
            </a:r>
            <a:r>
              <a:rPr dirty="0" sz="2950" spc="-254"/>
              <a:t> </a:t>
            </a:r>
            <a:r>
              <a:rPr dirty="0" sz="2950" spc="125"/>
              <a:t>Dataset</a:t>
            </a:r>
            <a:endParaRPr sz="2950"/>
          </a:p>
        </p:txBody>
      </p:sp>
      <p:sp>
        <p:nvSpPr>
          <p:cNvPr id="3" name="object 3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76237" y="1042987"/>
            <a:ext cx="4391025" cy="2200910"/>
            <a:chOff x="376237" y="1042987"/>
            <a:chExt cx="4391025" cy="2200910"/>
          </a:xfrm>
        </p:grpSpPr>
        <p:sp>
          <p:nvSpPr>
            <p:cNvPr id="5" name="object 5"/>
            <p:cNvSpPr/>
            <p:nvPr/>
          </p:nvSpPr>
          <p:spPr>
            <a:xfrm>
              <a:off x="381000" y="1047750"/>
              <a:ext cx="4381500" cy="2191385"/>
            </a:xfrm>
            <a:custGeom>
              <a:avLst/>
              <a:gdLst/>
              <a:ahLst/>
              <a:cxnLst/>
              <a:rect l="l" t="t" r="r" b="b"/>
              <a:pathLst>
                <a:path w="4381500" h="2191385">
                  <a:moveTo>
                    <a:pt x="4267093" y="2190833"/>
                  </a:moveTo>
                  <a:lnTo>
                    <a:pt x="114295" y="2190833"/>
                  </a:lnTo>
                  <a:lnTo>
                    <a:pt x="69806" y="2181851"/>
                  </a:lnTo>
                  <a:lnTo>
                    <a:pt x="33476" y="2157357"/>
                  </a:lnTo>
                  <a:lnTo>
                    <a:pt x="8981" y="2121026"/>
                  </a:lnTo>
                  <a:lnTo>
                    <a:pt x="0" y="2076537"/>
                  </a:lnTo>
                  <a:lnTo>
                    <a:pt x="0" y="114295"/>
                  </a:lnTo>
                  <a:lnTo>
                    <a:pt x="8981" y="69806"/>
                  </a:lnTo>
                  <a:lnTo>
                    <a:pt x="33476" y="33476"/>
                  </a:lnTo>
                  <a:lnTo>
                    <a:pt x="69806" y="8981"/>
                  </a:lnTo>
                  <a:lnTo>
                    <a:pt x="114295" y="0"/>
                  </a:lnTo>
                  <a:lnTo>
                    <a:pt x="4267093" y="0"/>
                  </a:lnTo>
                  <a:lnTo>
                    <a:pt x="4310832" y="8700"/>
                  </a:lnTo>
                  <a:lnTo>
                    <a:pt x="4347913" y="33476"/>
                  </a:lnTo>
                  <a:lnTo>
                    <a:pt x="4372689" y="70556"/>
                  </a:lnTo>
                  <a:lnTo>
                    <a:pt x="4381389" y="114295"/>
                  </a:lnTo>
                  <a:lnTo>
                    <a:pt x="4381389" y="2076537"/>
                  </a:lnTo>
                  <a:lnTo>
                    <a:pt x="4372407" y="2121026"/>
                  </a:lnTo>
                  <a:lnTo>
                    <a:pt x="4347913" y="2157357"/>
                  </a:lnTo>
                  <a:lnTo>
                    <a:pt x="4311582" y="2181851"/>
                  </a:lnTo>
                  <a:lnTo>
                    <a:pt x="4267093" y="2190833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1000" y="1047750"/>
              <a:ext cx="4381500" cy="2191385"/>
            </a:xfrm>
            <a:custGeom>
              <a:avLst/>
              <a:gdLst/>
              <a:ahLst/>
              <a:cxnLst/>
              <a:rect l="l" t="t" r="r" b="b"/>
              <a:pathLst>
                <a:path w="4381500" h="2191385">
                  <a:moveTo>
                    <a:pt x="0" y="114295"/>
                  </a:moveTo>
                  <a:lnTo>
                    <a:pt x="8981" y="69806"/>
                  </a:lnTo>
                  <a:lnTo>
                    <a:pt x="33476" y="33476"/>
                  </a:lnTo>
                  <a:lnTo>
                    <a:pt x="69806" y="8981"/>
                  </a:lnTo>
                  <a:lnTo>
                    <a:pt x="114295" y="0"/>
                  </a:lnTo>
                  <a:lnTo>
                    <a:pt x="4267093" y="0"/>
                  </a:lnTo>
                  <a:lnTo>
                    <a:pt x="4310832" y="8700"/>
                  </a:lnTo>
                  <a:lnTo>
                    <a:pt x="4347913" y="33476"/>
                  </a:lnTo>
                  <a:lnTo>
                    <a:pt x="4372689" y="70556"/>
                  </a:lnTo>
                  <a:lnTo>
                    <a:pt x="4381389" y="114295"/>
                  </a:lnTo>
                  <a:lnTo>
                    <a:pt x="4381389" y="2076537"/>
                  </a:lnTo>
                  <a:lnTo>
                    <a:pt x="4372407" y="2121026"/>
                  </a:lnTo>
                  <a:lnTo>
                    <a:pt x="4347913" y="2157357"/>
                  </a:lnTo>
                  <a:lnTo>
                    <a:pt x="4311582" y="2181851"/>
                  </a:lnTo>
                  <a:lnTo>
                    <a:pt x="4267093" y="2190833"/>
                  </a:lnTo>
                  <a:lnTo>
                    <a:pt x="114295" y="2190833"/>
                  </a:lnTo>
                  <a:lnTo>
                    <a:pt x="69806" y="2181851"/>
                  </a:lnTo>
                  <a:lnTo>
                    <a:pt x="33476" y="2157357"/>
                  </a:lnTo>
                  <a:lnTo>
                    <a:pt x="8981" y="2121026"/>
                  </a:lnTo>
                  <a:lnTo>
                    <a:pt x="0" y="2076537"/>
                  </a:lnTo>
                  <a:lnTo>
                    <a:pt x="0" y="114295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725" y="1196297"/>
              <a:ext cx="133350" cy="1333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1381125"/>
              <a:ext cx="228594" cy="22868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6533" y="1161613"/>
            <a:ext cx="2800350" cy="41783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395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Methods</a:t>
            </a:r>
            <a:r>
              <a:rPr dirty="0" sz="1100" spc="-4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37BDF7"/>
                </a:solidFill>
                <a:latin typeface="Arial"/>
                <a:cs typeface="Arial"/>
              </a:rPr>
              <a:t>Used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97815" algn="l"/>
              </a:tabLst>
            </a:pPr>
            <a:r>
              <a:rPr dirty="0" baseline="6944" sz="1200" spc="-37" b="1">
                <a:solidFill>
                  <a:srgbClr val="0F172A"/>
                </a:solidFill>
                <a:latin typeface="Arial"/>
                <a:cs typeface="Arial"/>
              </a:rPr>
              <a:t>01</a:t>
            </a:r>
            <a:r>
              <a:rPr dirty="0" baseline="6944" sz="1200" b="1">
                <a:solidFill>
                  <a:srgbClr val="0F172A"/>
                </a:solidFill>
                <a:latin typeface="Arial"/>
                <a:cs typeface="Arial"/>
              </a:rPr>
              <a:t>	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Data</a:t>
            </a:r>
            <a:r>
              <a:rPr dirty="0" sz="1000" spc="-6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preparation</a:t>
            </a:r>
            <a:r>
              <a:rPr dirty="0" sz="10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and</a:t>
            </a:r>
            <a:r>
              <a:rPr dirty="0" sz="10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transaction</a:t>
            </a:r>
            <a:r>
              <a:rPr dirty="0" sz="10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building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714500"/>
            <a:ext cx="228594" cy="22868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6533" y="1750168"/>
            <a:ext cx="1524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0F172A"/>
                </a:solidFill>
                <a:latin typeface="Arial"/>
                <a:cs typeface="Arial"/>
              </a:rPr>
              <a:t>02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175" y="1734904"/>
            <a:ext cx="18516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Statistical</a:t>
            </a:r>
            <a:r>
              <a:rPr dirty="0" sz="10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analysis</a:t>
            </a:r>
            <a:r>
              <a:rPr dirty="0" sz="10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with</a:t>
            </a:r>
            <a:r>
              <a:rPr dirty="0" sz="10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charts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047875"/>
            <a:ext cx="228594" cy="22868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06533" y="2068279"/>
            <a:ext cx="18643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dirty="0" baseline="6944" sz="1200" spc="-37" b="1">
                <a:solidFill>
                  <a:srgbClr val="0F172A"/>
                </a:solidFill>
                <a:latin typeface="Arial"/>
                <a:cs typeface="Arial"/>
              </a:rPr>
              <a:t>03</a:t>
            </a:r>
            <a:r>
              <a:rPr dirty="0" baseline="6944" sz="1200" b="1">
                <a:solidFill>
                  <a:srgbClr val="0F172A"/>
                </a:solidFill>
                <a:latin typeface="Arial"/>
                <a:cs typeface="Arial"/>
              </a:rPr>
              <a:t>	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FP-Growth</a:t>
            </a:r>
            <a:r>
              <a:rPr dirty="0" sz="10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pattern</a:t>
            </a:r>
            <a:r>
              <a:rPr dirty="0" sz="10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mining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381250"/>
            <a:ext cx="228594" cy="22868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6482" y="2416918"/>
            <a:ext cx="1530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0F172A"/>
                </a:solidFill>
                <a:latin typeface="Arial"/>
                <a:cs typeface="Arial"/>
              </a:rPr>
              <a:t>04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2175" y="2401654"/>
            <a:ext cx="20256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Cross-department</a:t>
            </a:r>
            <a:r>
              <a:rPr dirty="0" sz="10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pattern</a:t>
            </a:r>
            <a:r>
              <a:rPr dirty="0" sz="1000" spc="-3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mining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714625"/>
            <a:ext cx="228594" cy="22868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06533" y="2735029"/>
            <a:ext cx="18796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dirty="0" baseline="6944" sz="1200" spc="-37" b="1">
                <a:solidFill>
                  <a:srgbClr val="0F172A"/>
                </a:solidFill>
                <a:latin typeface="Arial"/>
                <a:cs typeface="Arial"/>
              </a:rPr>
              <a:t>05</a:t>
            </a:r>
            <a:r>
              <a:rPr dirty="0" baseline="6944" sz="1200" b="1">
                <a:solidFill>
                  <a:srgbClr val="0F172A"/>
                </a:solidFill>
                <a:latin typeface="Arial"/>
                <a:cs typeface="Arial"/>
              </a:rPr>
              <a:t>	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Reorder</a:t>
            </a:r>
            <a:r>
              <a:rPr dirty="0" sz="1000" spc="-10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behavior</a:t>
            </a:r>
            <a:r>
              <a:rPr dirty="0" sz="1000" spc="-10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analysis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50447" y="1040447"/>
            <a:ext cx="4015104" cy="1253490"/>
            <a:chOff x="4850447" y="1040447"/>
            <a:chExt cx="4015104" cy="1253490"/>
          </a:xfrm>
        </p:grpSpPr>
        <p:sp>
          <p:nvSpPr>
            <p:cNvPr id="21" name="object 21"/>
            <p:cNvSpPr/>
            <p:nvPr/>
          </p:nvSpPr>
          <p:spPr>
            <a:xfrm>
              <a:off x="4857749" y="1047750"/>
              <a:ext cx="4000500" cy="1238885"/>
            </a:xfrm>
            <a:custGeom>
              <a:avLst/>
              <a:gdLst/>
              <a:ahLst/>
              <a:cxnLst/>
              <a:rect l="l" t="t" r="r" b="b"/>
              <a:pathLst>
                <a:path w="4000500" h="1238885">
                  <a:moveTo>
                    <a:pt x="3886207" y="1238399"/>
                  </a:moveTo>
                  <a:lnTo>
                    <a:pt x="114291" y="1238399"/>
                  </a:lnTo>
                  <a:lnTo>
                    <a:pt x="69804" y="1229418"/>
                  </a:lnTo>
                  <a:lnTo>
                    <a:pt x="33475" y="1204924"/>
                  </a:lnTo>
                  <a:lnTo>
                    <a:pt x="8981" y="1168595"/>
                  </a:lnTo>
                  <a:lnTo>
                    <a:pt x="0" y="1124107"/>
                  </a:lnTo>
                  <a:lnTo>
                    <a:pt x="0" y="114291"/>
                  </a:ln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1" y="0"/>
                  </a:lnTo>
                  <a:lnTo>
                    <a:pt x="3886207" y="0"/>
                  </a:lnTo>
                  <a:lnTo>
                    <a:pt x="3929945" y="8699"/>
                  </a:lnTo>
                  <a:lnTo>
                    <a:pt x="3967024" y="33475"/>
                  </a:lnTo>
                  <a:lnTo>
                    <a:pt x="3991800" y="70554"/>
                  </a:lnTo>
                  <a:lnTo>
                    <a:pt x="4000499" y="114291"/>
                  </a:lnTo>
                  <a:lnTo>
                    <a:pt x="4000499" y="1124107"/>
                  </a:lnTo>
                  <a:lnTo>
                    <a:pt x="3991518" y="1168595"/>
                  </a:lnTo>
                  <a:lnTo>
                    <a:pt x="3967024" y="1204924"/>
                  </a:lnTo>
                  <a:lnTo>
                    <a:pt x="3930695" y="1229418"/>
                  </a:lnTo>
                  <a:lnTo>
                    <a:pt x="3886207" y="1238399"/>
                  </a:lnTo>
                  <a:close/>
                </a:path>
              </a:pathLst>
            </a:custGeom>
            <a:solidFill>
              <a:srgbClr val="2E1065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57749" y="1047750"/>
              <a:ext cx="4000500" cy="1238885"/>
            </a:xfrm>
            <a:custGeom>
              <a:avLst/>
              <a:gdLst/>
              <a:ahLst/>
              <a:cxnLst/>
              <a:rect l="l" t="t" r="r" b="b"/>
              <a:pathLst>
                <a:path w="4000500" h="1238885">
                  <a:moveTo>
                    <a:pt x="0" y="114291"/>
                  </a:moveTo>
                  <a:lnTo>
                    <a:pt x="8981" y="69804"/>
                  </a:lnTo>
                  <a:lnTo>
                    <a:pt x="33475" y="33475"/>
                  </a:lnTo>
                  <a:lnTo>
                    <a:pt x="69804" y="8981"/>
                  </a:lnTo>
                  <a:lnTo>
                    <a:pt x="114291" y="0"/>
                  </a:lnTo>
                  <a:lnTo>
                    <a:pt x="3886207" y="0"/>
                  </a:lnTo>
                  <a:lnTo>
                    <a:pt x="3929945" y="8699"/>
                  </a:lnTo>
                  <a:lnTo>
                    <a:pt x="3967024" y="33475"/>
                  </a:lnTo>
                  <a:lnTo>
                    <a:pt x="3991800" y="70554"/>
                  </a:lnTo>
                  <a:lnTo>
                    <a:pt x="4000499" y="114291"/>
                  </a:lnTo>
                  <a:lnTo>
                    <a:pt x="4000499" y="1124107"/>
                  </a:lnTo>
                  <a:lnTo>
                    <a:pt x="3991518" y="1168595"/>
                  </a:lnTo>
                  <a:lnTo>
                    <a:pt x="3967024" y="1204924"/>
                  </a:lnTo>
                  <a:lnTo>
                    <a:pt x="3930695" y="1229418"/>
                  </a:lnTo>
                  <a:lnTo>
                    <a:pt x="3886207" y="1238399"/>
                  </a:lnTo>
                  <a:lnTo>
                    <a:pt x="114291" y="1238399"/>
                  </a:lnTo>
                  <a:lnTo>
                    <a:pt x="69804" y="1229418"/>
                  </a:lnTo>
                  <a:lnTo>
                    <a:pt x="33475" y="1204924"/>
                  </a:lnTo>
                  <a:lnTo>
                    <a:pt x="8981" y="1168595"/>
                  </a:lnTo>
                  <a:lnTo>
                    <a:pt x="0" y="1124107"/>
                  </a:lnTo>
                  <a:lnTo>
                    <a:pt x="0" y="114291"/>
                  </a:lnTo>
                  <a:close/>
                </a:path>
              </a:pathLst>
            </a:custGeom>
            <a:ln w="14299">
              <a:solidFill>
                <a:srgbClr val="A78BF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6825" y="1196288"/>
              <a:ext cx="120650" cy="1333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195112" y="1199462"/>
            <a:ext cx="3260725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ts val="1305"/>
              </a:lnSpc>
              <a:spcBef>
                <a:spcPts val="100"/>
              </a:spcBef>
            </a:pPr>
            <a:r>
              <a:rPr dirty="0" sz="1100" spc="-10" b="1">
                <a:solidFill>
                  <a:srgbClr val="A78BFA"/>
                </a:solidFill>
                <a:latin typeface="Arial"/>
                <a:cs typeface="Arial"/>
              </a:rPr>
              <a:t>Why</a:t>
            </a:r>
            <a:r>
              <a:rPr dirty="0" sz="1100" spc="-55" b="1">
                <a:solidFill>
                  <a:srgbClr val="A78BFA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78BFA"/>
                </a:solidFill>
                <a:latin typeface="Arial"/>
                <a:cs typeface="Arial"/>
              </a:rPr>
              <a:t>These</a:t>
            </a:r>
            <a:r>
              <a:rPr dirty="0" sz="1100" spc="-55" b="1">
                <a:solidFill>
                  <a:srgbClr val="A78BFA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A78BFA"/>
                </a:solidFill>
                <a:latin typeface="Arial"/>
                <a:cs typeface="Arial"/>
              </a:rPr>
              <a:t>Methods</a:t>
            </a:r>
            <a:endParaRPr sz="1100">
              <a:latin typeface="Arial"/>
              <a:cs typeface="Arial"/>
            </a:endParaRPr>
          </a:p>
          <a:p>
            <a:pPr marL="309880" indent="-297180">
              <a:lnSpc>
                <a:spcPts val="1065"/>
              </a:lnSpc>
              <a:buFont typeface="Arial MT"/>
              <a:buChar char="●"/>
              <a:tabLst>
                <a:tab pos="309880" algn="l"/>
              </a:tabLst>
            </a:pP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overall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demand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2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discover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beyond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simple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counts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2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identify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broader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grocery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involving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2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9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identify</a:t>
            </a:r>
            <a:r>
              <a:rPr dirty="0" sz="9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repeat-purchase</a:t>
            </a:r>
            <a:r>
              <a:rPr dirty="0" sz="9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behavior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customer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loyalty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57750" y="2286000"/>
            <a:ext cx="4000500" cy="10160"/>
          </a:xfrm>
          <a:custGeom>
            <a:avLst/>
            <a:gdLst/>
            <a:ahLst/>
            <a:cxnLst/>
            <a:rect l="l" t="t" r="r" b="b"/>
            <a:pathLst>
              <a:path w="4000500" h="10160">
                <a:moveTo>
                  <a:pt x="4000419" y="9535"/>
                </a:moveTo>
                <a:lnTo>
                  <a:pt x="0" y="9535"/>
                </a:lnTo>
                <a:lnTo>
                  <a:pt x="0" y="0"/>
                </a:lnTo>
                <a:lnTo>
                  <a:pt x="4000419" y="0"/>
                </a:lnTo>
                <a:lnTo>
                  <a:pt x="4000419" y="9535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0" y="2446624"/>
            <a:ext cx="120650" cy="11430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088904" y="2440274"/>
            <a:ext cx="1685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Prepared</a:t>
            </a:r>
            <a:r>
              <a:rPr dirty="0" sz="1000" spc="-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Dataset</a:t>
            </a:r>
            <a:r>
              <a:rPr dirty="0" sz="1000" spc="-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Summary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57750" y="2714625"/>
            <a:ext cx="857885" cy="572135"/>
          </a:xfrm>
          <a:prstGeom prst="rect">
            <a:avLst/>
          </a:prstGeom>
          <a:solidFill>
            <a:srgbClr val="064E3B">
              <a:alpha val="5999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marL="164465">
              <a:lnSpc>
                <a:spcPts val="1680"/>
              </a:lnSpc>
              <a:spcBef>
                <a:spcPts val="955"/>
              </a:spcBef>
            </a:pPr>
            <a:r>
              <a:rPr dirty="0" sz="1400" spc="80" b="1">
                <a:solidFill>
                  <a:srgbClr val="F7FAFC"/>
                </a:solidFill>
                <a:latin typeface="Arial"/>
                <a:cs typeface="Arial"/>
              </a:rPr>
              <a:t>1,684</a:t>
            </a:r>
            <a:endParaRPr sz="1400">
              <a:latin typeface="Arial"/>
              <a:cs typeface="Arial"/>
            </a:endParaRPr>
          </a:p>
          <a:p>
            <a:pPr marL="179070">
              <a:lnSpc>
                <a:spcPts val="840"/>
              </a:lnSpc>
            </a:pPr>
            <a:r>
              <a:rPr dirty="0" sz="700" spc="-10">
                <a:solidFill>
                  <a:srgbClr val="34D399"/>
                </a:solidFill>
                <a:latin typeface="Microsoft Sans Serif"/>
                <a:cs typeface="Microsoft Sans Serif"/>
              </a:rPr>
              <a:t>PRODUCTS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10250" y="2714625"/>
            <a:ext cx="857885" cy="572135"/>
          </a:xfrm>
          <a:prstGeom prst="rect">
            <a:avLst/>
          </a:prstGeom>
          <a:solidFill>
            <a:srgbClr val="064E3B">
              <a:alpha val="5999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algn="ctr" marR="30480">
              <a:lnSpc>
                <a:spcPts val="1680"/>
              </a:lnSpc>
              <a:spcBef>
                <a:spcPts val="955"/>
              </a:spcBef>
            </a:pPr>
            <a:r>
              <a:rPr dirty="0" sz="1400" spc="80" b="1">
                <a:solidFill>
                  <a:srgbClr val="F7FAFC"/>
                </a:solidFill>
                <a:latin typeface="Arial"/>
                <a:cs typeface="Arial"/>
              </a:rPr>
              <a:t>409,087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840"/>
              </a:lnSpc>
            </a:pPr>
            <a:r>
              <a:rPr dirty="0" sz="700" spc="-20">
                <a:solidFill>
                  <a:srgbClr val="34D399"/>
                </a:solidFill>
                <a:latin typeface="Microsoft Sans Serif"/>
                <a:cs typeface="Microsoft Sans Serif"/>
              </a:rPr>
              <a:t>ROWS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62750" y="2714625"/>
            <a:ext cx="857885" cy="572135"/>
          </a:xfrm>
          <a:prstGeom prst="rect">
            <a:avLst/>
          </a:prstGeom>
          <a:solidFill>
            <a:srgbClr val="064E3B">
              <a:alpha val="5999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algn="ctr" marR="24765">
              <a:lnSpc>
                <a:spcPts val="1680"/>
              </a:lnSpc>
              <a:spcBef>
                <a:spcPts val="955"/>
              </a:spcBef>
            </a:pPr>
            <a:r>
              <a:rPr dirty="0" sz="1400" spc="80" b="1">
                <a:solidFill>
                  <a:srgbClr val="F7FAFC"/>
                </a:solidFill>
                <a:latin typeface="Arial"/>
                <a:cs typeface="Arial"/>
              </a:rPr>
              <a:t>96,927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840"/>
              </a:lnSpc>
            </a:pPr>
            <a:r>
              <a:rPr dirty="0" sz="700" spc="-10">
                <a:solidFill>
                  <a:srgbClr val="34D399"/>
                </a:solidFill>
                <a:latin typeface="Microsoft Sans Serif"/>
                <a:cs typeface="Microsoft Sans Serif"/>
              </a:rPr>
              <a:t>BASKETS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15250" y="2714625"/>
            <a:ext cx="857885" cy="572135"/>
          </a:xfrm>
          <a:prstGeom prst="rect">
            <a:avLst/>
          </a:prstGeom>
          <a:solidFill>
            <a:srgbClr val="064E3B">
              <a:alpha val="59999"/>
            </a:srgbClr>
          </a:solidFill>
        </p:spPr>
        <p:txBody>
          <a:bodyPr wrap="square" lIns="0" tIns="121285" rIns="0" bIns="0" rtlCol="0" vert="horz">
            <a:spAutoFit/>
          </a:bodyPr>
          <a:lstStyle/>
          <a:p>
            <a:pPr algn="ctr">
              <a:lnSpc>
                <a:spcPts val="1680"/>
              </a:lnSpc>
              <a:spcBef>
                <a:spcPts val="955"/>
              </a:spcBef>
            </a:pPr>
            <a:r>
              <a:rPr dirty="0" sz="1400" spc="40" b="1">
                <a:solidFill>
                  <a:srgbClr val="F7FAFC"/>
                </a:solidFill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840"/>
              </a:lnSpc>
            </a:pPr>
            <a:r>
              <a:rPr dirty="0" sz="700">
                <a:solidFill>
                  <a:srgbClr val="34D399"/>
                </a:solidFill>
                <a:latin typeface="Microsoft Sans Serif"/>
                <a:cs typeface="Microsoft Sans Serif"/>
              </a:rPr>
              <a:t>MERGE</a:t>
            </a:r>
            <a:r>
              <a:rPr dirty="0" sz="700" spc="-25">
                <a:solidFill>
                  <a:srgbClr val="34D399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34D399"/>
                </a:solidFill>
                <a:latin typeface="Microsoft Sans Serif"/>
                <a:cs typeface="Microsoft Sans Serif"/>
              </a:rPr>
              <a:t>ERRORS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10049" y="4170350"/>
            <a:ext cx="8382000" cy="762000"/>
            <a:chOff x="310049" y="4170350"/>
            <a:chExt cx="8382000" cy="762000"/>
          </a:xfrm>
        </p:grpSpPr>
        <p:sp>
          <p:nvSpPr>
            <p:cNvPr id="33" name="object 33"/>
            <p:cNvSpPr/>
            <p:nvPr/>
          </p:nvSpPr>
          <p:spPr>
            <a:xfrm>
              <a:off x="310049" y="4170350"/>
              <a:ext cx="8382000" cy="762000"/>
            </a:xfrm>
            <a:custGeom>
              <a:avLst/>
              <a:gdLst/>
              <a:ahLst/>
              <a:cxnLst/>
              <a:rect l="l" t="t" r="r" b="b"/>
              <a:pathLst>
                <a:path w="8382000" h="762000">
                  <a:moveTo>
                    <a:pt x="8267699" y="761999"/>
                  </a:move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8267699" y="0"/>
                  </a:lnTo>
                  <a:lnTo>
                    <a:pt x="8311440" y="8700"/>
                  </a:lnTo>
                  <a:lnTo>
                    <a:pt x="8348522" y="33477"/>
                  </a:lnTo>
                  <a:lnTo>
                    <a:pt x="8373299" y="70559"/>
                  </a:lnTo>
                  <a:lnTo>
                    <a:pt x="8381999" y="114299"/>
                  </a:lnTo>
                  <a:lnTo>
                    <a:pt x="8381999" y="647699"/>
                  </a:lnTo>
                  <a:lnTo>
                    <a:pt x="8373017" y="692190"/>
                  </a:lnTo>
                  <a:lnTo>
                    <a:pt x="8348522" y="728522"/>
                  </a:lnTo>
                  <a:lnTo>
                    <a:pt x="8312190" y="753017"/>
                  </a:lnTo>
                  <a:lnTo>
                    <a:pt x="8267699" y="761999"/>
                  </a:lnTo>
                  <a:close/>
                </a:path>
              </a:pathLst>
            </a:custGeom>
            <a:solidFill>
              <a:srgbClr val="064E3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824" y="4279697"/>
              <a:ext cx="130175" cy="14605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87850" y="4235247"/>
            <a:ext cx="7576184" cy="614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34D399"/>
                </a:solidFill>
                <a:latin typeface="Arial"/>
                <a:cs typeface="Arial"/>
              </a:rPr>
              <a:t>Purpose</a:t>
            </a:r>
            <a:r>
              <a:rPr dirty="0" sz="1600" spc="-13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34D399"/>
                </a:solidFill>
                <a:latin typeface="Arial"/>
                <a:cs typeface="Arial"/>
              </a:rPr>
              <a:t>of</a:t>
            </a:r>
            <a:r>
              <a:rPr dirty="0" sz="1600" spc="-13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34D399"/>
                </a:solidFill>
                <a:latin typeface="Arial"/>
                <a:cs typeface="Arial"/>
              </a:rPr>
              <a:t>This</a:t>
            </a:r>
            <a:r>
              <a:rPr dirty="0" sz="1600" spc="-13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34D399"/>
                </a:solidFill>
                <a:latin typeface="Arial"/>
                <a:cs typeface="Arial"/>
              </a:rPr>
              <a:t>Stage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20"/>
              </a:spcBef>
            </a:pP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These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methods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and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the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prepared</a:t>
            </a:r>
            <a:r>
              <a:rPr dirty="0" sz="1100" spc="-50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Produce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dataset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formed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the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foundation</a:t>
            </a:r>
            <a:r>
              <a:rPr dirty="0" sz="1100" spc="-50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for</a:t>
            </a:r>
            <a:r>
              <a:rPr dirty="0" sz="1100" spc="-8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all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later</a:t>
            </a:r>
            <a:r>
              <a:rPr dirty="0" sz="1100" spc="-80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statistical,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CCCC"/>
                </a:solidFill>
                <a:latin typeface="Arial"/>
                <a:cs typeface="Arial"/>
              </a:rPr>
              <a:t>pattern-mining,</a:t>
            </a:r>
            <a:r>
              <a:rPr dirty="0" sz="1100" spc="-55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F4CCCC"/>
                </a:solidFill>
                <a:latin typeface="Arial"/>
                <a:cs typeface="Arial"/>
              </a:rPr>
              <a:t>and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reorder</a:t>
            </a:r>
            <a:r>
              <a:rPr dirty="0" sz="1100" spc="-70" b="1">
                <a:solidFill>
                  <a:srgbClr val="F4CCCC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4CCCC"/>
                </a:solidFill>
                <a:latin typeface="Arial"/>
                <a:cs typeface="Arial"/>
              </a:rPr>
              <a:t>analyses.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58333" y="67436"/>
            <a:ext cx="106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302830"/>
            <a:ext cx="3569970" cy="4203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85"/>
              <a:t>Statistical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55"/>
              <a:t>1: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0134" y="302830"/>
            <a:ext cx="4330065" cy="420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65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r>
              <a:rPr dirty="0" sz="2600" spc="-204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6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2600" spc="-204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37BDF7"/>
                </a:solidFill>
                <a:latin typeface="Arial"/>
                <a:cs typeface="Arial"/>
              </a:rPr>
              <a:t>by</a:t>
            </a:r>
            <a:r>
              <a:rPr dirty="0" sz="2600" spc="-20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37BDF7"/>
                </a:solidFill>
                <a:latin typeface="Arial"/>
                <a:cs typeface="Arial"/>
              </a:rPr>
              <a:t>Aisle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76237" y="1042987"/>
            <a:ext cx="4010025" cy="1057910"/>
            <a:chOff x="376237" y="1042987"/>
            <a:chExt cx="4010025" cy="1057910"/>
          </a:xfrm>
        </p:grpSpPr>
        <p:sp>
          <p:nvSpPr>
            <p:cNvPr id="6" name="object 6"/>
            <p:cNvSpPr/>
            <p:nvPr/>
          </p:nvSpPr>
          <p:spPr>
            <a:xfrm>
              <a:off x="381000" y="1047750"/>
              <a:ext cx="4000500" cy="1048385"/>
            </a:xfrm>
            <a:custGeom>
              <a:avLst/>
              <a:gdLst/>
              <a:ahLst/>
              <a:cxnLst/>
              <a:rect l="l" t="t" r="r" b="b"/>
              <a:pathLst>
                <a:path w="4000500" h="1048385">
                  <a:moveTo>
                    <a:pt x="3886184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886184" y="0"/>
                  </a:lnTo>
                  <a:lnTo>
                    <a:pt x="3929931" y="8701"/>
                  </a:lnTo>
                  <a:lnTo>
                    <a:pt x="3967017" y="33482"/>
                  </a:lnTo>
                  <a:lnTo>
                    <a:pt x="3991798" y="70568"/>
                  </a:lnTo>
                  <a:lnTo>
                    <a:pt x="4000499" y="114315"/>
                  </a:lnTo>
                  <a:lnTo>
                    <a:pt x="4000499" y="933584"/>
                  </a:lnTo>
                  <a:lnTo>
                    <a:pt x="3991516" y="978081"/>
                  </a:lnTo>
                  <a:lnTo>
                    <a:pt x="3967017" y="1014417"/>
                  </a:lnTo>
                  <a:lnTo>
                    <a:pt x="3930681" y="1038916"/>
                  </a:lnTo>
                  <a:lnTo>
                    <a:pt x="3886184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1047750"/>
              <a:ext cx="4000500" cy="1048385"/>
            </a:xfrm>
            <a:custGeom>
              <a:avLst/>
              <a:gdLst/>
              <a:ahLst/>
              <a:cxnLst/>
              <a:rect l="l" t="t" r="r" b="b"/>
              <a:pathLst>
                <a:path w="4000500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886184" y="0"/>
                  </a:lnTo>
                  <a:lnTo>
                    <a:pt x="3929931" y="8701"/>
                  </a:lnTo>
                  <a:lnTo>
                    <a:pt x="3967017" y="33482"/>
                  </a:lnTo>
                  <a:lnTo>
                    <a:pt x="3991798" y="70568"/>
                  </a:lnTo>
                  <a:lnTo>
                    <a:pt x="4000499" y="114315"/>
                  </a:lnTo>
                  <a:lnTo>
                    <a:pt x="4000499" y="933584"/>
                  </a:lnTo>
                  <a:lnTo>
                    <a:pt x="3991516" y="978081"/>
                  </a:lnTo>
                  <a:lnTo>
                    <a:pt x="3967017" y="1014417"/>
                  </a:lnTo>
                  <a:lnTo>
                    <a:pt x="3930681" y="1038916"/>
                  </a:lnTo>
                  <a:lnTo>
                    <a:pt x="3886184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425" y="1196288"/>
              <a:ext cx="107950" cy="1428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18362" y="1208987"/>
            <a:ext cx="2584450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7BDF7"/>
                </a:solidFill>
                <a:latin typeface="Arial"/>
                <a:cs typeface="Arial"/>
              </a:rPr>
              <a:t>ANALYSIS</a:t>
            </a:r>
            <a:r>
              <a:rPr dirty="0" sz="1100" spc="-5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FOCUS</a:t>
            </a:r>
            <a:endParaRPr sz="1100">
              <a:latin typeface="Arial"/>
              <a:cs typeface="Arial"/>
            </a:endParaRPr>
          </a:p>
          <a:p>
            <a:pPr marL="309880" indent="-297180">
              <a:lnSpc>
                <a:spcPct val="100000"/>
              </a:lnSpc>
              <a:spcBef>
                <a:spcPts val="65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Counted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per</a:t>
            </a:r>
            <a:r>
              <a:rPr dirty="0" sz="9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percentage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share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each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names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9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clearer</a:t>
            </a:r>
            <a:r>
              <a:rPr dirty="0" sz="900" spc="-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interpretation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6237" y="2281237"/>
            <a:ext cx="4010025" cy="2200910"/>
            <a:chOff x="376237" y="2281237"/>
            <a:chExt cx="4010025" cy="2200910"/>
          </a:xfrm>
        </p:grpSpPr>
        <p:sp>
          <p:nvSpPr>
            <p:cNvPr id="11" name="object 11"/>
            <p:cNvSpPr/>
            <p:nvPr/>
          </p:nvSpPr>
          <p:spPr>
            <a:xfrm>
              <a:off x="381000" y="2286000"/>
              <a:ext cx="4000500" cy="2191385"/>
            </a:xfrm>
            <a:custGeom>
              <a:avLst/>
              <a:gdLst/>
              <a:ahLst/>
              <a:cxnLst/>
              <a:rect l="l" t="t" r="r" b="b"/>
              <a:pathLst>
                <a:path w="4000500" h="2191385">
                  <a:moveTo>
                    <a:pt x="3886200" y="2190899"/>
                  </a:moveTo>
                  <a:lnTo>
                    <a:pt x="114299" y="2190899"/>
                  </a:lnTo>
                  <a:lnTo>
                    <a:pt x="69808" y="2181917"/>
                  </a:lnTo>
                  <a:lnTo>
                    <a:pt x="33477" y="2157422"/>
                  </a:lnTo>
                  <a:lnTo>
                    <a:pt x="8982" y="2121091"/>
                  </a:lnTo>
                  <a:lnTo>
                    <a:pt x="0" y="2076600"/>
                  </a:lnTo>
                  <a:lnTo>
                    <a:pt x="0" y="114299"/>
                  </a:ln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9" y="0"/>
                  </a:lnTo>
                  <a:lnTo>
                    <a:pt x="3886200" y="0"/>
                  </a:lnTo>
                  <a:lnTo>
                    <a:pt x="3929941" y="8700"/>
                  </a:lnTo>
                  <a:lnTo>
                    <a:pt x="3967022" y="33477"/>
                  </a:lnTo>
                  <a:lnTo>
                    <a:pt x="3991799" y="70558"/>
                  </a:lnTo>
                  <a:lnTo>
                    <a:pt x="4000499" y="114299"/>
                  </a:lnTo>
                  <a:lnTo>
                    <a:pt x="4000499" y="2076600"/>
                  </a:lnTo>
                  <a:lnTo>
                    <a:pt x="3991517" y="2121091"/>
                  </a:lnTo>
                  <a:lnTo>
                    <a:pt x="3967022" y="2157422"/>
                  </a:lnTo>
                  <a:lnTo>
                    <a:pt x="3930691" y="2181917"/>
                  </a:lnTo>
                  <a:lnTo>
                    <a:pt x="3886200" y="2190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1000" y="2286000"/>
              <a:ext cx="4000500" cy="2191385"/>
            </a:xfrm>
            <a:custGeom>
              <a:avLst/>
              <a:gdLst/>
              <a:ahLst/>
              <a:cxnLst/>
              <a:rect l="l" t="t" r="r" b="b"/>
              <a:pathLst>
                <a:path w="4000500" h="2191385">
                  <a:moveTo>
                    <a:pt x="0" y="114299"/>
                  </a:move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9" y="0"/>
                  </a:lnTo>
                  <a:lnTo>
                    <a:pt x="3886200" y="0"/>
                  </a:lnTo>
                  <a:lnTo>
                    <a:pt x="3929941" y="8700"/>
                  </a:lnTo>
                  <a:lnTo>
                    <a:pt x="3967022" y="33477"/>
                  </a:lnTo>
                  <a:lnTo>
                    <a:pt x="3991799" y="70558"/>
                  </a:lnTo>
                  <a:lnTo>
                    <a:pt x="4000499" y="114299"/>
                  </a:lnTo>
                  <a:lnTo>
                    <a:pt x="4000499" y="2076600"/>
                  </a:lnTo>
                  <a:lnTo>
                    <a:pt x="3991517" y="2121091"/>
                  </a:lnTo>
                  <a:lnTo>
                    <a:pt x="3967022" y="2157422"/>
                  </a:lnTo>
                  <a:lnTo>
                    <a:pt x="3930691" y="2181917"/>
                  </a:lnTo>
                  <a:lnTo>
                    <a:pt x="3886200" y="2190899"/>
                  </a:lnTo>
                  <a:lnTo>
                    <a:pt x="114299" y="2190899"/>
                  </a:lnTo>
                  <a:lnTo>
                    <a:pt x="69808" y="2181917"/>
                  </a:lnTo>
                  <a:lnTo>
                    <a:pt x="33477" y="2157422"/>
                  </a:lnTo>
                  <a:lnTo>
                    <a:pt x="8982" y="2121091"/>
                  </a:lnTo>
                  <a:lnTo>
                    <a:pt x="0" y="2076600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850" y="2491613"/>
              <a:ext cx="165100" cy="1270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45103" y="2494788"/>
            <a:ext cx="13182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1100" spc="-1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7850" y="2805938"/>
            <a:ext cx="165100" cy="1285875"/>
            <a:chOff x="577850" y="2805938"/>
            <a:chExt cx="165100" cy="128587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50" y="2805938"/>
              <a:ext cx="165100" cy="1428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50" y="3091688"/>
              <a:ext cx="165100" cy="1428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50" y="3377438"/>
              <a:ext cx="165100" cy="1428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50" y="3663188"/>
              <a:ext cx="165100" cy="1428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50" y="3948938"/>
              <a:ext cx="165100" cy="1428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45103" y="2837688"/>
            <a:ext cx="29489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Packaged</a:t>
            </a:r>
            <a:r>
              <a:rPr dirty="0" sz="95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vegetables</a:t>
            </a:r>
            <a:r>
              <a:rPr dirty="0" sz="950" spc="-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7FAFC"/>
                </a:solidFill>
                <a:latin typeface="Arial"/>
                <a:cs typeface="Arial"/>
              </a:rPr>
              <a:t>fruits:</a:t>
            </a:r>
            <a:r>
              <a:rPr dirty="0" sz="950" spc="-3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615</a:t>
            </a:r>
            <a:r>
              <a:rPr dirty="0" sz="950" spc="-1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950" spc="-1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7BDF7"/>
                </a:solidFill>
                <a:latin typeface="Arial"/>
                <a:cs typeface="Arial"/>
              </a:rPr>
              <a:t>(36.52%)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103" y="3123438"/>
            <a:ext cx="2385060" cy="455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Fresh</a:t>
            </a:r>
            <a:r>
              <a:rPr dirty="0" sz="95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vegetables:</a:t>
            </a:r>
            <a:r>
              <a:rPr dirty="0" sz="95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569</a:t>
            </a:r>
            <a:r>
              <a:rPr dirty="0" sz="950" spc="-2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950" spc="-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7BDF7"/>
                </a:solidFill>
                <a:latin typeface="Arial"/>
                <a:cs typeface="Arial"/>
              </a:rPr>
              <a:t>(33.79%)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Fresh</a:t>
            </a:r>
            <a:r>
              <a:rPr dirty="0" sz="95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7FAFC"/>
                </a:solidFill>
                <a:latin typeface="Arial"/>
                <a:cs typeface="Arial"/>
              </a:rPr>
              <a:t>fruits:</a:t>
            </a:r>
            <a:r>
              <a:rPr dirty="0" sz="95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382</a:t>
            </a:r>
            <a:r>
              <a:rPr dirty="0" sz="950" spc="-4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950" spc="-4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7BDF7"/>
                </a:solidFill>
                <a:latin typeface="Arial"/>
                <a:cs typeface="Arial"/>
              </a:rPr>
              <a:t>(22.68%)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5103" y="3694938"/>
            <a:ext cx="193611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Fresh</a:t>
            </a:r>
            <a:r>
              <a:rPr dirty="0" sz="95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herbs:</a:t>
            </a:r>
            <a:r>
              <a:rPr dirty="0" sz="950" spc="-6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86</a:t>
            </a:r>
            <a:r>
              <a:rPr dirty="0" sz="950" spc="-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950" spc="-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7BDF7"/>
                </a:solidFill>
                <a:latin typeface="Arial"/>
                <a:cs typeface="Arial"/>
              </a:rPr>
              <a:t>(5.11%)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5103" y="3980688"/>
            <a:ext cx="23266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Packaged</a:t>
            </a:r>
            <a:r>
              <a:rPr dirty="0" sz="95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7FAFC"/>
                </a:solidFill>
                <a:latin typeface="Arial"/>
                <a:cs typeface="Arial"/>
              </a:rPr>
              <a:t>produce:</a:t>
            </a:r>
            <a:r>
              <a:rPr dirty="0" sz="95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32</a:t>
            </a:r>
            <a:r>
              <a:rPr dirty="0" sz="950" spc="-4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950" spc="-5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7BDF7"/>
                </a:solidFill>
                <a:latin typeface="Arial"/>
                <a:cs typeface="Arial"/>
              </a:rPr>
              <a:t>(1.90%)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64697" y="1040447"/>
            <a:ext cx="4205605" cy="2205990"/>
            <a:chOff x="4564697" y="1040447"/>
            <a:chExt cx="4205605" cy="2205990"/>
          </a:xfrm>
        </p:grpSpPr>
        <p:sp>
          <p:nvSpPr>
            <p:cNvPr id="26" name="object 26"/>
            <p:cNvSpPr/>
            <p:nvPr/>
          </p:nvSpPr>
          <p:spPr>
            <a:xfrm>
              <a:off x="4571999" y="1047750"/>
              <a:ext cx="4191000" cy="2191385"/>
            </a:xfrm>
            <a:custGeom>
              <a:avLst/>
              <a:gdLst/>
              <a:ahLst/>
              <a:cxnLst/>
              <a:rect l="l" t="t" r="r" b="b"/>
              <a:pathLst>
                <a:path w="4191000" h="2191385">
                  <a:moveTo>
                    <a:pt x="4076700" y="2190899"/>
                  </a:moveTo>
                  <a:lnTo>
                    <a:pt x="114299" y="2190899"/>
                  </a:lnTo>
                  <a:lnTo>
                    <a:pt x="69808" y="2181917"/>
                  </a:lnTo>
                  <a:lnTo>
                    <a:pt x="33477" y="2157422"/>
                  </a:lnTo>
                  <a:lnTo>
                    <a:pt x="8982" y="2121091"/>
                  </a:lnTo>
                  <a:lnTo>
                    <a:pt x="0" y="2076600"/>
                  </a:lnTo>
                  <a:lnTo>
                    <a:pt x="0" y="114299"/>
                  </a:ln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9" y="0"/>
                  </a:lnTo>
                  <a:lnTo>
                    <a:pt x="4076700" y="0"/>
                  </a:lnTo>
                  <a:lnTo>
                    <a:pt x="4120441" y="8700"/>
                  </a:lnTo>
                  <a:lnTo>
                    <a:pt x="4157522" y="33477"/>
                  </a:lnTo>
                  <a:lnTo>
                    <a:pt x="4182299" y="70558"/>
                  </a:lnTo>
                  <a:lnTo>
                    <a:pt x="4190999" y="114299"/>
                  </a:lnTo>
                  <a:lnTo>
                    <a:pt x="4190999" y="2076600"/>
                  </a:lnTo>
                  <a:lnTo>
                    <a:pt x="4182017" y="2121091"/>
                  </a:lnTo>
                  <a:lnTo>
                    <a:pt x="4157522" y="2157422"/>
                  </a:lnTo>
                  <a:lnTo>
                    <a:pt x="4121191" y="2181917"/>
                  </a:lnTo>
                  <a:lnTo>
                    <a:pt x="4076700" y="2190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71999" y="1047750"/>
              <a:ext cx="4191000" cy="2191385"/>
            </a:xfrm>
            <a:custGeom>
              <a:avLst/>
              <a:gdLst/>
              <a:ahLst/>
              <a:cxnLst/>
              <a:rect l="l" t="t" r="r" b="b"/>
              <a:pathLst>
                <a:path w="4191000" h="2191385">
                  <a:moveTo>
                    <a:pt x="0" y="114299"/>
                  </a:move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9" y="0"/>
                  </a:lnTo>
                  <a:lnTo>
                    <a:pt x="4076700" y="0"/>
                  </a:lnTo>
                  <a:lnTo>
                    <a:pt x="4120441" y="8700"/>
                  </a:lnTo>
                  <a:lnTo>
                    <a:pt x="4157522" y="33477"/>
                  </a:lnTo>
                  <a:lnTo>
                    <a:pt x="4182299" y="70558"/>
                  </a:lnTo>
                  <a:lnTo>
                    <a:pt x="4190999" y="114299"/>
                  </a:lnTo>
                  <a:lnTo>
                    <a:pt x="4190999" y="2076600"/>
                  </a:lnTo>
                  <a:lnTo>
                    <a:pt x="4182017" y="2121091"/>
                  </a:lnTo>
                  <a:lnTo>
                    <a:pt x="4157522" y="2157422"/>
                  </a:lnTo>
                  <a:lnTo>
                    <a:pt x="4121191" y="2181917"/>
                  </a:lnTo>
                  <a:lnTo>
                    <a:pt x="4076700" y="2190899"/>
                  </a:lnTo>
                  <a:lnTo>
                    <a:pt x="114299" y="2190899"/>
                  </a:lnTo>
                  <a:lnTo>
                    <a:pt x="69808" y="2181917"/>
                  </a:lnTo>
                  <a:lnTo>
                    <a:pt x="33477" y="2157422"/>
                  </a:lnTo>
                  <a:lnTo>
                    <a:pt x="8982" y="2121091"/>
                  </a:lnTo>
                  <a:lnTo>
                    <a:pt x="0" y="2076600"/>
                  </a:lnTo>
                  <a:lnTo>
                    <a:pt x="0" y="114299"/>
                  </a:lnTo>
                  <a:close/>
                </a:path>
              </a:pathLst>
            </a:custGeom>
            <a:ln w="142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860411" y="1215745"/>
            <a:ext cx="16154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1000" spc="-7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Products</a:t>
            </a:r>
            <a:r>
              <a:rPr dirty="0" sz="1000" spc="-7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by</a:t>
            </a:r>
            <a:r>
              <a:rPr dirty="0" sz="1000" spc="-7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Aisle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95987" y="1428750"/>
            <a:ext cx="2386330" cy="1243330"/>
            <a:chOff x="5995987" y="1428750"/>
            <a:chExt cx="2386330" cy="1243330"/>
          </a:xfrm>
        </p:grpSpPr>
        <p:sp>
          <p:nvSpPr>
            <p:cNvPr id="30" name="object 30"/>
            <p:cNvSpPr/>
            <p:nvPr/>
          </p:nvSpPr>
          <p:spPr>
            <a:xfrm>
              <a:off x="6000750" y="1476387"/>
              <a:ext cx="2095500" cy="819785"/>
            </a:xfrm>
            <a:custGeom>
              <a:avLst/>
              <a:gdLst/>
              <a:ahLst/>
              <a:cxnLst/>
              <a:rect l="l" t="t" r="r" b="b"/>
              <a:pathLst>
                <a:path w="2095500" h="819785">
                  <a:moveTo>
                    <a:pt x="295198" y="699808"/>
                  </a:moveTo>
                  <a:lnTo>
                    <a:pt x="293179" y="694956"/>
                  </a:lnTo>
                  <a:lnTo>
                    <a:pt x="289610" y="691375"/>
                  </a:lnTo>
                  <a:lnTo>
                    <a:pt x="286029" y="687806"/>
                  </a:lnTo>
                  <a:lnTo>
                    <a:pt x="281178" y="685800"/>
                  </a:lnTo>
                  <a:lnTo>
                    <a:pt x="19062" y="685800"/>
                  </a:lnTo>
                  <a:lnTo>
                    <a:pt x="11645" y="687298"/>
                  </a:lnTo>
                  <a:lnTo>
                    <a:pt x="5575" y="691375"/>
                  </a:lnTo>
                  <a:lnTo>
                    <a:pt x="1498" y="697445"/>
                  </a:lnTo>
                  <a:lnTo>
                    <a:pt x="0" y="704862"/>
                  </a:lnTo>
                  <a:lnTo>
                    <a:pt x="0" y="800227"/>
                  </a:lnTo>
                  <a:lnTo>
                    <a:pt x="1498" y="807643"/>
                  </a:lnTo>
                  <a:lnTo>
                    <a:pt x="5575" y="813714"/>
                  </a:lnTo>
                  <a:lnTo>
                    <a:pt x="11645" y="817791"/>
                  </a:lnTo>
                  <a:lnTo>
                    <a:pt x="19062" y="819289"/>
                  </a:lnTo>
                  <a:lnTo>
                    <a:pt x="276123" y="819289"/>
                  </a:lnTo>
                  <a:lnTo>
                    <a:pt x="283540" y="817791"/>
                  </a:lnTo>
                  <a:lnTo>
                    <a:pt x="289610" y="813714"/>
                  </a:lnTo>
                  <a:lnTo>
                    <a:pt x="293700" y="807643"/>
                  </a:lnTo>
                  <a:lnTo>
                    <a:pt x="295198" y="800227"/>
                  </a:lnTo>
                  <a:lnTo>
                    <a:pt x="295198" y="699808"/>
                  </a:lnTo>
                  <a:close/>
                </a:path>
                <a:path w="2095500" h="819785">
                  <a:moveTo>
                    <a:pt x="1295400" y="471208"/>
                  </a:moveTo>
                  <a:lnTo>
                    <a:pt x="1293380" y="466356"/>
                  </a:lnTo>
                  <a:lnTo>
                    <a:pt x="1286230" y="459206"/>
                  </a:lnTo>
                  <a:lnTo>
                    <a:pt x="1281379" y="457200"/>
                  </a:lnTo>
                  <a:lnTo>
                    <a:pt x="19062" y="457200"/>
                  </a:lnTo>
                  <a:lnTo>
                    <a:pt x="11645" y="458698"/>
                  </a:lnTo>
                  <a:lnTo>
                    <a:pt x="5575" y="462775"/>
                  </a:lnTo>
                  <a:lnTo>
                    <a:pt x="1498" y="468845"/>
                  </a:lnTo>
                  <a:lnTo>
                    <a:pt x="0" y="476262"/>
                  </a:lnTo>
                  <a:lnTo>
                    <a:pt x="0" y="571627"/>
                  </a:lnTo>
                  <a:lnTo>
                    <a:pt x="1498" y="579043"/>
                  </a:lnTo>
                  <a:lnTo>
                    <a:pt x="5575" y="585114"/>
                  </a:lnTo>
                  <a:lnTo>
                    <a:pt x="11645" y="589191"/>
                  </a:lnTo>
                  <a:lnTo>
                    <a:pt x="19062" y="590689"/>
                  </a:lnTo>
                  <a:lnTo>
                    <a:pt x="1276324" y="590689"/>
                  </a:lnTo>
                  <a:lnTo>
                    <a:pt x="1283741" y="589191"/>
                  </a:lnTo>
                  <a:lnTo>
                    <a:pt x="1289812" y="585114"/>
                  </a:lnTo>
                  <a:lnTo>
                    <a:pt x="1293888" y="579043"/>
                  </a:lnTo>
                  <a:lnTo>
                    <a:pt x="1295400" y="571627"/>
                  </a:lnTo>
                  <a:lnTo>
                    <a:pt x="1295400" y="471208"/>
                  </a:lnTo>
                  <a:close/>
                </a:path>
                <a:path w="2095500" h="819785">
                  <a:moveTo>
                    <a:pt x="1933498" y="242608"/>
                  </a:moveTo>
                  <a:lnTo>
                    <a:pt x="1931479" y="237756"/>
                  </a:lnTo>
                  <a:lnTo>
                    <a:pt x="1924329" y="230606"/>
                  </a:lnTo>
                  <a:lnTo>
                    <a:pt x="1919478" y="228600"/>
                  </a:lnTo>
                  <a:lnTo>
                    <a:pt x="19062" y="228600"/>
                  </a:lnTo>
                  <a:lnTo>
                    <a:pt x="11645" y="230098"/>
                  </a:lnTo>
                  <a:lnTo>
                    <a:pt x="5575" y="234175"/>
                  </a:lnTo>
                  <a:lnTo>
                    <a:pt x="1498" y="240245"/>
                  </a:lnTo>
                  <a:lnTo>
                    <a:pt x="0" y="247662"/>
                  </a:lnTo>
                  <a:lnTo>
                    <a:pt x="0" y="343027"/>
                  </a:lnTo>
                  <a:lnTo>
                    <a:pt x="1498" y="350443"/>
                  </a:lnTo>
                  <a:lnTo>
                    <a:pt x="5575" y="356514"/>
                  </a:lnTo>
                  <a:lnTo>
                    <a:pt x="11645" y="360591"/>
                  </a:lnTo>
                  <a:lnTo>
                    <a:pt x="19062" y="362089"/>
                  </a:lnTo>
                  <a:lnTo>
                    <a:pt x="1914423" y="362089"/>
                  </a:lnTo>
                  <a:lnTo>
                    <a:pt x="1921840" y="360591"/>
                  </a:lnTo>
                  <a:lnTo>
                    <a:pt x="1927910" y="356514"/>
                  </a:lnTo>
                  <a:lnTo>
                    <a:pt x="1932000" y="350443"/>
                  </a:lnTo>
                  <a:lnTo>
                    <a:pt x="1933498" y="343027"/>
                  </a:lnTo>
                  <a:lnTo>
                    <a:pt x="1933498" y="242608"/>
                  </a:lnTo>
                  <a:close/>
                </a:path>
                <a:path w="2095500" h="819785">
                  <a:moveTo>
                    <a:pt x="2095500" y="14008"/>
                  </a:moveTo>
                  <a:lnTo>
                    <a:pt x="2093480" y="9156"/>
                  </a:lnTo>
                  <a:lnTo>
                    <a:pt x="2089912" y="5575"/>
                  </a:lnTo>
                  <a:lnTo>
                    <a:pt x="2086330" y="2006"/>
                  </a:lnTo>
                  <a:lnTo>
                    <a:pt x="2081479" y="0"/>
                  </a:lnTo>
                  <a:lnTo>
                    <a:pt x="19062" y="0"/>
                  </a:lnTo>
                  <a:lnTo>
                    <a:pt x="11645" y="1498"/>
                  </a:lnTo>
                  <a:lnTo>
                    <a:pt x="5575" y="5575"/>
                  </a:lnTo>
                  <a:lnTo>
                    <a:pt x="1498" y="11645"/>
                  </a:lnTo>
                  <a:lnTo>
                    <a:pt x="0" y="19062"/>
                  </a:lnTo>
                  <a:lnTo>
                    <a:pt x="0" y="114427"/>
                  </a:lnTo>
                  <a:lnTo>
                    <a:pt x="1498" y="121843"/>
                  </a:lnTo>
                  <a:lnTo>
                    <a:pt x="5575" y="127901"/>
                  </a:lnTo>
                  <a:lnTo>
                    <a:pt x="11645" y="131991"/>
                  </a:lnTo>
                  <a:lnTo>
                    <a:pt x="19062" y="133489"/>
                  </a:lnTo>
                  <a:lnTo>
                    <a:pt x="2076424" y="133489"/>
                  </a:lnTo>
                  <a:lnTo>
                    <a:pt x="2083841" y="131991"/>
                  </a:lnTo>
                  <a:lnTo>
                    <a:pt x="2089912" y="127901"/>
                  </a:lnTo>
                  <a:lnTo>
                    <a:pt x="2094001" y="121843"/>
                  </a:lnTo>
                  <a:lnTo>
                    <a:pt x="2095500" y="114427"/>
                  </a:lnTo>
                  <a:lnTo>
                    <a:pt x="2095500" y="14008"/>
                  </a:lnTo>
                  <a:close/>
                </a:path>
              </a:pathLst>
            </a:custGeom>
            <a:solidFill>
              <a:srgbClr val="37BD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0750" y="2390775"/>
              <a:ext cx="104699" cy="1334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000750" y="1428750"/>
              <a:ext cx="2381885" cy="1238885"/>
            </a:xfrm>
            <a:custGeom>
              <a:avLst/>
              <a:gdLst/>
              <a:ahLst/>
              <a:cxnLst/>
              <a:rect l="l" t="t" r="r" b="b"/>
              <a:pathLst>
                <a:path w="2381884" h="1238885">
                  <a:moveTo>
                    <a:pt x="0" y="0"/>
                  </a:moveTo>
                  <a:lnTo>
                    <a:pt x="0" y="1238399"/>
                  </a:lnTo>
                </a:path>
                <a:path w="2381884" h="1238885">
                  <a:moveTo>
                    <a:pt x="0" y="1238249"/>
                  </a:moveTo>
                  <a:lnTo>
                    <a:pt x="2381399" y="1238249"/>
                  </a:lnTo>
                </a:path>
              </a:pathLst>
            </a:custGeom>
            <a:ln w="9524">
              <a:solidFill>
                <a:srgbClr val="94A3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768374" y="1469464"/>
            <a:ext cx="11499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7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99857" y="1698064"/>
            <a:ext cx="7188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11560" y="1926665"/>
            <a:ext cx="80708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endParaRPr sz="750">
              <a:latin typeface="Microsoft Sans Serif"/>
              <a:cs typeface="Microsoft Sans Serif"/>
            </a:endParaRPr>
          </a:p>
          <a:p>
            <a:pPr marL="12700" marR="5080" indent="309245">
              <a:lnSpc>
                <a:spcPct val="200000"/>
              </a:lnSpc>
            </a:pP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herbs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7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13844" y="2722652"/>
            <a:ext cx="692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94A3B8"/>
                </a:solidFill>
                <a:latin typeface="Microsoft Sans Serif"/>
                <a:cs typeface="Microsoft Sans Serif"/>
              </a:rPr>
              <a:t>0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70382" y="2722652"/>
            <a:ext cx="1568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94A3B8"/>
                </a:solidFill>
                <a:latin typeface="Microsoft Sans Serif"/>
                <a:cs typeface="Microsoft Sans Serif"/>
              </a:rPr>
              <a:t>300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18132" y="2722652"/>
            <a:ext cx="1568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94A3B8"/>
                </a:solidFill>
                <a:latin typeface="Microsoft Sans Serif"/>
                <a:cs typeface="Microsoft Sans Serif"/>
              </a:rPr>
              <a:t>600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10213" y="2907881"/>
            <a:ext cx="26733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94A3B8"/>
                </a:solidFill>
                <a:latin typeface="Microsoft Sans Serif"/>
                <a:cs typeface="Microsoft Sans Serif"/>
              </a:rPr>
              <a:t>Count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567237" y="3424237"/>
            <a:ext cx="4200525" cy="1057910"/>
            <a:chOff x="4567237" y="3424237"/>
            <a:chExt cx="4200525" cy="1057910"/>
          </a:xfrm>
        </p:grpSpPr>
        <p:sp>
          <p:nvSpPr>
            <p:cNvPr id="41" name="object 41"/>
            <p:cNvSpPr/>
            <p:nvPr/>
          </p:nvSpPr>
          <p:spPr>
            <a:xfrm>
              <a:off x="4572000" y="3429000"/>
              <a:ext cx="4191000" cy="1048385"/>
            </a:xfrm>
            <a:custGeom>
              <a:avLst/>
              <a:gdLst/>
              <a:ahLst/>
              <a:cxnLst/>
              <a:rect l="l" t="t" r="r" b="b"/>
              <a:pathLst>
                <a:path w="4191000" h="1048385">
                  <a:moveTo>
                    <a:pt x="4076694" y="1047899"/>
                  </a:move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4076694" y="0"/>
                  </a:lnTo>
                  <a:lnTo>
                    <a:pt x="4120437" y="8701"/>
                  </a:lnTo>
                  <a:lnTo>
                    <a:pt x="4157520" y="33479"/>
                  </a:lnTo>
                  <a:lnTo>
                    <a:pt x="4182298" y="70562"/>
                  </a:lnTo>
                  <a:lnTo>
                    <a:pt x="4190999" y="114304"/>
                  </a:lnTo>
                  <a:lnTo>
                    <a:pt x="4190999" y="933594"/>
                  </a:lnTo>
                  <a:lnTo>
                    <a:pt x="4182017" y="978087"/>
                  </a:lnTo>
                  <a:lnTo>
                    <a:pt x="4157520" y="1014420"/>
                  </a:lnTo>
                  <a:lnTo>
                    <a:pt x="4121187" y="1038917"/>
                  </a:lnTo>
                  <a:lnTo>
                    <a:pt x="4076694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72000" y="3429000"/>
              <a:ext cx="4191000" cy="1048385"/>
            </a:xfrm>
            <a:custGeom>
              <a:avLst/>
              <a:gdLst/>
              <a:ahLst/>
              <a:cxnLst/>
              <a:rect l="l" t="t" r="r" b="b"/>
              <a:pathLst>
                <a:path w="4191000" h="1048385">
                  <a:moveTo>
                    <a:pt x="0" y="114304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4076694" y="0"/>
                  </a:lnTo>
                  <a:lnTo>
                    <a:pt x="4120437" y="8701"/>
                  </a:lnTo>
                  <a:lnTo>
                    <a:pt x="4157520" y="33479"/>
                  </a:lnTo>
                  <a:lnTo>
                    <a:pt x="4182298" y="70562"/>
                  </a:lnTo>
                  <a:lnTo>
                    <a:pt x="4190999" y="114304"/>
                  </a:lnTo>
                  <a:lnTo>
                    <a:pt x="4190999" y="933594"/>
                  </a:lnTo>
                  <a:lnTo>
                    <a:pt x="4182017" y="978087"/>
                  </a:lnTo>
                  <a:lnTo>
                    <a:pt x="4157520" y="1014420"/>
                  </a:lnTo>
                  <a:lnTo>
                    <a:pt x="4121187" y="1038917"/>
                  </a:lnTo>
                  <a:lnTo>
                    <a:pt x="4076694" y="1047899"/>
                  </a:ln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4725" y="3545584"/>
              <a:ext cx="107950" cy="11430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992315" y="3547490"/>
            <a:ext cx="108140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37BDF7"/>
                </a:solidFill>
                <a:latin typeface="Arial"/>
                <a:cs typeface="Arial"/>
              </a:rPr>
              <a:t>INTERPRETATION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87159" y="3788274"/>
            <a:ext cx="2813050" cy="59118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31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32105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Concentrated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in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few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major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aisles</a:t>
            </a:r>
            <a:endParaRPr sz="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7BDF7"/>
              </a:buClr>
              <a:buFont typeface="Arial MT"/>
              <a:buChar char="●"/>
            </a:pPr>
            <a:endParaRPr sz="7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buClr>
                <a:srgbClr val="37BDF7"/>
              </a:buClr>
              <a:buSzPct val="164285"/>
              <a:buFont typeface="Arial MT"/>
              <a:buChar char="●"/>
              <a:tabLst>
                <a:tab pos="332105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Top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2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aisles: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endParaRPr sz="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7BDF7"/>
              </a:buClr>
              <a:buFont typeface="Arial MT"/>
              <a:buChar char="●"/>
            </a:pPr>
            <a:endParaRPr sz="7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32105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top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2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aisles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account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70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over 70%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47" name="object 47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198" y="4748797"/>
              <a:ext cx="88900" cy="12700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77263" y="4767847"/>
            <a:ext cx="783209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Most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products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are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concentrated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in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only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a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few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dominant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aisles,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showing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the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is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centered</a:t>
            </a:r>
            <a:r>
              <a:rPr dirty="0" sz="7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around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core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fruit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CBD4E1"/>
                </a:solidFill>
                <a:latin typeface="Microsoft Sans Serif"/>
                <a:cs typeface="Microsoft Sans Serif"/>
              </a:rPr>
              <a:t>vegetable</a:t>
            </a:r>
            <a:r>
              <a:rPr dirty="0" sz="7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CBD4E1"/>
                </a:solidFill>
                <a:latin typeface="Microsoft Sans Serif"/>
                <a:cs typeface="Microsoft Sans Serif"/>
              </a:rPr>
              <a:t>categories.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946722" y="118171"/>
            <a:ext cx="1174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302830"/>
            <a:ext cx="3569970" cy="4203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85"/>
              <a:t>Statistical</a:t>
            </a:r>
            <a:r>
              <a:rPr dirty="0" spc="-50"/>
              <a:t> </a:t>
            </a:r>
            <a:r>
              <a:rPr dirty="0"/>
              <a:t>Analysis</a:t>
            </a:r>
            <a:r>
              <a:rPr dirty="0" spc="-50"/>
              <a:t> </a:t>
            </a:r>
            <a:r>
              <a:rPr dirty="0" spc="55"/>
              <a:t>2: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0134" y="302830"/>
            <a:ext cx="4128135" cy="420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b="1">
                <a:solidFill>
                  <a:srgbClr val="37BDF7"/>
                </a:solidFill>
                <a:latin typeface="Arial"/>
                <a:cs typeface="Arial"/>
              </a:rPr>
              <a:t>Top</a:t>
            </a:r>
            <a:r>
              <a:rPr dirty="0" sz="2600" spc="-21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155" b="1">
                <a:solidFill>
                  <a:srgbClr val="37BDF7"/>
                </a:solidFill>
                <a:latin typeface="Arial"/>
                <a:cs typeface="Arial"/>
              </a:rPr>
              <a:t>10</a:t>
            </a:r>
            <a:r>
              <a:rPr dirty="0" sz="2600" spc="-21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65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r>
              <a:rPr dirty="0" sz="2600" spc="-21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5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76237" y="1042987"/>
            <a:ext cx="4010025" cy="1057910"/>
            <a:chOff x="376237" y="1042987"/>
            <a:chExt cx="4010025" cy="1057910"/>
          </a:xfrm>
        </p:grpSpPr>
        <p:sp>
          <p:nvSpPr>
            <p:cNvPr id="6" name="object 6"/>
            <p:cNvSpPr/>
            <p:nvPr/>
          </p:nvSpPr>
          <p:spPr>
            <a:xfrm>
              <a:off x="381000" y="1047750"/>
              <a:ext cx="4000500" cy="1048385"/>
            </a:xfrm>
            <a:custGeom>
              <a:avLst/>
              <a:gdLst/>
              <a:ahLst/>
              <a:cxnLst/>
              <a:rect l="l" t="t" r="r" b="b"/>
              <a:pathLst>
                <a:path w="4000500" h="1048385">
                  <a:moveTo>
                    <a:pt x="3886184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886184" y="0"/>
                  </a:lnTo>
                  <a:lnTo>
                    <a:pt x="3929931" y="8701"/>
                  </a:lnTo>
                  <a:lnTo>
                    <a:pt x="3967017" y="33482"/>
                  </a:lnTo>
                  <a:lnTo>
                    <a:pt x="3991798" y="70568"/>
                  </a:lnTo>
                  <a:lnTo>
                    <a:pt x="4000499" y="114315"/>
                  </a:lnTo>
                  <a:lnTo>
                    <a:pt x="4000499" y="933584"/>
                  </a:lnTo>
                  <a:lnTo>
                    <a:pt x="3991516" y="978081"/>
                  </a:lnTo>
                  <a:lnTo>
                    <a:pt x="3967017" y="1014417"/>
                  </a:lnTo>
                  <a:lnTo>
                    <a:pt x="3930681" y="1038916"/>
                  </a:lnTo>
                  <a:lnTo>
                    <a:pt x="3886184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1047750"/>
              <a:ext cx="4000500" cy="1048385"/>
            </a:xfrm>
            <a:custGeom>
              <a:avLst/>
              <a:gdLst/>
              <a:ahLst/>
              <a:cxnLst/>
              <a:rect l="l" t="t" r="r" b="b"/>
              <a:pathLst>
                <a:path w="4000500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886184" y="0"/>
                  </a:lnTo>
                  <a:lnTo>
                    <a:pt x="3929931" y="8701"/>
                  </a:lnTo>
                  <a:lnTo>
                    <a:pt x="3967017" y="33482"/>
                  </a:lnTo>
                  <a:lnTo>
                    <a:pt x="3991798" y="70568"/>
                  </a:lnTo>
                  <a:lnTo>
                    <a:pt x="4000499" y="114315"/>
                  </a:lnTo>
                  <a:lnTo>
                    <a:pt x="4000499" y="933584"/>
                  </a:lnTo>
                  <a:lnTo>
                    <a:pt x="3991516" y="978081"/>
                  </a:lnTo>
                  <a:lnTo>
                    <a:pt x="3967017" y="1014417"/>
                  </a:lnTo>
                  <a:lnTo>
                    <a:pt x="3930681" y="1038916"/>
                  </a:lnTo>
                  <a:lnTo>
                    <a:pt x="3886184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425" y="1196288"/>
              <a:ext cx="107950" cy="1428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18362" y="1208987"/>
            <a:ext cx="3547110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7BDF7"/>
                </a:solidFill>
                <a:latin typeface="Arial"/>
                <a:cs typeface="Arial"/>
              </a:rPr>
              <a:t>ANALYSIS</a:t>
            </a:r>
            <a:r>
              <a:rPr dirty="0" sz="1100" spc="-5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FOCUS</a:t>
            </a:r>
            <a:endParaRPr sz="1100">
              <a:latin typeface="Arial"/>
              <a:cs typeface="Arial"/>
            </a:endParaRPr>
          </a:p>
          <a:p>
            <a:pPr marL="309880" indent="-297180">
              <a:lnSpc>
                <a:spcPct val="100000"/>
              </a:lnSpc>
              <a:spcBef>
                <a:spcPts val="65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10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most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frequently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purchased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Counted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total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purchases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900" spc="-6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each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product</a:t>
            </a:r>
            <a:endParaRPr sz="9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09880" algn="l"/>
              </a:tabLst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each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product’s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percentage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share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within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top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10</a:t>
            </a:r>
            <a:r>
              <a:rPr dirty="0" sz="9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list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222" y="2281237"/>
            <a:ext cx="4307205" cy="2200910"/>
            <a:chOff x="79222" y="2281237"/>
            <a:chExt cx="4307205" cy="2200910"/>
          </a:xfrm>
        </p:grpSpPr>
        <p:sp>
          <p:nvSpPr>
            <p:cNvPr id="11" name="object 11"/>
            <p:cNvSpPr/>
            <p:nvPr/>
          </p:nvSpPr>
          <p:spPr>
            <a:xfrm>
              <a:off x="83984" y="2286000"/>
              <a:ext cx="4297680" cy="2191385"/>
            </a:xfrm>
            <a:custGeom>
              <a:avLst/>
              <a:gdLst/>
              <a:ahLst/>
              <a:cxnLst/>
              <a:rect l="l" t="t" r="r" b="b"/>
              <a:pathLst>
                <a:path w="4297680" h="2191385">
                  <a:moveTo>
                    <a:pt x="4182922" y="2190899"/>
                  </a:moveTo>
                  <a:lnTo>
                    <a:pt x="114277" y="2190899"/>
                  </a:lnTo>
                  <a:lnTo>
                    <a:pt x="69795" y="2181919"/>
                  </a:lnTo>
                  <a:lnTo>
                    <a:pt x="33471" y="2157428"/>
                  </a:lnTo>
                  <a:lnTo>
                    <a:pt x="8980" y="2121104"/>
                  </a:lnTo>
                  <a:lnTo>
                    <a:pt x="0" y="2076622"/>
                  </a:lnTo>
                  <a:lnTo>
                    <a:pt x="0" y="114277"/>
                  </a:lnTo>
                  <a:lnTo>
                    <a:pt x="8980" y="69795"/>
                  </a:lnTo>
                  <a:lnTo>
                    <a:pt x="33471" y="33471"/>
                  </a:lnTo>
                  <a:lnTo>
                    <a:pt x="69795" y="8980"/>
                  </a:lnTo>
                  <a:lnTo>
                    <a:pt x="114277" y="0"/>
                  </a:lnTo>
                  <a:lnTo>
                    <a:pt x="4182922" y="0"/>
                  </a:lnTo>
                  <a:lnTo>
                    <a:pt x="4226654" y="8698"/>
                  </a:lnTo>
                  <a:lnTo>
                    <a:pt x="4263728" y="33470"/>
                  </a:lnTo>
                  <a:lnTo>
                    <a:pt x="4288501" y="70545"/>
                  </a:lnTo>
                  <a:lnTo>
                    <a:pt x="4297199" y="114277"/>
                  </a:lnTo>
                  <a:lnTo>
                    <a:pt x="4297199" y="2076622"/>
                  </a:lnTo>
                  <a:lnTo>
                    <a:pt x="4288219" y="2121104"/>
                  </a:lnTo>
                  <a:lnTo>
                    <a:pt x="4263728" y="2157428"/>
                  </a:lnTo>
                  <a:lnTo>
                    <a:pt x="4227404" y="2181919"/>
                  </a:lnTo>
                  <a:lnTo>
                    <a:pt x="4182922" y="2190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984" y="2286000"/>
              <a:ext cx="4297680" cy="2191385"/>
            </a:xfrm>
            <a:custGeom>
              <a:avLst/>
              <a:gdLst/>
              <a:ahLst/>
              <a:cxnLst/>
              <a:rect l="l" t="t" r="r" b="b"/>
              <a:pathLst>
                <a:path w="4297680" h="2191385">
                  <a:moveTo>
                    <a:pt x="0" y="114277"/>
                  </a:moveTo>
                  <a:lnTo>
                    <a:pt x="8980" y="69795"/>
                  </a:lnTo>
                  <a:lnTo>
                    <a:pt x="33471" y="33471"/>
                  </a:lnTo>
                  <a:lnTo>
                    <a:pt x="69795" y="8980"/>
                  </a:lnTo>
                  <a:lnTo>
                    <a:pt x="114277" y="0"/>
                  </a:lnTo>
                  <a:lnTo>
                    <a:pt x="4182922" y="0"/>
                  </a:lnTo>
                  <a:lnTo>
                    <a:pt x="4226654" y="8698"/>
                  </a:lnTo>
                  <a:lnTo>
                    <a:pt x="4263728" y="33470"/>
                  </a:lnTo>
                  <a:lnTo>
                    <a:pt x="4288501" y="70545"/>
                  </a:lnTo>
                  <a:lnTo>
                    <a:pt x="4297199" y="114277"/>
                  </a:lnTo>
                  <a:lnTo>
                    <a:pt x="4297199" y="2076622"/>
                  </a:lnTo>
                  <a:lnTo>
                    <a:pt x="4288219" y="2121104"/>
                  </a:lnTo>
                  <a:lnTo>
                    <a:pt x="4263728" y="2157428"/>
                  </a:lnTo>
                  <a:lnTo>
                    <a:pt x="4227404" y="2181919"/>
                  </a:lnTo>
                  <a:lnTo>
                    <a:pt x="4182922" y="2190899"/>
                  </a:lnTo>
                  <a:lnTo>
                    <a:pt x="114277" y="2190899"/>
                  </a:lnTo>
                  <a:lnTo>
                    <a:pt x="69795" y="2181919"/>
                  </a:lnTo>
                  <a:lnTo>
                    <a:pt x="33471" y="2157428"/>
                  </a:lnTo>
                  <a:lnTo>
                    <a:pt x="8980" y="2121104"/>
                  </a:lnTo>
                  <a:lnTo>
                    <a:pt x="0" y="2076622"/>
                  </a:lnTo>
                  <a:lnTo>
                    <a:pt x="0" y="114277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525" y="2292712"/>
              <a:ext cx="165100" cy="1270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89778" y="2295886"/>
            <a:ext cx="13182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1100" spc="-1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4475" y="2710688"/>
            <a:ext cx="165100" cy="424180"/>
            <a:chOff x="244475" y="2710688"/>
            <a:chExt cx="165100" cy="42418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75" y="2710688"/>
              <a:ext cx="165100" cy="1428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75" y="2991675"/>
              <a:ext cx="165100" cy="1428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11728" y="2761488"/>
            <a:ext cx="11830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Banana: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18,726</a:t>
            </a:r>
            <a:r>
              <a:rPr dirty="0" sz="800" spc="-2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(19.55%)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425" y="3037649"/>
            <a:ext cx="1601470" cy="274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5750">
              <a:lnSpc>
                <a:spcPct val="116399"/>
              </a:lnSpc>
              <a:spcBef>
                <a:spcPts val="100"/>
              </a:spcBef>
            </a:pP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Bag</a:t>
            </a:r>
            <a:r>
              <a:rPr dirty="0" sz="7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7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7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Bananas:</a:t>
            </a:r>
            <a:r>
              <a:rPr dirty="0" sz="7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-10" b="1">
                <a:solidFill>
                  <a:srgbClr val="37BDF7"/>
                </a:solidFill>
                <a:latin typeface="Arial"/>
                <a:cs typeface="Arial"/>
              </a:rPr>
              <a:t>15,480</a:t>
            </a:r>
            <a:r>
              <a:rPr dirty="0" sz="700" spc="50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37BDF7"/>
                </a:solidFill>
                <a:latin typeface="Arial"/>
                <a:cs typeface="Arial"/>
              </a:rPr>
              <a:t>(16.16%)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75" y="3320288"/>
            <a:ext cx="165100" cy="1428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25425" y="3361435"/>
            <a:ext cx="1550670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7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Strawberries:</a:t>
            </a:r>
            <a:r>
              <a:rPr dirty="0" sz="7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Arial"/>
                <a:cs typeface="Arial"/>
              </a:rPr>
              <a:t>10,894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(11.37%)</a:t>
            </a:r>
            <a:endParaRPr sz="7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475" y="3653663"/>
            <a:ext cx="165100" cy="1428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25425" y="3694811"/>
            <a:ext cx="1550670" cy="286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5750">
              <a:lnSpc>
                <a:spcPct val="113999"/>
              </a:lnSpc>
              <a:spcBef>
                <a:spcPts val="100"/>
              </a:spcBef>
            </a:pP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7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Baby</a:t>
            </a:r>
            <a:r>
              <a:rPr dirty="0" sz="7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Spinach:</a:t>
            </a:r>
            <a:r>
              <a:rPr dirty="0" sz="7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 b="1">
                <a:solidFill>
                  <a:srgbClr val="FFFFFF"/>
                </a:solidFill>
                <a:latin typeface="Arial"/>
                <a:cs typeface="Arial"/>
              </a:rPr>
              <a:t>9,784 </a:t>
            </a: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(10.21%)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44475" y="2710688"/>
            <a:ext cx="2165350" cy="1476375"/>
            <a:chOff x="244475" y="2710688"/>
            <a:chExt cx="2165350" cy="147637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475" y="4044188"/>
              <a:ext cx="165100" cy="1428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4725" y="2710688"/>
              <a:ext cx="165100" cy="1428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4725" y="2982150"/>
              <a:ext cx="165100" cy="14287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11728" y="4094988"/>
            <a:ext cx="13182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Large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Lemon: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8,135</a:t>
            </a: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(8.49%)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11978" y="2761488"/>
            <a:ext cx="14916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Avocado:</a:t>
            </a:r>
            <a:r>
              <a:rPr dirty="0"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7,409</a:t>
            </a:r>
            <a:r>
              <a:rPr dirty="0" sz="800" spc="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(7.73%)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5675" y="3018472"/>
            <a:ext cx="1652905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5750">
              <a:lnSpc>
                <a:spcPct val="1119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Hass</a:t>
            </a:r>
            <a:r>
              <a:rPr dirty="0" sz="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Avocado:</a:t>
            </a:r>
            <a:r>
              <a:rPr dirty="0"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7,293 (7.61%)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44725" y="3377438"/>
            <a:ext cx="165100" cy="809625"/>
            <a:chOff x="2244725" y="3377438"/>
            <a:chExt cx="165100" cy="809625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4725" y="3377438"/>
              <a:ext cx="165100" cy="14287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4725" y="3710813"/>
              <a:ext cx="165100" cy="1428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4725" y="4044188"/>
              <a:ext cx="165100" cy="14287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511978" y="3428238"/>
            <a:ext cx="12896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Strawberries:</a:t>
            </a:r>
            <a:r>
              <a:rPr dirty="0"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6,494</a:t>
            </a:r>
            <a:r>
              <a:rPr dirty="0" sz="80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(6.78%)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11978" y="3761613"/>
            <a:ext cx="9912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Limes: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6,033</a:t>
            </a:r>
            <a:r>
              <a:rPr dirty="0" sz="800" spc="-3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(6.30%)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11978" y="4094988"/>
            <a:ext cx="16510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Raspberries:</a:t>
            </a:r>
            <a:r>
              <a:rPr dirty="0"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5,546 (5.79%)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67237" y="3424237"/>
            <a:ext cx="4200525" cy="1057910"/>
            <a:chOff x="4567237" y="3424237"/>
            <a:chExt cx="4200525" cy="1057910"/>
          </a:xfrm>
        </p:grpSpPr>
        <p:sp>
          <p:nvSpPr>
            <p:cNvPr id="39" name="object 39"/>
            <p:cNvSpPr/>
            <p:nvPr/>
          </p:nvSpPr>
          <p:spPr>
            <a:xfrm>
              <a:off x="4572000" y="3429000"/>
              <a:ext cx="4191000" cy="1048385"/>
            </a:xfrm>
            <a:custGeom>
              <a:avLst/>
              <a:gdLst/>
              <a:ahLst/>
              <a:cxnLst/>
              <a:rect l="l" t="t" r="r" b="b"/>
              <a:pathLst>
                <a:path w="4191000" h="1048385">
                  <a:moveTo>
                    <a:pt x="4076694" y="1047899"/>
                  </a:move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4076694" y="0"/>
                  </a:lnTo>
                  <a:lnTo>
                    <a:pt x="4120437" y="8701"/>
                  </a:lnTo>
                  <a:lnTo>
                    <a:pt x="4157520" y="33479"/>
                  </a:lnTo>
                  <a:lnTo>
                    <a:pt x="4182298" y="70562"/>
                  </a:lnTo>
                  <a:lnTo>
                    <a:pt x="4190999" y="114304"/>
                  </a:lnTo>
                  <a:lnTo>
                    <a:pt x="4190999" y="933594"/>
                  </a:lnTo>
                  <a:lnTo>
                    <a:pt x="4182017" y="978087"/>
                  </a:lnTo>
                  <a:lnTo>
                    <a:pt x="4157520" y="1014420"/>
                  </a:lnTo>
                  <a:lnTo>
                    <a:pt x="4121187" y="1038917"/>
                  </a:lnTo>
                  <a:lnTo>
                    <a:pt x="4076694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72000" y="3429000"/>
              <a:ext cx="4191000" cy="1048385"/>
            </a:xfrm>
            <a:custGeom>
              <a:avLst/>
              <a:gdLst/>
              <a:ahLst/>
              <a:cxnLst/>
              <a:rect l="l" t="t" r="r" b="b"/>
              <a:pathLst>
                <a:path w="4191000" h="1048385">
                  <a:moveTo>
                    <a:pt x="0" y="114304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4076694" y="0"/>
                  </a:lnTo>
                  <a:lnTo>
                    <a:pt x="4120437" y="8701"/>
                  </a:lnTo>
                  <a:lnTo>
                    <a:pt x="4157520" y="33479"/>
                  </a:lnTo>
                  <a:lnTo>
                    <a:pt x="4182298" y="70562"/>
                  </a:lnTo>
                  <a:lnTo>
                    <a:pt x="4190999" y="114304"/>
                  </a:lnTo>
                  <a:lnTo>
                    <a:pt x="4190999" y="933594"/>
                  </a:lnTo>
                  <a:lnTo>
                    <a:pt x="4182017" y="978087"/>
                  </a:lnTo>
                  <a:lnTo>
                    <a:pt x="4157520" y="1014420"/>
                  </a:lnTo>
                  <a:lnTo>
                    <a:pt x="4121187" y="1038917"/>
                  </a:lnTo>
                  <a:lnTo>
                    <a:pt x="4076694" y="1047899"/>
                  </a:ln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4725" y="3545584"/>
              <a:ext cx="107950" cy="1143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992315" y="3547490"/>
            <a:ext cx="108140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37BDF7"/>
                </a:solidFill>
                <a:latin typeface="Arial"/>
                <a:cs typeface="Arial"/>
              </a:rPr>
              <a:t>INTERPRETATION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87159" y="3788274"/>
            <a:ext cx="3532504" cy="59118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31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32105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Banana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Bag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Bananas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clearly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dominated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purchases</a:t>
            </a:r>
            <a:endParaRPr sz="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7BDF7"/>
              </a:buClr>
              <a:buFont typeface="Arial MT"/>
              <a:buChar char="●"/>
            </a:pPr>
            <a:endParaRPr sz="7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buClr>
                <a:srgbClr val="37BDF7"/>
              </a:buClr>
              <a:buSzPct val="164285"/>
              <a:buFont typeface="Arial MT"/>
              <a:buChar char="●"/>
              <a:tabLst>
                <a:tab pos="332105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top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10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were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mostly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staple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fruit,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vegetable,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salad-related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items</a:t>
            </a:r>
            <a:endParaRPr sz="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7BDF7"/>
              </a:buClr>
              <a:buFont typeface="Arial MT"/>
              <a:buChar char="●"/>
            </a:pPr>
            <a:endParaRPr sz="70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32105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small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group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represented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large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share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demand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45" name="object 45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1806" y="4748797"/>
              <a:ext cx="88900" cy="1270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139872" y="4767847"/>
            <a:ext cx="71145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6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Banana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Bag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Bananas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dominated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purchases,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showing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demand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is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strongly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concentrated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around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a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small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set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everyday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staple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items.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567237" y="947737"/>
            <a:ext cx="4200525" cy="2200910"/>
            <a:chOff x="4567237" y="947737"/>
            <a:chExt cx="4200525" cy="2200910"/>
          </a:xfrm>
        </p:grpSpPr>
        <p:sp>
          <p:nvSpPr>
            <p:cNvPr id="49" name="object 49"/>
            <p:cNvSpPr/>
            <p:nvPr/>
          </p:nvSpPr>
          <p:spPr>
            <a:xfrm>
              <a:off x="4572000" y="952500"/>
              <a:ext cx="4191000" cy="2191385"/>
            </a:xfrm>
            <a:custGeom>
              <a:avLst/>
              <a:gdLst/>
              <a:ahLst/>
              <a:cxnLst/>
              <a:rect l="l" t="t" r="r" b="b"/>
              <a:pathLst>
                <a:path w="4191000" h="2191385">
                  <a:moveTo>
                    <a:pt x="4076700" y="2190899"/>
                  </a:moveTo>
                  <a:lnTo>
                    <a:pt x="114299" y="2190899"/>
                  </a:lnTo>
                  <a:lnTo>
                    <a:pt x="69808" y="2181917"/>
                  </a:lnTo>
                  <a:lnTo>
                    <a:pt x="33477" y="2157422"/>
                  </a:lnTo>
                  <a:lnTo>
                    <a:pt x="8982" y="2121091"/>
                  </a:lnTo>
                  <a:lnTo>
                    <a:pt x="0" y="2076600"/>
                  </a:lnTo>
                  <a:lnTo>
                    <a:pt x="0" y="114299"/>
                  </a:ln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9" y="0"/>
                  </a:lnTo>
                  <a:lnTo>
                    <a:pt x="4076700" y="0"/>
                  </a:lnTo>
                  <a:lnTo>
                    <a:pt x="4120441" y="8700"/>
                  </a:lnTo>
                  <a:lnTo>
                    <a:pt x="4157522" y="33477"/>
                  </a:lnTo>
                  <a:lnTo>
                    <a:pt x="4182299" y="70558"/>
                  </a:lnTo>
                  <a:lnTo>
                    <a:pt x="4190999" y="114299"/>
                  </a:lnTo>
                  <a:lnTo>
                    <a:pt x="4190999" y="2076600"/>
                  </a:lnTo>
                  <a:lnTo>
                    <a:pt x="4182017" y="2121091"/>
                  </a:lnTo>
                  <a:lnTo>
                    <a:pt x="4157522" y="2157422"/>
                  </a:lnTo>
                  <a:lnTo>
                    <a:pt x="4121191" y="2181917"/>
                  </a:lnTo>
                  <a:lnTo>
                    <a:pt x="4076700" y="2190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572000" y="952500"/>
              <a:ext cx="4191000" cy="2191385"/>
            </a:xfrm>
            <a:custGeom>
              <a:avLst/>
              <a:gdLst/>
              <a:ahLst/>
              <a:cxnLst/>
              <a:rect l="l" t="t" r="r" b="b"/>
              <a:pathLst>
                <a:path w="4191000" h="2191385">
                  <a:moveTo>
                    <a:pt x="0" y="114299"/>
                  </a:move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9" y="0"/>
                  </a:lnTo>
                  <a:lnTo>
                    <a:pt x="4076700" y="0"/>
                  </a:lnTo>
                  <a:lnTo>
                    <a:pt x="4120441" y="8700"/>
                  </a:lnTo>
                  <a:lnTo>
                    <a:pt x="4157522" y="33477"/>
                  </a:lnTo>
                  <a:lnTo>
                    <a:pt x="4182299" y="70558"/>
                  </a:lnTo>
                  <a:lnTo>
                    <a:pt x="4190999" y="114299"/>
                  </a:lnTo>
                  <a:lnTo>
                    <a:pt x="4190999" y="2076600"/>
                  </a:lnTo>
                  <a:lnTo>
                    <a:pt x="4182017" y="2121091"/>
                  </a:lnTo>
                  <a:lnTo>
                    <a:pt x="4157522" y="2157422"/>
                  </a:lnTo>
                  <a:lnTo>
                    <a:pt x="4121191" y="2181917"/>
                  </a:lnTo>
                  <a:lnTo>
                    <a:pt x="4076700" y="2190899"/>
                  </a:lnTo>
                  <a:lnTo>
                    <a:pt x="114299" y="2190899"/>
                  </a:lnTo>
                  <a:lnTo>
                    <a:pt x="69808" y="2181917"/>
                  </a:lnTo>
                  <a:lnTo>
                    <a:pt x="33477" y="2157422"/>
                  </a:lnTo>
                  <a:lnTo>
                    <a:pt x="8982" y="2121091"/>
                  </a:lnTo>
                  <a:lnTo>
                    <a:pt x="0" y="2076600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897229" y="1120495"/>
            <a:ext cx="15417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0" b="1">
                <a:solidFill>
                  <a:srgbClr val="F7FAFC"/>
                </a:solidFill>
                <a:latin typeface="Arial"/>
                <a:cs typeface="Arial"/>
              </a:rPr>
              <a:t>Top</a:t>
            </a:r>
            <a:r>
              <a:rPr dirty="0" sz="10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10</a:t>
            </a:r>
            <a:r>
              <a:rPr dirty="0" sz="10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1000" spc="-3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7FAFC"/>
                </a:solidFill>
                <a:latin typeface="Arial"/>
                <a:cs typeface="Arial"/>
              </a:rPr>
              <a:t>Products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995987" y="1333500"/>
            <a:ext cx="2386330" cy="1671955"/>
            <a:chOff x="5995987" y="1333500"/>
            <a:chExt cx="2386330" cy="1671955"/>
          </a:xfrm>
        </p:grpSpPr>
        <p:sp>
          <p:nvSpPr>
            <p:cNvPr id="53" name="object 53"/>
            <p:cNvSpPr/>
            <p:nvPr/>
          </p:nvSpPr>
          <p:spPr>
            <a:xfrm>
              <a:off x="6000750" y="1381137"/>
              <a:ext cx="2000250" cy="1571625"/>
            </a:xfrm>
            <a:custGeom>
              <a:avLst/>
              <a:gdLst/>
              <a:ahLst/>
              <a:cxnLst/>
              <a:rect l="l" t="t" r="r" b="b"/>
              <a:pathLst>
                <a:path w="2000250" h="1571625">
                  <a:moveTo>
                    <a:pt x="592493" y="1471320"/>
                  </a:moveTo>
                  <a:lnTo>
                    <a:pt x="590486" y="1466469"/>
                  </a:lnTo>
                  <a:lnTo>
                    <a:pt x="586917" y="1462900"/>
                  </a:lnTo>
                  <a:lnTo>
                    <a:pt x="583336" y="1459331"/>
                  </a:lnTo>
                  <a:lnTo>
                    <a:pt x="578497" y="1457325"/>
                  </a:lnTo>
                  <a:lnTo>
                    <a:pt x="19037" y="1457325"/>
                  </a:lnTo>
                  <a:lnTo>
                    <a:pt x="11633" y="1458810"/>
                  </a:lnTo>
                  <a:lnTo>
                    <a:pt x="5575" y="1462900"/>
                  </a:lnTo>
                  <a:lnTo>
                    <a:pt x="1485" y="1468958"/>
                  </a:lnTo>
                  <a:lnTo>
                    <a:pt x="0" y="1476362"/>
                  </a:lnTo>
                  <a:lnTo>
                    <a:pt x="0" y="1552575"/>
                  </a:lnTo>
                  <a:lnTo>
                    <a:pt x="1485" y="1559979"/>
                  </a:lnTo>
                  <a:lnTo>
                    <a:pt x="5575" y="1566037"/>
                  </a:lnTo>
                  <a:lnTo>
                    <a:pt x="11633" y="1570126"/>
                  </a:lnTo>
                  <a:lnTo>
                    <a:pt x="19037" y="1571625"/>
                  </a:lnTo>
                  <a:lnTo>
                    <a:pt x="573443" y="1571625"/>
                  </a:lnTo>
                  <a:lnTo>
                    <a:pt x="580859" y="1570126"/>
                  </a:lnTo>
                  <a:lnTo>
                    <a:pt x="586917" y="1566037"/>
                  </a:lnTo>
                  <a:lnTo>
                    <a:pt x="590994" y="1559979"/>
                  </a:lnTo>
                  <a:lnTo>
                    <a:pt x="592493" y="1552575"/>
                  </a:lnTo>
                  <a:lnTo>
                    <a:pt x="592493" y="1471320"/>
                  </a:lnTo>
                  <a:close/>
                </a:path>
                <a:path w="2000250" h="1571625">
                  <a:moveTo>
                    <a:pt x="644690" y="1309395"/>
                  </a:moveTo>
                  <a:lnTo>
                    <a:pt x="642683" y="1304544"/>
                  </a:lnTo>
                  <a:lnTo>
                    <a:pt x="639114" y="1300975"/>
                  </a:lnTo>
                  <a:lnTo>
                    <a:pt x="635546" y="1297406"/>
                  </a:lnTo>
                  <a:lnTo>
                    <a:pt x="630694" y="1295400"/>
                  </a:lnTo>
                  <a:lnTo>
                    <a:pt x="19037" y="1295400"/>
                  </a:lnTo>
                  <a:lnTo>
                    <a:pt x="11633" y="1296885"/>
                  </a:lnTo>
                  <a:lnTo>
                    <a:pt x="5575" y="1300975"/>
                  </a:lnTo>
                  <a:lnTo>
                    <a:pt x="1485" y="1307033"/>
                  </a:lnTo>
                  <a:lnTo>
                    <a:pt x="0" y="1314437"/>
                  </a:lnTo>
                  <a:lnTo>
                    <a:pt x="0" y="1390650"/>
                  </a:lnTo>
                  <a:lnTo>
                    <a:pt x="1485" y="1398054"/>
                  </a:lnTo>
                  <a:lnTo>
                    <a:pt x="5575" y="1404112"/>
                  </a:lnTo>
                  <a:lnTo>
                    <a:pt x="11633" y="1408201"/>
                  </a:lnTo>
                  <a:lnTo>
                    <a:pt x="19037" y="1409700"/>
                  </a:lnTo>
                  <a:lnTo>
                    <a:pt x="625640" y="1409700"/>
                  </a:lnTo>
                  <a:lnTo>
                    <a:pt x="633056" y="1408201"/>
                  </a:lnTo>
                  <a:lnTo>
                    <a:pt x="639114" y="1404112"/>
                  </a:lnTo>
                  <a:lnTo>
                    <a:pt x="643191" y="1398054"/>
                  </a:lnTo>
                  <a:lnTo>
                    <a:pt x="644690" y="1390650"/>
                  </a:lnTo>
                  <a:lnTo>
                    <a:pt x="644690" y="1309395"/>
                  </a:lnTo>
                  <a:close/>
                </a:path>
                <a:path w="2000250" h="1571625">
                  <a:moveTo>
                    <a:pt x="693293" y="1147470"/>
                  </a:moveTo>
                  <a:lnTo>
                    <a:pt x="691286" y="1142619"/>
                  </a:lnTo>
                  <a:lnTo>
                    <a:pt x="687717" y="1139050"/>
                  </a:lnTo>
                  <a:lnTo>
                    <a:pt x="684136" y="1135481"/>
                  </a:lnTo>
                  <a:lnTo>
                    <a:pt x="679297" y="1133475"/>
                  </a:lnTo>
                  <a:lnTo>
                    <a:pt x="19037" y="1133475"/>
                  </a:lnTo>
                  <a:lnTo>
                    <a:pt x="11633" y="1134960"/>
                  </a:lnTo>
                  <a:lnTo>
                    <a:pt x="5575" y="1139050"/>
                  </a:lnTo>
                  <a:lnTo>
                    <a:pt x="1485" y="1145108"/>
                  </a:lnTo>
                  <a:lnTo>
                    <a:pt x="0" y="1152512"/>
                  </a:lnTo>
                  <a:lnTo>
                    <a:pt x="0" y="1228725"/>
                  </a:lnTo>
                  <a:lnTo>
                    <a:pt x="1485" y="1236129"/>
                  </a:lnTo>
                  <a:lnTo>
                    <a:pt x="5575" y="1242187"/>
                  </a:lnTo>
                  <a:lnTo>
                    <a:pt x="11633" y="1246276"/>
                  </a:lnTo>
                  <a:lnTo>
                    <a:pt x="19037" y="1247775"/>
                  </a:lnTo>
                  <a:lnTo>
                    <a:pt x="674243" y="1247775"/>
                  </a:lnTo>
                  <a:lnTo>
                    <a:pt x="681659" y="1246276"/>
                  </a:lnTo>
                  <a:lnTo>
                    <a:pt x="687717" y="1242187"/>
                  </a:lnTo>
                  <a:lnTo>
                    <a:pt x="691794" y="1236129"/>
                  </a:lnTo>
                  <a:lnTo>
                    <a:pt x="693293" y="1228725"/>
                  </a:lnTo>
                  <a:lnTo>
                    <a:pt x="693293" y="1147470"/>
                  </a:lnTo>
                  <a:close/>
                </a:path>
                <a:path w="2000250" h="1571625">
                  <a:moveTo>
                    <a:pt x="779094" y="985545"/>
                  </a:moveTo>
                  <a:lnTo>
                    <a:pt x="777087" y="980694"/>
                  </a:lnTo>
                  <a:lnTo>
                    <a:pt x="773518" y="977125"/>
                  </a:lnTo>
                  <a:lnTo>
                    <a:pt x="769937" y="973556"/>
                  </a:lnTo>
                  <a:lnTo>
                    <a:pt x="765098" y="971550"/>
                  </a:lnTo>
                  <a:lnTo>
                    <a:pt x="19037" y="971550"/>
                  </a:lnTo>
                  <a:lnTo>
                    <a:pt x="11633" y="973035"/>
                  </a:lnTo>
                  <a:lnTo>
                    <a:pt x="5575" y="977125"/>
                  </a:lnTo>
                  <a:lnTo>
                    <a:pt x="1485" y="983183"/>
                  </a:lnTo>
                  <a:lnTo>
                    <a:pt x="0" y="990587"/>
                  </a:lnTo>
                  <a:lnTo>
                    <a:pt x="0" y="1066800"/>
                  </a:lnTo>
                  <a:lnTo>
                    <a:pt x="1485" y="1074204"/>
                  </a:lnTo>
                  <a:lnTo>
                    <a:pt x="5575" y="1080262"/>
                  </a:lnTo>
                  <a:lnTo>
                    <a:pt x="11633" y="1084351"/>
                  </a:lnTo>
                  <a:lnTo>
                    <a:pt x="19037" y="1085850"/>
                  </a:lnTo>
                  <a:lnTo>
                    <a:pt x="760044" y="1085850"/>
                  </a:lnTo>
                  <a:lnTo>
                    <a:pt x="767461" y="1084351"/>
                  </a:lnTo>
                  <a:lnTo>
                    <a:pt x="773518" y="1080262"/>
                  </a:lnTo>
                  <a:lnTo>
                    <a:pt x="777595" y="1074204"/>
                  </a:lnTo>
                  <a:lnTo>
                    <a:pt x="779094" y="1066800"/>
                  </a:lnTo>
                  <a:lnTo>
                    <a:pt x="779094" y="985545"/>
                  </a:lnTo>
                  <a:close/>
                </a:path>
                <a:path w="2000250" h="1571625">
                  <a:moveTo>
                    <a:pt x="791387" y="823620"/>
                  </a:moveTo>
                  <a:lnTo>
                    <a:pt x="789381" y="818769"/>
                  </a:lnTo>
                  <a:lnTo>
                    <a:pt x="785812" y="815200"/>
                  </a:lnTo>
                  <a:lnTo>
                    <a:pt x="782243" y="811631"/>
                  </a:lnTo>
                  <a:lnTo>
                    <a:pt x="777392" y="809625"/>
                  </a:lnTo>
                  <a:lnTo>
                    <a:pt x="19037" y="809625"/>
                  </a:lnTo>
                  <a:lnTo>
                    <a:pt x="11633" y="811110"/>
                  </a:lnTo>
                  <a:lnTo>
                    <a:pt x="5575" y="815200"/>
                  </a:lnTo>
                  <a:lnTo>
                    <a:pt x="1485" y="821258"/>
                  </a:lnTo>
                  <a:lnTo>
                    <a:pt x="0" y="828662"/>
                  </a:lnTo>
                  <a:lnTo>
                    <a:pt x="0" y="904875"/>
                  </a:lnTo>
                  <a:lnTo>
                    <a:pt x="1485" y="912279"/>
                  </a:lnTo>
                  <a:lnTo>
                    <a:pt x="5575" y="918337"/>
                  </a:lnTo>
                  <a:lnTo>
                    <a:pt x="11633" y="922426"/>
                  </a:lnTo>
                  <a:lnTo>
                    <a:pt x="19037" y="923925"/>
                  </a:lnTo>
                  <a:lnTo>
                    <a:pt x="772350" y="923925"/>
                  </a:lnTo>
                  <a:lnTo>
                    <a:pt x="779754" y="922426"/>
                  </a:lnTo>
                  <a:lnTo>
                    <a:pt x="785812" y="918337"/>
                  </a:lnTo>
                  <a:lnTo>
                    <a:pt x="789901" y="912279"/>
                  </a:lnTo>
                  <a:lnTo>
                    <a:pt x="791387" y="904875"/>
                  </a:lnTo>
                  <a:lnTo>
                    <a:pt x="791387" y="823620"/>
                  </a:lnTo>
                  <a:close/>
                </a:path>
                <a:path w="2000250" h="1571625">
                  <a:moveTo>
                    <a:pt x="868794" y="661695"/>
                  </a:moveTo>
                  <a:lnTo>
                    <a:pt x="866787" y="656844"/>
                  </a:lnTo>
                  <a:lnTo>
                    <a:pt x="863219" y="653275"/>
                  </a:lnTo>
                  <a:lnTo>
                    <a:pt x="859637" y="649706"/>
                  </a:lnTo>
                  <a:lnTo>
                    <a:pt x="854798" y="647700"/>
                  </a:lnTo>
                  <a:lnTo>
                    <a:pt x="19037" y="647700"/>
                  </a:lnTo>
                  <a:lnTo>
                    <a:pt x="11633" y="649185"/>
                  </a:lnTo>
                  <a:lnTo>
                    <a:pt x="5575" y="653275"/>
                  </a:lnTo>
                  <a:lnTo>
                    <a:pt x="1485" y="659333"/>
                  </a:lnTo>
                  <a:lnTo>
                    <a:pt x="0" y="666737"/>
                  </a:lnTo>
                  <a:lnTo>
                    <a:pt x="0" y="742950"/>
                  </a:lnTo>
                  <a:lnTo>
                    <a:pt x="1485" y="750354"/>
                  </a:lnTo>
                  <a:lnTo>
                    <a:pt x="5575" y="756412"/>
                  </a:lnTo>
                  <a:lnTo>
                    <a:pt x="11633" y="760501"/>
                  </a:lnTo>
                  <a:lnTo>
                    <a:pt x="19037" y="762000"/>
                  </a:lnTo>
                  <a:lnTo>
                    <a:pt x="849744" y="762000"/>
                  </a:lnTo>
                  <a:lnTo>
                    <a:pt x="857161" y="760501"/>
                  </a:lnTo>
                  <a:lnTo>
                    <a:pt x="863219" y="756412"/>
                  </a:lnTo>
                  <a:lnTo>
                    <a:pt x="867295" y="750354"/>
                  </a:lnTo>
                  <a:lnTo>
                    <a:pt x="868794" y="742950"/>
                  </a:lnTo>
                  <a:lnTo>
                    <a:pt x="868794" y="661695"/>
                  </a:lnTo>
                  <a:close/>
                </a:path>
                <a:path w="2000250" h="1571625">
                  <a:moveTo>
                    <a:pt x="1045794" y="499770"/>
                  </a:moveTo>
                  <a:lnTo>
                    <a:pt x="1043787" y="494919"/>
                  </a:lnTo>
                  <a:lnTo>
                    <a:pt x="1040218" y="491350"/>
                  </a:lnTo>
                  <a:lnTo>
                    <a:pt x="1036637" y="487781"/>
                  </a:lnTo>
                  <a:lnTo>
                    <a:pt x="1031798" y="485775"/>
                  </a:lnTo>
                  <a:lnTo>
                    <a:pt x="19037" y="485775"/>
                  </a:lnTo>
                  <a:lnTo>
                    <a:pt x="11633" y="487260"/>
                  </a:lnTo>
                  <a:lnTo>
                    <a:pt x="5575" y="491350"/>
                  </a:lnTo>
                  <a:lnTo>
                    <a:pt x="1485" y="497408"/>
                  </a:lnTo>
                  <a:lnTo>
                    <a:pt x="0" y="504812"/>
                  </a:lnTo>
                  <a:lnTo>
                    <a:pt x="0" y="581025"/>
                  </a:lnTo>
                  <a:lnTo>
                    <a:pt x="1485" y="588429"/>
                  </a:lnTo>
                  <a:lnTo>
                    <a:pt x="5575" y="594487"/>
                  </a:lnTo>
                  <a:lnTo>
                    <a:pt x="11633" y="598576"/>
                  </a:lnTo>
                  <a:lnTo>
                    <a:pt x="19037" y="600075"/>
                  </a:lnTo>
                  <a:lnTo>
                    <a:pt x="1026744" y="600075"/>
                  </a:lnTo>
                  <a:lnTo>
                    <a:pt x="1034161" y="598576"/>
                  </a:lnTo>
                  <a:lnTo>
                    <a:pt x="1040218" y="594487"/>
                  </a:lnTo>
                  <a:lnTo>
                    <a:pt x="1044295" y="588429"/>
                  </a:lnTo>
                  <a:lnTo>
                    <a:pt x="1045794" y="581025"/>
                  </a:lnTo>
                  <a:lnTo>
                    <a:pt x="1045794" y="499770"/>
                  </a:lnTo>
                  <a:close/>
                </a:path>
                <a:path w="2000250" h="1571625">
                  <a:moveTo>
                    <a:pt x="1163993" y="337845"/>
                  </a:moveTo>
                  <a:lnTo>
                    <a:pt x="1161986" y="332994"/>
                  </a:lnTo>
                  <a:lnTo>
                    <a:pt x="1158417" y="329425"/>
                  </a:lnTo>
                  <a:lnTo>
                    <a:pt x="1154836" y="325856"/>
                  </a:lnTo>
                  <a:lnTo>
                    <a:pt x="1149997" y="323850"/>
                  </a:lnTo>
                  <a:lnTo>
                    <a:pt x="19037" y="323850"/>
                  </a:lnTo>
                  <a:lnTo>
                    <a:pt x="11633" y="325335"/>
                  </a:lnTo>
                  <a:lnTo>
                    <a:pt x="5575" y="329425"/>
                  </a:lnTo>
                  <a:lnTo>
                    <a:pt x="1485" y="335483"/>
                  </a:lnTo>
                  <a:lnTo>
                    <a:pt x="0" y="342887"/>
                  </a:lnTo>
                  <a:lnTo>
                    <a:pt x="0" y="419100"/>
                  </a:lnTo>
                  <a:lnTo>
                    <a:pt x="1485" y="426504"/>
                  </a:lnTo>
                  <a:lnTo>
                    <a:pt x="5575" y="432562"/>
                  </a:lnTo>
                  <a:lnTo>
                    <a:pt x="11633" y="436651"/>
                  </a:lnTo>
                  <a:lnTo>
                    <a:pt x="19037" y="438150"/>
                  </a:lnTo>
                  <a:lnTo>
                    <a:pt x="1144943" y="438150"/>
                  </a:lnTo>
                  <a:lnTo>
                    <a:pt x="1152359" y="436651"/>
                  </a:lnTo>
                  <a:lnTo>
                    <a:pt x="1158417" y="432562"/>
                  </a:lnTo>
                  <a:lnTo>
                    <a:pt x="1162494" y="426504"/>
                  </a:lnTo>
                  <a:lnTo>
                    <a:pt x="1163993" y="419100"/>
                  </a:lnTo>
                  <a:lnTo>
                    <a:pt x="1163993" y="337845"/>
                  </a:lnTo>
                  <a:close/>
                </a:path>
                <a:path w="2000250" h="1571625">
                  <a:moveTo>
                    <a:pt x="1653590" y="175920"/>
                  </a:moveTo>
                  <a:lnTo>
                    <a:pt x="1651584" y="171069"/>
                  </a:lnTo>
                  <a:lnTo>
                    <a:pt x="1648015" y="167500"/>
                  </a:lnTo>
                  <a:lnTo>
                    <a:pt x="1644446" y="163931"/>
                  </a:lnTo>
                  <a:lnTo>
                    <a:pt x="1639595" y="161925"/>
                  </a:lnTo>
                  <a:lnTo>
                    <a:pt x="19037" y="161925"/>
                  </a:lnTo>
                  <a:lnTo>
                    <a:pt x="11633" y="163410"/>
                  </a:lnTo>
                  <a:lnTo>
                    <a:pt x="5575" y="167500"/>
                  </a:lnTo>
                  <a:lnTo>
                    <a:pt x="1485" y="173558"/>
                  </a:lnTo>
                  <a:lnTo>
                    <a:pt x="0" y="180962"/>
                  </a:lnTo>
                  <a:lnTo>
                    <a:pt x="0" y="257175"/>
                  </a:lnTo>
                  <a:lnTo>
                    <a:pt x="1485" y="264579"/>
                  </a:lnTo>
                  <a:lnTo>
                    <a:pt x="5575" y="270637"/>
                  </a:lnTo>
                  <a:lnTo>
                    <a:pt x="11633" y="274726"/>
                  </a:lnTo>
                  <a:lnTo>
                    <a:pt x="19037" y="276225"/>
                  </a:lnTo>
                  <a:lnTo>
                    <a:pt x="1634540" y="276225"/>
                  </a:lnTo>
                  <a:lnTo>
                    <a:pt x="1641957" y="274726"/>
                  </a:lnTo>
                  <a:lnTo>
                    <a:pt x="1648015" y="270637"/>
                  </a:lnTo>
                  <a:lnTo>
                    <a:pt x="1652092" y="264579"/>
                  </a:lnTo>
                  <a:lnTo>
                    <a:pt x="1653590" y="257175"/>
                  </a:lnTo>
                  <a:lnTo>
                    <a:pt x="1653590" y="175920"/>
                  </a:lnTo>
                  <a:close/>
                </a:path>
                <a:path w="2000250" h="1571625">
                  <a:moveTo>
                    <a:pt x="2000097" y="13995"/>
                  </a:moveTo>
                  <a:lnTo>
                    <a:pt x="1998091" y="9144"/>
                  </a:lnTo>
                  <a:lnTo>
                    <a:pt x="1994509" y="5575"/>
                  </a:lnTo>
                  <a:lnTo>
                    <a:pt x="1990940" y="2006"/>
                  </a:lnTo>
                  <a:lnTo>
                    <a:pt x="1986102" y="0"/>
                  </a:lnTo>
                  <a:lnTo>
                    <a:pt x="19037" y="0"/>
                  </a:lnTo>
                  <a:lnTo>
                    <a:pt x="11633" y="1485"/>
                  </a:lnTo>
                  <a:lnTo>
                    <a:pt x="5575" y="5575"/>
                  </a:lnTo>
                  <a:lnTo>
                    <a:pt x="1485" y="11633"/>
                  </a:lnTo>
                  <a:lnTo>
                    <a:pt x="0" y="19037"/>
                  </a:lnTo>
                  <a:lnTo>
                    <a:pt x="0" y="95250"/>
                  </a:lnTo>
                  <a:lnTo>
                    <a:pt x="1485" y="102654"/>
                  </a:lnTo>
                  <a:lnTo>
                    <a:pt x="5575" y="108712"/>
                  </a:lnTo>
                  <a:lnTo>
                    <a:pt x="11633" y="112801"/>
                  </a:lnTo>
                  <a:lnTo>
                    <a:pt x="19037" y="114300"/>
                  </a:lnTo>
                  <a:lnTo>
                    <a:pt x="1981047" y="114300"/>
                  </a:lnTo>
                  <a:lnTo>
                    <a:pt x="1988464" y="112801"/>
                  </a:lnTo>
                  <a:lnTo>
                    <a:pt x="1994509" y="108712"/>
                  </a:lnTo>
                  <a:lnTo>
                    <a:pt x="1998599" y="102654"/>
                  </a:lnTo>
                  <a:lnTo>
                    <a:pt x="2000097" y="95250"/>
                  </a:lnTo>
                  <a:lnTo>
                    <a:pt x="2000097" y="13995"/>
                  </a:lnTo>
                  <a:close/>
                </a:path>
              </a:pathLst>
            </a:custGeom>
            <a:solidFill>
              <a:srgbClr val="37B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000750" y="1333500"/>
              <a:ext cx="2381885" cy="1666875"/>
            </a:xfrm>
            <a:custGeom>
              <a:avLst/>
              <a:gdLst/>
              <a:ahLst/>
              <a:cxnLst/>
              <a:rect l="l" t="t" r="r" b="b"/>
              <a:pathLst>
                <a:path w="2381884" h="1666875">
                  <a:moveTo>
                    <a:pt x="0" y="0"/>
                  </a:moveTo>
                  <a:lnTo>
                    <a:pt x="0" y="1666799"/>
                  </a:lnTo>
                </a:path>
                <a:path w="2381884" h="1666875">
                  <a:moveTo>
                    <a:pt x="0" y="1666874"/>
                  </a:moveTo>
                  <a:lnTo>
                    <a:pt x="2381399" y="1666874"/>
                  </a:lnTo>
                </a:path>
              </a:pathLst>
            </a:custGeom>
            <a:ln w="9524">
              <a:solidFill>
                <a:srgbClr val="94A3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4801332" y="1316990"/>
            <a:ext cx="1116965" cy="164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741680">
              <a:lnSpc>
                <a:spcPct val="141700"/>
              </a:lnSpc>
              <a:spcBef>
                <a:spcPts val="100"/>
              </a:spcBef>
            </a:pP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Banana </a:t>
            </a:r>
            <a:r>
              <a:rPr dirty="0" sz="750" b="1">
                <a:solidFill>
                  <a:srgbClr val="37BDF7"/>
                </a:solidFill>
                <a:latin typeface="Arial"/>
                <a:cs typeface="Arial"/>
              </a:rPr>
              <a:t>Bag</a:t>
            </a:r>
            <a:r>
              <a:rPr dirty="0" sz="750" spc="-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of</a:t>
            </a:r>
            <a:r>
              <a:rPr dirty="0" sz="750" spc="-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750" b="1">
                <a:solidFill>
                  <a:srgbClr val="37BDF7"/>
                </a:solidFill>
                <a:latin typeface="Arial"/>
                <a:cs typeface="Arial"/>
              </a:rPr>
              <a:t>Organic</a:t>
            </a:r>
            <a:r>
              <a:rPr dirty="0" sz="750" spc="-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Bananas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750" spc="-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Strawberries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7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Baby</a:t>
            </a:r>
            <a:r>
              <a:rPr dirty="0" sz="7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Spinach</a:t>
            </a:r>
            <a:endParaRPr sz="750">
              <a:latin typeface="Microsoft Sans Serif"/>
              <a:cs typeface="Microsoft Sans Serif"/>
            </a:endParaRPr>
          </a:p>
          <a:p>
            <a:pPr algn="r" marL="133985" marR="5080" indent="417195">
              <a:lnSpc>
                <a:spcPct val="141700"/>
              </a:lnSpc>
            </a:pP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Large</a:t>
            </a:r>
            <a:r>
              <a:rPr dirty="0" sz="7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Lemon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750" spc="-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Avocado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7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Hass</a:t>
            </a:r>
            <a:r>
              <a:rPr dirty="0" sz="7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Avocado</a:t>
            </a:r>
            <a:endParaRPr sz="750">
              <a:latin typeface="Microsoft Sans Serif"/>
              <a:cs typeface="Microsoft Sans Serif"/>
            </a:endParaRPr>
          </a:p>
          <a:p>
            <a:pPr algn="r" marR="5080">
              <a:lnSpc>
                <a:spcPct val="100000"/>
              </a:lnSpc>
              <a:spcBef>
                <a:spcPts val="375"/>
              </a:spcBef>
            </a:pP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Strawberries</a:t>
            </a:r>
            <a:endParaRPr sz="750">
              <a:latin typeface="Microsoft Sans Serif"/>
              <a:cs typeface="Microsoft Sans Serif"/>
            </a:endParaRPr>
          </a:p>
          <a:p>
            <a:pPr algn="r" marL="233679" marR="5080" indent="614680">
              <a:lnSpc>
                <a:spcPct val="141700"/>
              </a:lnSpc>
            </a:pP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Limes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Raspberries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66219" y="3022727"/>
            <a:ext cx="692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94A3B8"/>
                </a:solidFill>
                <a:latin typeface="Microsoft Sans Serif"/>
                <a:cs typeface="Microsoft Sans Serif"/>
              </a:rPr>
              <a:t>0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306358" y="3022727"/>
            <a:ext cx="1517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94A3B8"/>
                </a:solidFill>
                <a:latin typeface="Microsoft Sans Serif"/>
                <a:cs typeface="Microsoft Sans Serif"/>
              </a:rPr>
              <a:t>20k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46713" y="3003356"/>
            <a:ext cx="26733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94A3B8"/>
                </a:solidFill>
                <a:latin typeface="Microsoft Sans Serif"/>
                <a:cs typeface="Microsoft Sans Serif"/>
              </a:rPr>
              <a:t>Count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944081" y="118171"/>
            <a:ext cx="12001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90134" y="107567"/>
            <a:ext cx="3698240" cy="4203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65">
                <a:solidFill>
                  <a:srgbClr val="37BDF7"/>
                </a:solidFill>
              </a:rPr>
              <a:t>Produce</a:t>
            </a:r>
            <a:r>
              <a:rPr dirty="0" spc="-235">
                <a:solidFill>
                  <a:srgbClr val="37BDF7"/>
                </a:solidFill>
              </a:rPr>
              <a:t> </a:t>
            </a:r>
            <a:r>
              <a:rPr dirty="0" spc="70">
                <a:solidFill>
                  <a:srgbClr val="37BDF7"/>
                </a:solidFill>
              </a:rPr>
              <a:t>Purchases</a:t>
            </a:r>
            <a:r>
              <a:rPr dirty="0" spc="-229">
                <a:solidFill>
                  <a:srgbClr val="37BDF7"/>
                </a:solidFill>
              </a:rPr>
              <a:t> </a:t>
            </a:r>
            <a:r>
              <a:rPr dirty="0" spc="-25">
                <a:solidFill>
                  <a:srgbClr val="37BDF7"/>
                </a:solidFill>
              </a:rPr>
              <a:t>by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07567"/>
            <a:ext cx="3569970" cy="81089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20"/>
              </a:spcBef>
            </a:pPr>
            <a:r>
              <a:rPr dirty="0" sz="2600" spc="85" b="1">
                <a:solidFill>
                  <a:srgbClr val="F7FAFC"/>
                </a:solidFill>
                <a:latin typeface="Arial"/>
                <a:cs typeface="Arial"/>
              </a:rPr>
              <a:t>Statistical</a:t>
            </a:r>
            <a:r>
              <a:rPr dirty="0" sz="26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F7FAFC"/>
                </a:solidFill>
                <a:latin typeface="Arial"/>
                <a:cs typeface="Arial"/>
              </a:rPr>
              <a:t>Analysis</a:t>
            </a:r>
            <a:r>
              <a:rPr dirty="0" sz="26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2600" spc="55" b="1">
                <a:solidFill>
                  <a:srgbClr val="F7FAFC"/>
                </a:solidFill>
                <a:latin typeface="Arial"/>
                <a:cs typeface="Arial"/>
              </a:rPr>
              <a:t>3: </a:t>
            </a:r>
            <a:r>
              <a:rPr dirty="0" sz="2600" spc="85" b="1">
                <a:solidFill>
                  <a:srgbClr val="37BDF7"/>
                </a:solidFill>
                <a:latin typeface="Arial"/>
                <a:cs typeface="Arial"/>
              </a:rPr>
              <a:t>Time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99774" y="1042987"/>
            <a:ext cx="3925570" cy="1057910"/>
            <a:chOff x="199774" y="1042987"/>
            <a:chExt cx="3925570" cy="1057910"/>
          </a:xfrm>
        </p:grpSpPr>
        <p:sp>
          <p:nvSpPr>
            <p:cNvPr id="6" name="object 6"/>
            <p:cNvSpPr/>
            <p:nvPr/>
          </p:nvSpPr>
          <p:spPr>
            <a:xfrm>
              <a:off x="204537" y="1047750"/>
              <a:ext cx="3916045" cy="1048385"/>
            </a:xfrm>
            <a:custGeom>
              <a:avLst/>
              <a:gdLst/>
              <a:ahLst/>
              <a:cxnLst/>
              <a:rect l="l" t="t" r="r" b="b"/>
              <a:pathLst>
                <a:path w="3916045" h="1048385">
                  <a:moveTo>
                    <a:pt x="3801373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801373" y="0"/>
                  </a:lnTo>
                  <a:lnTo>
                    <a:pt x="3845120" y="8701"/>
                  </a:lnTo>
                  <a:lnTo>
                    <a:pt x="3882207" y="33482"/>
                  </a:lnTo>
                  <a:lnTo>
                    <a:pt x="3906987" y="70568"/>
                  </a:lnTo>
                  <a:lnTo>
                    <a:pt x="3915689" y="114315"/>
                  </a:lnTo>
                  <a:lnTo>
                    <a:pt x="3915689" y="933584"/>
                  </a:lnTo>
                  <a:lnTo>
                    <a:pt x="3906705" y="978081"/>
                  </a:lnTo>
                  <a:lnTo>
                    <a:pt x="3882207" y="1014417"/>
                  </a:lnTo>
                  <a:lnTo>
                    <a:pt x="3845870" y="1038916"/>
                  </a:lnTo>
                  <a:lnTo>
                    <a:pt x="3801373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4537" y="1047750"/>
              <a:ext cx="3916045" cy="1048385"/>
            </a:xfrm>
            <a:custGeom>
              <a:avLst/>
              <a:gdLst/>
              <a:ahLst/>
              <a:cxnLst/>
              <a:rect l="l" t="t" r="r" b="b"/>
              <a:pathLst>
                <a:path w="3916045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801373" y="0"/>
                  </a:lnTo>
                  <a:lnTo>
                    <a:pt x="3845120" y="8701"/>
                  </a:lnTo>
                  <a:lnTo>
                    <a:pt x="3882207" y="33482"/>
                  </a:lnTo>
                  <a:lnTo>
                    <a:pt x="3906987" y="70568"/>
                  </a:lnTo>
                  <a:lnTo>
                    <a:pt x="3915689" y="114315"/>
                  </a:lnTo>
                  <a:lnTo>
                    <a:pt x="3915689" y="933584"/>
                  </a:lnTo>
                  <a:lnTo>
                    <a:pt x="3906705" y="978081"/>
                  </a:lnTo>
                  <a:lnTo>
                    <a:pt x="3882207" y="1014417"/>
                  </a:lnTo>
                  <a:lnTo>
                    <a:pt x="3845870" y="1038916"/>
                  </a:lnTo>
                  <a:lnTo>
                    <a:pt x="3801373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750" y="1201023"/>
              <a:ext cx="101600" cy="1333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525" y="1476588"/>
              <a:ext cx="98425" cy="984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525" y="1619463"/>
              <a:ext cx="98425" cy="984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525" y="1762338"/>
              <a:ext cx="98425" cy="98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525" y="1905213"/>
              <a:ext cx="98425" cy="984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64316" y="1211501"/>
            <a:ext cx="2424430" cy="8356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14"/>
              </a:spcBef>
            </a:pP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ANALYSIS</a:t>
            </a:r>
            <a:r>
              <a:rPr dirty="0" sz="1000" spc="-8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FOCUS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7200"/>
              </a:lnSpc>
              <a:spcBef>
                <a:spcPts val="655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Measured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purchase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counts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by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day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week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Measured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purchase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counts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by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hour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day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Used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order-level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timing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fields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from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orders.csv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Examined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when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buying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activity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is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highest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9622" y="3443587"/>
            <a:ext cx="3878579" cy="1057910"/>
            <a:chOff x="199622" y="3443587"/>
            <a:chExt cx="3878579" cy="1057910"/>
          </a:xfrm>
        </p:grpSpPr>
        <p:sp>
          <p:nvSpPr>
            <p:cNvPr id="15" name="object 15"/>
            <p:cNvSpPr/>
            <p:nvPr/>
          </p:nvSpPr>
          <p:spPr>
            <a:xfrm>
              <a:off x="204385" y="3448349"/>
              <a:ext cx="3869054" cy="1048385"/>
            </a:xfrm>
            <a:custGeom>
              <a:avLst/>
              <a:gdLst/>
              <a:ahLst/>
              <a:cxnLst/>
              <a:rect l="l" t="t" r="r" b="b"/>
              <a:pathLst>
                <a:path w="3869054" h="1048385">
                  <a:moveTo>
                    <a:pt x="3754407" y="1047899"/>
                  </a:move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3754407" y="0"/>
                  </a:lnTo>
                  <a:lnTo>
                    <a:pt x="3798149" y="8701"/>
                  </a:lnTo>
                  <a:lnTo>
                    <a:pt x="3835232" y="33479"/>
                  </a:lnTo>
                  <a:lnTo>
                    <a:pt x="3860011" y="70562"/>
                  </a:lnTo>
                  <a:lnTo>
                    <a:pt x="3868712" y="114304"/>
                  </a:lnTo>
                  <a:lnTo>
                    <a:pt x="3868712" y="933594"/>
                  </a:lnTo>
                  <a:lnTo>
                    <a:pt x="3859729" y="978087"/>
                  </a:lnTo>
                  <a:lnTo>
                    <a:pt x="3835232" y="1014420"/>
                  </a:lnTo>
                  <a:lnTo>
                    <a:pt x="3798899" y="1038917"/>
                  </a:lnTo>
                  <a:lnTo>
                    <a:pt x="3754407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4385" y="3448349"/>
              <a:ext cx="3869054" cy="1048385"/>
            </a:xfrm>
            <a:custGeom>
              <a:avLst/>
              <a:gdLst/>
              <a:ahLst/>
              <a:cxnLst/>
              <a:rect l="l" t="t" r="r" b="b"/>
              <a:pathLst>
                <a:path w="3869054" h="1048385">
                  <a:moveTo>
                    <a:pt x="0" y="114304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3754407" y="0"/>
                  </a:lnTo>
                  <a:lnTo>
                    <a:pt x="3798149" y="8701"/>
                  </a:lnTo>
                  <a:lnTo>
                    <a:pt x="3835232" y="33479"/>
                  </a:lnTo>
                  <a:lnTo>
                    <a:pt x="3860011" y="70562"/>
                  </a:lnTo>
                  <a:lnTo>
                    <a:pt x="3868712" y="114304"/>
                  </a:lnTo>
                  <a:lnTo>
                    <a:pt x="3868712" y="933594"/>
                  </a:lnTo>
                  <a:lnTo>
                    <a:pt x="3859729" y="978087"/>
                  </a:lnTo>
                  <a:lnTo>
                    <a:pt x="3835232" y="1014420"/>
                  </a:lnTo>
                  <a:lnTo>
                    <a:pt x="3798899" y="1038917"/>
                  </a:lnTo>
                  <a:lnTo>
                    <a:pt x="3754407" y="1047899"/>
                  </a:ln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775" y="3631684"/>
              <a:ext cx="107950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725" y="3860868"/>
              <a:ext cx="82550" cy="698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725" y="3984693"/>
              <a:ext cx="76200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900" y="4105343"/>
              <a:ext cx="76200" cy="825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67143" y="3633589"/>
            <a:ext cx="3110230" cy="588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37BDF7"/>
                </a:solidFill>
                <a:latin typeface="Arial"/>
                <a:cs typeface="Arial"/>
              </a:rPr>
              <a:t>INTERPRETATION</a:t>
            </a:r>
            <a:endParaRPr sz="900">
              <a:latin typeface="Arial"/>
              <a:cs typeface="Arial"/>
            </a:endParaRPr>
          </a:p>
          <a:p>
            <a:pPr marL="12700" marR="466090">
              <a:lnSpc>
                <a:spcPct val="116100"/>
              </a:lnSpc>
              <a:spcBef>
                <a:spcPts val="390"/>
              </a:spcBef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buying</a:t>
            </a:r>
            <a:r>
              <a:rPr dirty="0" sz="7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followed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7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clear</a:t>
            </a:r>
            <a:r>
              <a:rPr dirty="0" sz="7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daytime</a:t>
            </a:r>
            <a:r>
              <a:rPr dirty="0" sz="7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shopping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pattern</a:t>
            </a:r>
            <a:r>
              <a:rPr dirty="0" sz="70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Customers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were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most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active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during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normal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grocery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shopping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hours</a:t>
            </a:r>
            <a:endParaRPr sz="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Higher-activity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days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showed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stronger</a:t>
            </a:r>
            <a:r>
              <a:rPr dirty="0" sz="7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demand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than</a:t>
            </a:r>
            <a:r>
              <a:rPr dirty="0" sz="7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lower-activity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 days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23" name="object 23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4024" y="4748797"/>
              <a:ext cx="88900" cy="1270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252090" y="4767847"/>
            <a:ext cx="68897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3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purchases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were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during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daytime,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especially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around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14:00–15:00,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showing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demand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is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closely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tied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to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normal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daily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shopping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behavior.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9799" y="2157457"/>
            <a:ext cx="3884929" cy="1224280"/>
            <a:chOff x="199799" y="2157457"/>
            <a:chExt cx="3884929" cy="1224280"/>
          </a:xfrm>
        </p:grpSpPr>
        <p:sp>
          <p:nvSpPr>
            <p:cNvPr id="27" name="object 27"/>
            <p:cNvSpPr/>
            <p:nvPr/>
          </p:nvSpPr>
          <p:spPr>
            <a:xfrm>
              <a:off x="204562" y="2162219"/>
              <a:ext cx="3875404" cy="1214755"/>
            </a:xfrm>
            <a:custGeom>
              <a:avLst/>
              <a:gdLst/>
              <a:ahLst/>
              <a:cxnLst/>
              <a:rect l="l" t="t" r="r" b="b"/>
              <a:pathLst>
                <a:path w="3875404" h="1214754">
                  <a:moveTo>
                    <a:pt x="3811528" y="1214415"/>
                  </a:moveTo>
                  <a:lnTo>
                    <a:pt x="63356" y="1214415"/>
                  </a:lnTo>
                  <a:lnTo>
                    <a:pt x="38695" y="1209437"/>
                  </a:lnTo>
                  <a:lnTo>
                    <a:pt x="18556" y="1195859"/>
                  </a:lnTo>
                  <a:lnTo>
                    <a:pt x="4978" y="1175720"/>
                  </a:lnTo>
                  <a:lnTo>
                    <a:pt x="0" y="1151059"/>
                  </a:lnTo>
                  <a:lnTo>
                    <a:pt x="0" y="63355"/>
                  </a:lnTo>
                  <a:lnTo>
                    <a:pt x="4978" y="38694"/>
                  </a:lnTo>
                  <a:lnTo>
                    <a:pt x="18556" y="18556"/>
                  </a:lnTo>
                  <a:lnTo>
                    <a:pt x="38695" y="4978"/>
                  </a:lnTo>
                  <a:lnTo>
                    <a:pt x="63356" y="0"/>
                  </a:lnTo>
                  <a:lnTo>
                    <a:pt x="3811528" y="0"/>
                  </a:lnTo>
                  <a:lnTo>
                    <a:pt x="3856327" y="18556"/>
                  </a:lnTo>
                  <a:lnTo>
                    <a:pt x="3874884" y="63355"/>
                  </a:lnTo>
                  <a:lnTo>
                    <a:pt x="3874884" y="1151059"/>
                  </a:lnTo>
                  <a:lnTo>
                    <a:pt x="3869905" y="1175720"/>
                  </a:lnTo>
                  <a:lnTo>
                    <a:pt x="3856327" y="1195859"/>
                  </a:lnTo>
                  <a:lnTo>
                    <a:pt x="3836189" y="1209437"/>
                  </a:lnTo>
                  <a:lnTo>
                    <a:pt x="3811528" y="1214415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4562" y="2162219"/>
              <a:ext cx="3875404" cy="1214755"/>
            </a:xfrm>
            <a:custGeom>
              <a:avLst/>
              <a:gdLst/>
              <a:ahLst/>
              <a:cxnLst/>
              <a:rect l="l" t="t" r="r" b="b"/>
              <a:pathLst>
                <a:path w="3875404" h="1214754">
                  <a:moveTo>
                    <a:pt x="0" y="63355"/>
                  </a:moveTo>
                  <a:lnTo>
                    <a:pt x="4978" y="38694"/>
                  </a:lnTo>
                  <a:lnTo>
                    <a:pt x="18556" y="18556"/>
                  </a:lnTo>
                  <a:lnTo>
                    <a:pt x="38695" y="4978"/>
                  </a:lnTo>
                  <a:lnTo>
                    <a:pt x="63356" y="0"/>
                  </a:lnTo>
                  <a:lnTo>
                    <a:pt x="3811528" y="0"/>
                  </a:lnTo>
                  <a:lnTo>
                    <a:pt x="3856327" y="18556"/>
                  </a:lnTo>
                  <a:lnTo>
                    <a:pt x="3874884" y="63355"/>
                  </a:lnTo>
                  <a:lnTo>
                    <a:pt x="3874884" y="1151059"/>
                  </a:lnTo>
                  <a:lnTo>
                    <a:pt x="3869905" y="1175720"/>
                  </a:lnTo>
                  <a:lnTo>
                    <a:pt x="3856327" y="1195859"/>
                  </a:lnTo>
                  <a:lnTo>
                    <a:pt x="3836189" y="1209437"/>
                  </a:lnTo>
                  <a:lnTo>
                    <a:pt x="3811528" y="1214415"/>
                  </a:lnTo>
                  <a:lnTo>
                    <a:pt x="63356" y="1214415"/>
                  </a:lnTo>
                  <a:lnTo>
                    <a:pt x="38695" y="1209437"/>
                  </a:lnTo>
                  <a:lnTo>
                    <a:pt x="18556" y="1195859"/>
                  </a:lnTo>
                  <a:lnTo>
                    <a:pt x="4978" y="1175720"/>
                  </a:lnTo>
                  <a:lnTo>
                    <a:pt x="0" y="1151059"/>
                  </a:lnTo>
                  <a:lnTo>
                    <a:pt x="0" y="63355"/>
                  </a:lnTo>
                  <a:close/>
                </a:path>
              </a:pathLst>
            </a:custGeom>
            <a:ln w="92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7048" y="2230007"/>
              <a:ext cx="130175" cy="9842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17522" y="2235666"/>
            <a:ext cx="97218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800" spc="-7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025" y="2517285"/>
            <a:ext cx="95250" cy="784225"/>
            <a:chOff x="237025" y="2517285"/>
            <a:chExt cx="95250" cy="78422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0200" y="2517285"/>
              <a:ext cx="88900" cy="50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0200" y="2660160"/>
              <a:ext cx="88900" cy="50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0200" y="2803035"/>
              <a:ext cx="88900" cy="50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9725" y="2945910"/>
              <a:ext cx="76200" cy="50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0200" y="3069735"/>
              <a:ext cx="88900" cy="88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7025" y="3206260"/>
              <a:ext cx="95250" cy="9525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386686" y="2458230"/>
            <a:ext cx="3623310" cy="882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46810">
              <a:lnSpc>
                <a:spcPct val="117200"/>
              </a:lnSpc>
              <a:spcBef>
                <a:spcPts val="100"/>
              </a:spcBef>
            </a:pP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Highest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purchase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count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occurred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on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day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0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 Day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1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and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day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6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also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showed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strong</a:t>
            </a:r>
            <a:r>
              <a:rPr dirty="0" sz="8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activity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17200"/>
              </a:lnSpc>
            </a:pP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purchases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were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very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low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during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late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night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and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early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morning</a:t>
            </a:r>
            <a:r>
              <a:rPr dirty="0" sz="8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hours Purchase</a:t>
            </a:r>
            <a:r>
              <a:rPr dirty="0" sz="8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activity</a:t>
            </a:r>
            <a:r>
              <a:rPr dirty="0" sz="8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increased</a:t>
            </a:r>
            <a:r>
              <a:rPr dirty="0" sz="8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quickly</a:t>
            </a:r>
            <a:r>
              <a:rPr dirty="0" sz="8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after</a:t>
            </a:r>
            <a:r>
              <a:rPr dirty="0" sz="8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F7FAFC"/>
                </a:solidFill>
                <a:latin typeface="Arial"/>
                <a:cs typeface="Arial"/>
              </a:rPr>
              <a:t>7:00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The</a:t>
            </a:r>
            <a:r>
              <a:rPr dirty="0" sz="8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highest</a:t>
            </a:r>
            <a:r>
              <a:rPr dirty="0" sz="800" spc="-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hourly</a:t>
            </a:r>
            <a:r>
              <a:rPr dirty="0" sz="800" spc="-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activity</a:t>
            </a:r>
            <a:r>
              <a:rPr dirty="0" sz="800" spc="-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occurred</a:t>
            </a:r>
            <a:r>
              <a:rPr dirty="0" sz="800" spc="-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around</a:t>
            </a:r>
            <a:r>
              <a:rPr dirty="0" sz="800" spc="-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14:00–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15:00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demand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stayed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high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from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late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morning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through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7FAFC"/>
                </a:solidFill>
                <a:latin typeface="Arial"/>
                <a:cs typeface="Arial"/>
              </a:rPr>
              <a:t>the</a:t>
            </a:r>
            <a:r>
              <a:rPr dirty="0" sz="8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7FAFC"/>
                </a:solidFill>
                <a:latin typeface="Arial"/>
                <a:cs typeface="Arial"/>
              </a:rPr>
              <a:t>afternoon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47735" y="1015968"/>
            <a:ext cx="4260850" cy="1282065"/>
            <a:chOff x="4647735" y="1015968"/>
            <a:chExt cx="4260850" cy="1282065"/>
          </a:xfrm>
        </p:grpSpPr>
        <p:sp>
          <p:nvSpPr>
            <p:cNvPr id="40" name="object 40"/>
            <p:cNvSpPr/>
            <p:nvPr/>
          </p:nvSpPr>
          <p:spPr>
            <a:xfrm>
              <a:off x="4649957" y="1018190"/>
              <a:ext cx="4256405" cy="1277620"/>
            </a:xfrm>
            <a:custGeom>
              <a:avLst/>
              <a:gdLst/>
              <a:ahLst/>
              <a:cxnLst/>
              <a:rect l="l" t="t" r="r" b="b"/>
              <a:pathLst>
                <a:path w="4256405" h="1277620">
                  <a:moveTo>
                    <a:pt x="4154085" y="1277007"/>
                  </a:moveTo>
                  <a:lnTo>
                    <a:pt x="102160" y="1277007"/>
                  </a:lnTo>
                  <a:lnTo>
                    <a:pt x="62394" y="1268979"/>
                  </a:lnTo>
                  <a:lnTo>
                    <a:pt x="29922" y="1247085"/>
                  </a:lnTo>
                  <a:lnTo>
                    <a:pt x="8028" y="1214612"/>
                  </a:lnTo>
                  <a:lnTo>
                    <a:pt x="0" y="1174847"/>
                  </a:lnTo>
                  <a:lnTo>
                    <a:pt x="0" y="102160"/>
                  </a:lnTo>
                  <a:lnTo>
                    <a:pt x="8028" y="62395"/>
                  </a:lnTo>
                  <a:lnTo>
                    <a:pt x="29922" y="29922"/>
                  </a:lnTo>
                  <a:lnTo>
                    <a:pt x="62394" y="8028"/>
                  </a:lnTo>
                  <a:lnTo>
                    <a:pt x="102160" y="0"/>
                  </a:lnTo>
                  <a:lnTo>
                    <a:pt x="4154085" y="0"/>
                  </a:lnTo>
                  <a:lnTo>
                    <a:pt x="4193180" y="7776"/>
                  </a:lnTo>
                  <a:lnTo>
                    <a:pt x="4226324" y="29922"/>
                  </a:lnTo>
                  <a:lnTo>
                    <a:pt x="4248469" y="63065"/>
                  </a:lnTo>
                  <a:lnTo>
                    <a:pt x="4256246" y="102160"/>
                  </a:lnTo>
                  <a:lnTo>
                    <a:pt x="4256246" y="1174847"/>
                  </a:lnTo>
                  <a:lnTo>
                    <a:pt x="4248217" y="1214612"/>
                  </a:lnTo>
                  <a:lnTo>
                    <a:pt x="4226323" y="1247085"/>
                  </a:lnTo>
                  <a:lnTo>
                    <a:pt x="4193850" y="1268979"/>
                  </a:lnTo>
                  <a:lnTo>
                    <a:pt x="4154085" y="1277007"/>
                  </a:lnTo>
                  <a:close/>
                </a:path>
              </a:pathLst>
            </a:custGeom>
            <a:solidFill>
              <a:srgbClr val="1E293B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649957" y="1018190"/>
              <a:ext cx="4256405" cy="1277620"/>
            </a:xfrm>
            <a:custGeom>
              <a:avLst/>
              <a:gdLst/>
              <a:ahLst/>
              <a:cxnLst/>
              <a:rect l="l" t="t" r="r" b="b"/>
              <a:pathLst>
                <a:path w="4256405" h="1277620">
                  <a:moveTo>
                    <a:pt x="0" y="102160"/>
                  </a:moveTo>
                  <a:lnTo>
                    <a:pt x="8028" y="62395"/>
                  </a:lnTo>
                  <a:lnTo>
                    <a:pt x="29922" y="29922"/>
                  </a:lnTo>
                  <a:lnTo>
                    <a:pt x="62394" y="8028"/>
                  </a:lnTo>
                  <a:lnTo>
                    <a:pt x="102160" y="0"/>
                  </a:lnTo>
                  <a:lnTo>
                    <a:pt x="4154085" y="0"/>
                  </a:lnTo>
                  <a:lnTo>
                    <a:pt x="4193180" y="7776"/>
                  </a:lnTo>
                  <a:lnTo>
                    <a:pt x="4226324" y="29922"/>
                  </a:lnTo>
                  <a:lnTo>
                    <a:pt x="4248469" y="63065"/>
                  </a:lnTo>
                  <a:lnTo>
                    <a:pt x="4256246" y="102160"/>
                  </a:lnTo>
                  <a:lnTo>
                    <a:pt x="4256246" y="1174847"/>
                  </a:lnTo>
                  <a:lnTo>
                    <a:pt x="4248217" y="1214612"/>
                  </a:lnTo>
                  <a:lnTo>
                    <a:pt x="4226323" y="1247085"/>
                  </a:lnTo>
                  <a:lnTo>
                    <a:pt x="4193850" y="1268979"/>
                  </a:lnTo>
                  <a:lnTo>
                    <a:pt x="4154085" y="1277007"/>
                  </a:lnTo>
                  <a:lnTo>
                    <a:pt x="102160" y="1277007"/>
                  </a:lnTo>
                  <a:lnTo>
                    <a:pt x="62394" y="1268979"/>
                  </a:lnTo>
                  <a:lnTo>
                    <a:pt x="29922" y="1247085"/>
                  </a:lnTo>
                  <a:lnTo>
                    <a:pt x="8028" y="1214612"/>
                  </a:lnTo>
                  <a:lnTo>
                    <a:pt x="0" y="1174847"/>
                  </a:lnTo>
                  <a:lnTo>
                    <a:pt x="0" y="102160"/>
                  </a:lnTo>
                  <a:close/>
                </a:path>
              </a:pathLst>
            </a:custGeom>
            <a:ln w="427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817196" y="1104525"/>
            <a:ext cx="1924050" cy="161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1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9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F7FAFC"/>
                </a:solidFill>
                <a:latin typeface="Arial"/>
                <a:cs typeface="Arial"/>
              </a:rPr>
              <a:t>Purchases</a:t>
            </a:r>
            <a:r>
              <a:rPr dirty="0" sz="9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7FAFC"/>
                </a:solidFill>
                <a:latin typeface="Arial"/>
                <a:cs typeface="Arial"/>
              </a:rPr>
              <a:t>by</a:t>
            </a:r>
            <a:r>
              <a:rPr dirty="0" sz="9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F7FAFC"/>
                </a:solidFill>
                <a:latin typeface="Arial"/>
                <a:cs typeface="Arial"/>
              </a:rPr>
              <a:t>Day</a:t>
            </a:r>
            <a:r>
              <a:rPr dirty="0" sz="9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7FAFC"/>
                </a:solidFill>
                <a:latin typeface="Arial"/>
                <a:cs typeface="Arial"/>
              </a:rPr>
              <a:t>of</a:t>
            </a:r>
            <a:r>
              <a:rPr dirty="0" sz="9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7FAFC"/>
                </a:solidFill>
                <a:latin typeface="Arial"/>
                <a:cs typeface="Arial"/>
              </a:rPr>
              <a:t>Week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90457" y="1401252"/>
            <a:ext cx="3235325" cy="600710"/>
            <a:chOff x="4990457" y="1401252"/>
            <a:chExt cx="3235325" cy="600710"/>
          </a:xfrm>
        </p:grpSpPr>
        <p:sp>
          <p:nvSpPr>
            <p:cNvPr id="44" name="object 44"/>
            <p:cNvSpPr/>
            <p:nvPr/>
          </p:nvSpPr>
          <p:spPr>
            <a:xfrm>
              <a:off x="4990457" y="1401252"/>
              <a:ext cx="340995" cy="596265"/>
            </a:xfrm>
            <a:custGeom>
              <a:avLst/>
              <a:gdLst/>
              <a:ahLst/>
              <a:cxnLst/>
              <a:rect l="l" t="t" r="r" b="b"/>
              <a:pathLst>
                <a:path w="340995" h="596264">
                  <a:moveTo>
                    <a:pt x="332877" y="596008"/>
                  </a:moveTo>
                  <a:lnTo>
                    <a:pt x="7622" y="596008"/>
                  </a:lnTo>
                  <a:lnTo>
                    <a:pt x="0" y="588386"/>
                  </a:lnTo>
                  <a:lnTo>
                    <a:pt x="0" y="17024"/>
                  </a:lnTo>
                  <a:lnTo>
                    <a:pt x="0" y="7622"/>
                  </a:lnTo>
                  <a:lnTo>
                    <a:pt x="7622" y="0"/>
                  </a:lnTo>
                  <a:lnTo>
                    <a:pt x="327989" y="0"/>
                  </a:lnTo>
                  <a:lnTo>
                    <a:pt x="332320" y="1793"/>
                  </a:lnTo>
                  <a:lnTo>
                    <a:pt x="338705" y="8179"/>
                  </a:lnTo>
                  <a:lnTo>
                    <a:pt x="340499" y="12509"/>
                  </a:lnTo>
                  <a:lnTo>
                    <a:pt x="340499" y="588386"/>
                  </a:lnTo>
                  <a:lnTo>
                    <a:pt x="332877" y="596008"/>
                  </a:lnTo>
                  <a:close/>
                </a:path>
              </a:pathLst>
            </a:custGeom>
            <a:solidFill>
              <a:srgbClr val="37B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458644" y="1656627"/>
              <a:ext cx="340995" cy="340995"/>
            </a:xfrm>
            <a:custGeom>
              <a:avLst/>
              <a:gdLst/>
              <a:ahLst/>
              <a:cxnLst/>
              <a:rect l="l" t="t" r="r" b="b"/>
              <a:pathLst>
                <a:path w="340995" h="340994">
                  <a:moveTo>
                    <a:pt x="332877" y="340499"/>
                  </a:moveTo>
                  <a:lnTo>
                    <a:pt x="7622" y="340499"/>
                  </a:lnTo>
                  <a:lnTo>
                    <a:pt x="0" y="332877"/>
                  </a:lnTo>
                  <a:lnTo>
                    <a:pt x="0" y="17024"/>
                  </a:lnTo>
                  <a:lnTo>
                    <a:pt x="0" y="7622"/>
                  </a:lnTo>
                  <a:lnTo>
                    <a:pt x="7622" y="0"/>
                  </a:lnTo>
                  <a:lnTo>
                    <a:pt x="327989" y="0"/>
                  </a:lnTo>
                  <a:lnTo>
                    <a:pt x="332320" y="1793"/>
                  </a:lnTo>
                  <a:lnTo>
                    <a:pt x="338705" y="8179"/>
                  </a:lnTo>
                  <a:lnTo>
                    <a:pt x="340499" y="12509"/>
                  </a:lnTo>
                  <a:lnTo>
                    <a:pt x="340499" y="332877"/>
                  </a:lnTo>
                  <a:lnTo>
                    <a:pt x="332877" y="340499"/>
                  </a:lnTo>
                  <a:close/>
                </a:path>
              </a:pathLst>
            </a:custGeom>
            <a:solidFill>
              <a:srgbClr val="37BDF7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926823" y="1699196"/>
              <a:ext cx="808990" cy="298450"/>
            </a:xfrm>
            <a:custGeom>
              <a:avLst/>
              <a:gdLst/>
              <a:ahLst/>
              <a:cxnLst/>
              <a:rect l="l" t="t" r="r" b="b"/>
              <a:pathLst>
                <a:path w="808990" h="298450">
                  <a:moveTo>
                    <a:pt x="340499" y="12509"/>
                  </a:moveTo>
                  <a:lnTo>
                    <a:pt x="338709" y="8178"/>
                  </a:lnTo>
                  <a:lnTo>
                    <a:pt x="332320" y="1790"/>
                  </a:lnTo>
                  <a:lnTo>
                    <a:pt x="327990" y="0"/>
                  </a:lnTo>
                  <a:lnTo>
                    <a:pt x="7620" y="0"/>
                  </a:lnTo>
                  <a:lnTo>
                    <a:pt x="0" y="7620"/>
                  </a:lnTo>
                  <a:lnTo>
                    <a:pt x="0" y="17018"/>
                  </a:lnTo>
                  <a:lnTo>
                    <a:pt x="0" y="290245"/>
                  </a:lnTo>
                  <a:lnTo>
                    <a:pt x="7620" y="297865"/>
                  </a:lnTo>
                  <a:lnTo>
                    <a:pt x="332879" y="297865"/>
                  </a:lnTo>
                  <a:lnTo>
                    <a:pt x="340499" y="290245"/>
                  </a:lnTo>
                  <a:lnTo>
                    <a:pt x="340499" y="12509"/>
                  </a:lnTo>
                  <a:close/>
                </a:path>
                <a:path w="808990" h="298450">
                  <a:moveTo>
                    <a:pt x="808685" y="12509"/>
                  </a:moveTo>
                  <a:lnTo>
                    <a:pt x="806894" y="8178"/>
                  </a:lnTo>
                  <a:lnTo>
                    <a:pt x="800506" y="1790"/>
                  </a:lnTo>
                  <a:lnTo>
                    <a:pt x="796188" y="0"/>
                  </a:lnTo>
                  <a:lnTo>
                    <a:pt x="475805" y="0"/>
                  </a:lnTo>
                  <a:lnTo>
                    <a:pt x="468185" y="7620"/>
                  </a:lnTo>
                  <a:lnTo>
                    <a:pt x="468185" y="17018"/>
                  </a:lnTo>
                  <a:lnTo>
                    <a:pt x="468185" y="290245"/>
                  </a:lnTo>
                  <a:lnTo>
                    <a:pt x="475805" y="297865"/>
                  </a:lnTo>
                  <a:lnTo>
                    <a:pt x="801065" y="297865"/>
                  </a:lnTo>
                  <a:lnTo>
                    <a:pt x="808685" y="290245"/>
                  </a:lnTo>
                  <a:lnTo>
                    <a:pt x="808685" y="12509"/>
                  </a:lnTo>
                  <a:close/>
                </a:path>
              </a:pathLst>
            </a:custGeom>
            <a:solidFill>
              <a:srgbClr val="37BDF7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863205" y="1656627"/>
              <a:ext cx="340995" cy="340995"/>
            </a:xfrm>
            <a:custGeom>
              <a:avLst/>
              <a:gdLst/>
              <a:ahLst/>
              <a:cxnLst/>
              <a:rect l="l" t="t" r="r" b="b"/>
              <a:pathLst>
                <a:path w="340995" h="340994">
                  <a:moveTo>
                    <a:pt x="332876" y="340499"/>
                  </a:moveTo>
                  <a:lnTo>
                    <a:pt x="7622" y="340499"/>
                  </a:lnTo>
                  <a:lnTo>
                    <a:pt x="0" y="332877"/>
                  </a:lnTo>
                  <a:lnTo>
                    <a:pt x="0" y="17024"/>
                  </a:lnTo>
                  <a:lnTo>
                    <a:pt x="0" y="7622"/>
                  </a:lnTo>
                  <a:lnTo>
                    <a:pt x="7622" y="0"/>
                  </a:lnTo>
                  <a:lnTo>
                    <a:pt x="327990" y="0"/>
                  </a:lnTo>
                  <a:lnTo>
                    <a:pt x="332320" y="1793"/>
                  </a:lnTo>
                  <a:lnTo>
                    <a:pt x="338706" y="8179"/>
                  </a:lnTo>
                  <a:lnTo>
                    <a:pt x="340499" y="12509"/>
                  </a:lnTo>
                  <a:lnTo>
                    <a:pt x="340499" y="332877"/>
                  </a:lnTo>
                  <a:lnTo>
                    <a:pt x="332876" y="340499"/>
                  </a:lnTo>
                  <a:close/>
                </a:path>
              </a:pathLst>
            </a:custGeom>
            <a:solidFill>
              <a:srgbClr val="37BDF7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331392" y="1443824"/>
              <a:ext cx="808990" cy="553720"/>
            </a:xfrm>
            <a:custGeom>
              <a:avLst/>
              <a:gdLst/>
              <a:ahLst/>
              <a:cxnLst/>
              <a:rect l="l" t="t" r="r" b="b"/>
              <a:pathLst>
                <a:path w="808990" h="553719">
                  <a:moveTo>
                    <a:pt x="340499" y="140195"/>
                  </a:moveTo>
                  <a:lnTo>
                    <a:pt x="338696" y="135864"/>
                  </a:lnTo>
                  <a:lnTo>
                    <a:pt x="332308" y="129476"/>
                  </a:lnTo>
                  <a:lnTo>
                    <a:pt x="327977" y="127685"/>
                  </a:lnTo>
                  <a:lnTo>
                    <a:pt x="7620" y="127685"/>
                  </a:lnTo>
                  <a:lnTo>
                    <a:pt x="0" y="135305"/>
                  </a:lnTo>
                  <a:lnTo>
                    <a:pt x="0" y="144703"/>
                  </a:lnTo>
                  <a:lnTo>
                    <a:pt x="0" y="545820"/>
                  </a:lnTo>
                  <a:lnTo>
                    <a:pt x="7620" y="553440"/>
                  </a:lnTo>
                  <a:lnTo>
                    <a:pt x="332867" y="553440"/>
                  </a:lnTo>
                  <a:lnTo>
                    <a:pt x="340499" y="545820"/>
                  </a:lnTo>
                  <a:lnTo>
                    <a:pt x="340499" y="140195"/>
                  </a:lnTo>
                  <a:close/>
                </a:path>
                <a:path w="808990" h="553719">
                  <a:moveTo>
                    <a:pt x="808685" y="12509"/>
                  </a:moveTo>
                  <a:lnTo>
                    <a:pt x="806881" y="8178"/>
                  </a:lnTo>
                  <a:lnTo>
                    <a:pt x="800506" y="1790"/>
                  </a:lnTo>
                  <a:lnTo>
                    <a:pt x="796175" y="0"/>
                  </a:lnTo>
                  <a:lnTo>
                    <a:pt x="475805" y="0"/>
                  </a:lnTo>
                  <a:lnTo>
                    <a:pt x="468185" y="7620"/>
                  </a:lnTo>
                  <a:lnTo>
                    <a:pt x="468185" y="17018"/>
                  </a:lnTo>
                  <a:lnTo>
                    <a:pt x="468185" y="545757"/>
                  </a:lnTo>
                  <a:lnTo>
                    <a:pt x="475805" y="553377"/>
                  </a:lnTo>
                  <a:lnTo>
                    <a:pt x="801052" y="553377"/>
                  </a:lnTo>
                  <a:lnTo>
                    <a:pt x="808685" y="545757"/>
                  </a:lnTo>
                  <a:lnTo>
                    <a:pt x="808685" y="12509"/>
                  </a:lnTo>
                  <a:close/>
                </a:path>
              </a:pathLst>
            </a:custGeom>
            <a:solidFill>
              <a:srgbClr val="37B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990457" y="1997127"/>
              <a:ext cx="3235325" cy="0"/>
            </a:xfrm>
            <a:custGeom>
              <a:avLst/>
              <a:gdLst/>
              <a:ahLst/>
              <a:cxnLst/>
              <a:rect l="l" t="t" r="r" b="b"/>
              <a:pathLst>
                <a:path w="3235325" h="0">
                  <a:moveTo>
                    <a:pt x="0" y="0"/>
                  </a:moveTo>
                  <a:lnTo>
                    <a:pt x="3234747" y="0"/>
                  </a:lnTo>
                </a:path>
              </a:pathLst>
            </a:custGeom>
            <a:ln w="8499">
              <a:solidFill>
                <a:srgbClr val="94A3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114938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583126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51313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19500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87687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55874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924062" y="2036955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77065" y="1313394"/>
            <a:ext cx="28384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0">
                <a:solidFill>
                  <a:srgbClr val="94A3B8"/>
                </a:solidFill>
                <a:latin typeface="Arial MT"/>
                <a:cs typeface="Arial MT"/>
              </a:rPr>
              <a:t>100k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43202" y="1611331"/>
            <a:ext cx="217804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94A3B8"/>
                </a:solidFill>
                <a:latin typeface="Arial MT"/>
                <a:cs typeface="Arial MT"/>
              </a:rPr>
              <a:t>50k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869058" y="1909268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647607" y="1595779"/>
            <a:ext cx="101600" cy="207010"/>
          </a:xfrm>
          <a:prstGeom prst="rect">
            <a:avLst/>
          </a:prstGeom>
        </p:spPr>
        <p:txBody>
          <a:bodyPr wrap="square" lIns="0" tIns="1079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500" spc="-10">
                <a:solidFill>
                  <a:srgbClr val="94A3B8"/>
                </a:solidFill>
                <a:latin typeface="Arial MT"/>
                <a:cs typeface="Arial MT"/>
              </a:rPr>
              <a:t>Count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647735" y="2377967"/>
            <a:ext cx="4260850" cy="1750060"/>
            <a:chOff x="4647735" y="2377967"/>
            <a:chExt cx="4260850" cy="1750060"/>
          </a:xfrm>
        </p:grpSpPr>
        <p:sp>
          <p:nvSpPr>
            <p:cNvPr id="62" name="object 62"/>
            <p:cNvSpPr/>
            <p:nvPr/>
          </p:nvSpPr>
          <p:spPr>
            <a:xfrm>
              <a:off x="4649957" y="2380189"/>
              <a:ext cx="4256405" cy="1745614"/>
            </a:xfrm>
            <a:custGeom>
              <a:avLst/>
              <a:gdLst/>
              <a:ahLst/>
              <a:cxnLst/>
              <a:rect l="l" t="t" r="r" b="b"/>
              <a:pathLst>
                <a:path w="4256405" h="1745614">
                  <a:moveTo>
                    <a:pt x="4154103" y="1745127"/>
                  </a:moveTo>
                  <a:lnTo>
                    <a:pt x="102142" y="1745127"/>
                  </a:lnTo>
                  <a:lnTo>
                    <a:pt x="62383" y="1737100"/>
                  </a:lnTo>
                  <a:lnTo>
                    <a:pt x="29916" y="1715211"/>
                  </a:lnTo>
                  <a:lnTo>
                    <a:pt x="8026" y="1682743"/>
                  </a:lnTo>
                  <a:lnTo>
                    <a:pt x="0" y="1642985"/>
                  </a:lnTo>
                  <a:lnTo>
                    <a:pt x="0" y="102142"/>
                  </a:lnTo>
                  <a:lnTo>
                    <a:pt x="8026" y="62383"/>
                  </a:lnTo>
                  <a:lnTo>
                    <a:pt x="29916" y="29916"/>
                  </a:lnTo>
                  <a:lnTo>
                    <a:pt x="62383" y="8026"/>
                  </a:lnTo>
                  <a:lnTo>
                    <a:pt x="102142" y="0"/>
                  </a:lnTo>
                  <a:lnTo>
                    <a:pt x="4154103" y="0"/>
                  </a:lnTo>
                  <a:lnTo>
                    <a:pt x="4193192" y="7775"/>
                  </a:lnTo>
                  <a:lnTo>
                    <a:pt x="4226329" y="29916"/>
                  </a:lnTo>
                  <a:lnTo>
                    <a:pt x="4248471" y="63053"/>
                  </a:lnTo>
                  <a:lnTo>
                    <a:pt x="4256246" y="102142"/>
                  </a:lnTo>
                  <a:lnTo>
                    <a:pt x="4256246" y="1642985"/>
                  </a:lnTo>
                  <a:lnTo>
                    <a:pt x="4248219" y="1682743"/>
                  </a:lnTo>
                  <a:lnTo>
                    <a:pt x="4226329" y="1715211"/>
                  </a:lnTo>
                  <a:lnTo>
                    <a:pt x="4193862" y="1737100"/>
                  </a:lnTo>
                  <a:lnTo>
                    <a:pt x="4154103" y="1745127"/>
                  </a:lnTo>
                  <a:close/>
                </a:path>
              </a:pathLst>
            </a:custGeom>
            <a:solidFill>
              <a:srgbClr val="1E293B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649957" y="2380189"/>
              <a:ext cx="4256405" cy="1745614"/>
            </a:xfrm>
            <a:custGeom>
              <a:avLst/>
              <a:gdLst/>
              <a:ahLst/>
              <a:cxnLst/>
              <a:rect l="l" t="t" r="r" b="b"/>
              <a:pathLst>
                <a:path w="4256405" h="1745614">
                  <a:moveTo>
                    <a:pt x="0" y="102142"/>
                  </a:moveTo>
                  <a:lnTo>
                    <a:pt x="8026" y="62383"/>
                  </a:lnTo>
                  <a:lnTo>
                    <a:pt x="29916" y="29916"/>
                  </a:lnTo>
                  <a:lnTo>
                    <a:pt x="62383" y="8026"/>
                  </a:lnTo>
                  <a:lnTo>
                    <a:pt x="102142" y="0"/>
                  </a:lnTo>
                  <a:lnTo>
                    <a:pt x="4154103" y="0"/>
                  </a:lnTo>
                  <a:lnTo>
                    <a:pt x="4193192" y="7775"/>
                  </a:lnTo>
                  <a:lnTo>
                    <a:pt x="4226329" y="29916"/>
                  </a:lnTo>
                  <a:lnTo>
                    <a:pt x="4248471" y="63053"/>
                  </a:lnTo>
                  <a:lnTo>
                    <a:pt x="4256246" y="102142"/>
                  </a:lnTo>
                  <a:lnTo>
                    <a:pt x="4256246" y="1642985"/>
                  </a:lnTo>
                  <a:lnTo>
                    <a:pt x="4248219" y="1682743"/>
                  </a:lnTo>
                  <a:lnTo>
                    <a:pt x="4226329" y="1715211"/>
                  </a:lnTo>
                  <a:lnTo>
                    <a:pt x="4193862" y="1737100"/>
                  </a:lnTo>
                  <a:lnTo>
                    <a:pt x="4154103" y="1745127"/>
                  </a:lnTo>
                  <a:lnTo>
                    <a:pt x="102142" y="1745127"/>
                  </a:lnTo>
                  <a:lnTo>
                    <a:pt x="62383" y="1737100"/>
                  </a:lnTo>
                  <a:lnTo>
                    <a:pt x="29916" y="1715211"/>
                  </a:lnTo>
                  <a:lnTo>
                    <a:pt x="8026" y="1682743"/>
                  </a:lnTo>
                  <a:lnTo>
                    <a:pt x="0" y="1642985"/>
                  </a:lnTo>
                  <a:lnTo>
                    <a:pt x="0" y="102142"/>
                  </a:lnTo>
                  <a:close/>
                </a:path>
              </a:pathLst>
            </a:custGeom>
            <a:ln w="427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5835453" y="2466524"/>
            <a:ext cx="1887220" cy="161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1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900" spc="-6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F7FAFC"/>
                </a:solidFill>
                <a:latin typeface="Arial"/>
                <a:cs typeface="Arial"/>
              </a:rPr>
              <a:t>Purchases</a:t>
            </a:r>
            <a:r>
              <a:rPr dirty="0" sz="9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7FAFC"/>
                </a:solidFill>
                <a:latin typeface="Arial"/>
                <a:cs typeface="Arial"/>
              </a:rPr>
              <a:t>by</a:t>
            </a:r>
            <a:r>
              <a:rPr dirty="0" sz="9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7FAFC"/>
                </a:solidFill>
                <a:latin typeface="Arial"/>
                <a:cs typeface="Arial"/>
              </a:rPr>
              <a:t>Hour</a:t>
            </a:r>
            <a:r>
              <a:rPr dirty="0" sz="900" spc="-7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7FAFC"/>
                </a:solidFill>
                <a:latin typeface="Arial"/>
                <a:cs typeface="Arial"/>
              </a:rPr>
              <a:t>of</a:t>
            </a:r>
            <a:r>
              <a:rPr dirty="0" sz="9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F7FAFC"/>
                </a:solidFill>
                <a:latin typeface="Arial"/>
                <a:cs typeface="Arial"/>
              </a:rPr>
              <a:t>Day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986012" y="2804868"/>
            <a:ext cx="3244215" cy="908050"/>
            <a:chOff x="4986012" y="2804868"/>
            <a:chExt cx="3244215" cy="908050"/>
          </a:xfrm>
        </p:grpSpPr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90457" y="2835607"/>
              <a:ext cx="3239036" cy="87671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14280" y="2804868"/>
              <a:ext cx="68099" cy="6809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990457" y="3699625"/>
              <a:ext cx="3235325" cy="0"/>
            </a:xfrm>
            <a:custGeom>
              <a:avLst/>
              <a:gdLst/>
              <a:ahLst/>
              <a:cxnLst/>
              <a:rect l="l" t="t" r="r" b="b"/>
              <a:pathLst>
                <a:path w="3235325" h="0">
                  <a:moveTo>
                    <a:pt x="0" y="0"/>
                  </a:moveTo>
                  <a:lnTo>
                    <a:pt x="3234747" y="0"/>
                  </a:lnTo>
                </a:path>
              </a:pathLst>
            </a:custGeom>
            <a:ln w="8499">
              <a:solidFill>
                <a:srgbClr val="94A3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4944689" y="3739454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625688" y="3739454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273485" y="3739454"/>
            <a:ext cx="15811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94A3B8"/>
                </a:solidFill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954484" y="3739454"/>
            <a:ext cx="15811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94A3B8"/>
                </a:solidFill>
                <a:latin typeface="Arial MT"/>
                <a:cs typeface="Arial MT"/>
              </a:rPr>
              <a:t>15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635485" y="3739454"/>
            <a:ext cx="15811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94A3B8"/>
                </a:solidFill>
                <a:latin typeface="Arial MT"/>
                <a:cs typeface="Arial MT"/>
              </a:rPr>
              <a:t>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521436" y="3897330"/>
            <a:ext cx="17335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0">
                <a:solidFill>
                  <a:srgbClr val="94A3B8"/>
                </a:solidFill>
                <a:latin typeface="Arial MT"/>
                <a:cs typeface="Arial MT"/>
              </a:rPr>
              <a:t>Hour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743202" y="2760517"/>
            <a:ext cx="217804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94A3B8"/>
                </a:solidFill>
                <a:latin typeface="Arial MT"/>
                <a:cs typeface="Arial MT"/>
              </a:rPr>
              <a:t>30k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43202" y="3186142"/>
            <a:ext cx="217804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94A3B8"/>
                </a:solidFill>
                <a:latin typeface="Arial MT"/>
                <a:cs typeface="Arial MT"/>
              </a:rPr>
              <a:t>15k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869058" y="3611766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94A3B8"/>
                </a:solidFill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653218" y="3174530"/>
            <a:ext cx="101600" cy="207010"/>
          </a:xfrm>
          <a:prstGeom prst="rect">
            <a:avLst/>
          </a:prstGeom>
        </p:spPr>
        <p:txBody>
          <a:bodyPr wrap="square" lIns="0" tIns="1079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500" spc="-10">
                <a:solidFill>
                  <a:srgbClr val="94A3B8"/>
                </a:solidFill>
                <a:latin typeface="Arial MT"/>
                <a:cs typeface="Arial MT"/>
              </a:rPr>
              <a:t>Count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272204" y="2933997"/>
            <a:ext cx="2554605" cy="753745"/>
            <a:chOff x="5272204" y="2933997"/>
            <a:chExt cx="2554605" cy="753745"/>
          </a:xfrm>
        </p:grpSpPr>
        <p:pic>
          <p:nvPicPr>
            <p:cNvPr id="80" name="object 8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31690" y="3508561"/>
              <a:ext cx="68099" cy="6809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72204" y="3619017"/>
              <a:ext cx="68099" cy="68099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64327" y="2933997"/>
              <a:ext cx="68099" cy="68099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58579" y="3412640"/>
              <a:ext cx="68099" cy="6809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20765" y="2972590"/>
              <a:ext cx="68100" cy="68099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8943752" y="118171"/>
            <a:ext cx="12001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18522" y="166699"/>
            <a:ext cx="301752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37BDF7"/>
                </a:solidFill>
              </a:rPr>
              <a:t>FP-</a:t>
            </a:r>
            <a:r>
              <a:rPr dirty="0" sz="2200" spc="65">
                <a:solidFill>
                  <a:srgbClr val="37BDF7"/>
                </a:solidFill>
              </a:rPr>
              <a:t>Growth,</a:t>
            </a:r>
            <a:r>
              <a:rPr dirty="0" sz="2200" spc="-110">
                <a:solidFill>
                  <a:srgbClr val="37BDF7"/>
                </a:solidFill>
              </a:rPr>
              <a:t> </a:t>
            </a:r>
            <a:r>
              <a:rPr dirty="0" sz="2200" spc="85">
                <a:solidFill>
                  <a:srgbClr val="37BDF7"/>
                </a:solidFill>
              </a:rPr>
              <a:t>Metrics</a:t>
            </a:r>
            <a:r>
              <a:rPr dirty="0" sz="2200" spc="-105">
                <a:solidFill>
                  <a:srgbClr val="37BDF7"/>
                </a:solidFill>
              </a:rPr>
              <a:t> </a:t>
            </a:r>
            <a:r>
              <a:rPr dirty="0" sz="2200" spc="509">
                <a:solidFill>
                  <a:srgbClr val="37BDF7"/>
                </a:solidFill>
              </a:rPr>
              <a:t>3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368300" y="166699"/>
            <a:ext cx="353377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195"/>
              </a:spcBef>
            </a:pPr>
            <a:r>
              <a:rPr dirty="0" sz="2200" spc="80" b="1">
                <a:solidFill>
                  <a:srgbClr val="F7FAFC"/>
                </a:solidFill>
                <a:latin typeface="Arial"/>
                <a:cs typeface="Arial"/>
              </a:rPr>
              <a:t>Pattern</a:t>
            </a:r>
            <a:r>
              <a:rPr dirty="0" sz="220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7FAFC"/>
                </a:solidFill>
                <a:latin typeface="Arial"/>
                <a:cs typeface="Arial"/>
              </a:rPr>
              <a:t>Mining</a:t>
            </a:r>
            <a:r>
              <a:rPr dirty="0" sz="22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2200" spc="50" b="1">
                <a:solidFill>
                  <a:srgbClr val="F7FAFC"/>
                </a:solidFill>
                <a:latin typeface="Arial"/>
                <a:cs typeface="Arial"/>
              </a:rPr>
              <a:t>Overview: </a:t>
            </a:r>
            <a:r>
              <a:rPr dirty="0" u="heavy" sz="2200" spc="40" b="1">
                <a:solidFill>
                  <a:srgbClr val="37BDF7"/>
                </a:solidFill>
                <a:uFill>
                  <a:solidFill>
                    <a:srgbClr val="37BDF7"/>
                  </a:solidFill>
                </a:uFill>
                <a:latin typeface="Arial"/>
                <a:cs typeface="Arial"/>
              </a:rPr>
              <a:t>Thresh</a:t>
            </a:r>
            <a:r>
              <a:rPr dirty="0" sz="2200" spc="40" b="1">
                <a:solidFill>
                  <a:srgbClr val="37BDF7"/>
                </a:solidFill>
                <a:latin typeface="Arial"/>
                <a:cs typeface="Arial"/>
              </a:rPr>
              <a:t>olds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3850" y="992974"/>
            <a:ext cx="2681605" cy="1443355"/>
            <a:chOff x="373850" y="992974"/>
            <a:chExt cx="2681605" cy="1443355"/>
          </a:xfrm>
        </p:grpSpPr>
        <p:sp>
          <p:nvSpPr>
            <p:cNvPr id="6" name="object 6"/>
            <p:cNvSpPr/>
            <p:nvPr/>
          </p:nvSpPr>
          <p:spPr>
            <a:xfrm>
              <a:off x="381000" y="1000124"/>
              <a:ext cx="2667000" cy="1429385"/>
            </a:xfrm>
            <a:custGeom>
              <a:avLst/>
              <a:gdLst/>
              <a:ahLst/>
              <a:cxnLst/>
              <a:rect l="l" t="t" r="r" b="b"/>
              <a:pathLst>
                <a:path w="2667000" h="1429385">
                  <a:moveTo>
                    <a:pt x="2514593" y="1428899"/>
                  </a:moveTo>
                  <a:lnTo>
                    <a:pt x="152406" y="1428899"/>
                  </a:lnTo>
                  <a:lnTo>
                    <a:pt x="104234" y="1421130"/>
                  </a:lnTo>
                  <a:lnTo>
                    <a:pt x="62397" y="1399494"/>
                  </a:lnTo>
                  <a:lnTo>
                    <a:pt x="29405" y="1366502"/>
                  </a:lnTo>
                  <a:lnTo>
                    <a:pt x="7769" y="1324665"/>
                  </a:lnTo>
                  <a:lnTo>
                    <a:pt x="0" y="1276493"/>
                  </a:lnTo>
                  <a:lnTo>
                    <a:pt x="0" y="152406"/>
                  </a:lnTo>
                  <a:lnTo>
                    <a:pt x="7769" y="104234"/>
                  </a:lnTo>
                  <a:lnTo>
                    <a:pt x="29405" y="62397"/>
                  </a:lnTo>
                  <a:lnTo>
                    <a:pt x="62397" y="29405"/>
                  </a:lnTo>
                  <a:lnTo>
                    <a:pt x="104234" y="7769"/>
                  </a:lnTo>
                  <a:lnTo>
                    <a:pt x="152406" y="0"/>
                  </a:lnTo>
                  <a:lnTo>
                    <a:pt x="2514593" y="0"/>
                  </a:lnTo>
                  <a:lnTo>
                    <a:pt x="2572916" y="11601"/>
                  </a:lnTo>
                  <a:lnTo>
                    <a:pt x="2622361" y="44638"/>
                  </a:lnTo>
                  <a:lnTo>
                    <a:pt x="2655398" y="94083"/>
                  </a:lnTo>
                  <a:lnTo>
                    <a:pt x="2666999" y="152406"/>
                  </a:lnTo>
                  <a:lnTo>
                    <a:pt x="2666999" y="1276493"/>
                  </a:lnTo>
                  <a:lnTo>
                    <a:pt x="2659230" y="1324665"/>
                  </a:lnTo>
                  <a:lnTo>
                    <a:pt x="2637594" y="1366502"/>
                  </a:lnTo>
                  <a:lnTo>
                    <a:pt x="2604602" y="1399494"/>
                  </a:lnTo>
                  <a:lnTo>
                    <a:pt x="2562765" y="1421130"/>
                  </a:lnTo>
                  <a:lnTo>
                    <a:pt x="2514593" y="14288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1000" y="1000124"/>
              <a:ext cx="2667000" cy="1429385"/>
            </a:xfrm>
            <a:custGeom>
              <a:avLst/>
              <a:gdLst/>
              <a:ahLst/>
              <a:cxnLst/>
              <a:rect l="l" t="t" r="r" b="b"/>
              <a:pathLst>
                <a:path w="2667000" h="1429385">
                  <a:moveTo>
                    <a:pt x="0" y="152406"/>
                  </a:moveTo>
                  <a:lnTo>
                    <a:pt x="7769" y="104234"/>
                  </a:lnTo>
                  <a:lnTo>
                    <a:pt x="29405" y="62397"/>
                  </a:lnTo>
                  <a:lnTo>
                    <a:pt x="62397" y="29405"/>
                  </a:lnTo>
                  <a:lnTo>
                    <a:pt x="104234" y="7769"/>
                  </a:lnTo>
                  <a:lnTo>
                    <a:pt x="152406" y="0"/>
                  </a:lnTo>
                  <a:lnTo>
                    <a:pt x="2514593" y="0"/>
                  </a:lnTo>
                  <a:lnTo>
                    <a:pt x="2572916" y="11601"/>
                  </a:lnTo>
                  <a:lnTo>
                    <a:pt x="2622361" y="44638"/>
                  </a:lnTo>
                  <a:lnTo>
                    <a:pt x="2655398" y="94083"/>
                  </a:lnTo>
                  <a:lnTo>
                    <a:pt x="2666999" y="152406"/>
                  </a:lnTo>
                  <a:lnTo>
                    <a:pt x="2666999" y="1276493"/>
                  </a:lnTo>
                  <a:lnTo>
                    <a:pt x="2659230" y="1324665"/>
                  </a:lnTo>
                  <a:lnTo>
                    <a:pt x="2637594" y="1366502"/>
                  </a:lnTo>
                  <a:lnTo>
                    <a:pt x="2604602" y="1399494"/>
                  </a:lnTo>
                  <a:lnTo>
                    <a:pt x="2562765" y="1421130"/>
                  </a:lnTo>
                  <a:lnTo>
                    <a:pt x="2514593" y="1428899"/>
                  </a:lnTo>
                  <a:lnTo>
                    <a:pt x="152406" y="1428899"/>
                  </a:lnTo>
                  <a:lnTo>
                    <a:pt x="104234" y="1421130"/>
                  </a:lnTo>
                  <a:lnTo>
                    <a:pt x="62397" y="1399494"/>
                  </a:lnTo>
                  <a:lnTo>
                    <a:pt x="29405" y="1366502"/>
                  </a:lnTo>
                  <a:lnTo>
                    <a:pt x="7769" y="1324665"/>
                  </a:lnTo>
                  <a:lnTo>
                    <a:pt x="0" y="1276493"/>
                  </a:lnTo>
                  <a:lnTo>
                    <a:pt x="0" y="152406"/>
                  </a:lnTo>
                  <a:close/>
                </a:path>
              </a:pathLst>
            </a:custGeom>
            <a:ln w="142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125" y="1106271"/>
              <a:ext cx="107950" cy="1079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600" y="1344218"/>
              <a:ext cx="85725" cy="857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600" y="1515668"/>
              <a:ext cx="85725" cy="857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600" y="1687118"/>
              <a:ext cx="85725" cy="857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600" y="1858568"/>
              <a:ext cx="85725" cy="857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3550" y="1098651"/>
            <a:ext cx="2470785" cy="9925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135"/>
              </a:spcBef>
            </a:pPr>
            <a:r>
              <a:rPr dirty="0" sz="900" spc="20" b="1">
                <a:solidFill>
                  <a:srgbClr val="37BDF7"/>
                </a:solidFill>
                <a:latin typeface="Arial"/>
                <a:cs typeface="Arial"/>
              </a:rPr>
              <a:t>METHOD</a:t>
            </a:r>
            <a:r>
              <a:rPr dirty="0" sz="900" spc="8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37BDF7"/>
                </a:solidFill>
                <a:latin typeface="Arial"/>
                <a:cs typeface="Arial"/>
              </a:rPr>
              <a:t>USED</a:t>
            </a:r>
            <a:endParaRPr sz="900">
              <a:latin typeface="Arial"/>
              <a:cs typeface="Arial"/>
            </a:endParaRPr>
          </a:p>
          <a:p>
            <a:pPr marL="167640" marR="5080">
              <a:lnSpc>
                <a:spcPct val="160700"/>
              </a:lnSpc>
              <a:spcBef>
                <a:spcPts val="229"/>
              </a:spcBef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was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70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all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pattern-mining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analyses</a:t>
            </a:r>
            <a:r>
              <a:rPr dirty="0" sz="70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Applied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7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full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training-order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dataset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without</a:t>
            </a:r>
            <a:r>
              <a:rPr dirty="0" sz="7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sampling</a:t>
            </a:r>
            <a:r>
              <a:rPr dirty="0" sz="70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mine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itemsets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association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70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Covered</a:t>
            </a:r>
            <a:r>
              <a:rPr dirty="0" sz="700" spc="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product-level,</a:t>
            </a:r>
            <a:r>
              <a:rPr dirty="0" sz="700" spc="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aisle-level,</a:t>
            </a:r>
            <a:r>
              <a:rPr dirty="0" sz="700" spc="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5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cross-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department</a:t>
            </a:r>
            <a:endParaRPr sz="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31350" y="992974"/>
            <a:ext cx="2681605" cy="1443355"/>
            <a:chOff x="3231350" y="992974"/>
            <a:chExt cx="2681605" cy="1443355"/>
          </a:xfrm>
        </p:grpSpPr>
        <p:sp>
          <p:nvSpPr>
            <p:cNvPr id="15" name="object 15"/>
            <p:cNvSpPr/>
            <p:nvPr/>
          </p:nvSpPr>
          <p:spPr>
            <a:xfrm>
              <a:off x="3238500" y="1000124"/>
              <a:ext cx="2667000" cy="1429385"/>
            </a:xfrm>
            <a:custGeom>
              <a:avLst/>
              <a:gdLst/>
              <a:ahLst/>
              <a:cxnLst/>
              <a:rect l="l" t="t" r="r" b="b"/>
              <a:pathLst>
                <a:path w="2667000" h="1429385">
                  <a:moveTo>
                    <a:pt x="2514593" y="1428899"/>
                  </a:moveTo>
                  <a:lnTo>
                    <a:pt x="152406" y="1428899"/>
                  </a:lnTo>
                  <a:lnTo>
                    <a:pt x="104234" y="1421130"/>
                  </a:lnTo>
                  <a:lnTo>
                    <a:pt x="62397" y="1399494"/>
                  </a:lnTo>
                  <a:lnTo>
                    <a:pt x="29405" y="1366502"/>
                  </a:lnTo>
                  <a:lnTo>
                    <a:pt x="7769" y="1324665"/>
                  </a:lnTo>
                  <a:lnTo>
                    <a:pt x="0" y="1276493"/>
                  </a:lnTo>
                  <a:lnTo>
                    <a:pt x="0" y="152406"/>
                  </a:lnTo>
                  <a:lnTo>
                    <a:pt x="7769" y="104234"/>
                  </a:lnTo>
                  <a:lnTo>
                    <a:pt x="29405" y="62397"/>
                  </a:lnTo>
                  <a:lnTo>
                    <a:pt x="62397" y="29405"/>
                  </a:lnTo>
                  <a:lnTo>
                    <a:pt x="104234" y="7769"/>
                  </a:lnTo>
                  <a:lnTo>
                    <a:pt x="152406" y="0"/>
                  </a:lnTo>
                  <a:lnTo>
                    <a:pt x="2514593" y="0"/>
                  </a:lnTo>
                  <a:lnTo>
                    <a:pt x="2572916" y="11601"/>
                  </a:lnTo>
                  <a:lnTo>
                    <a:pt x="2622361" y="44638"/>
                  </a:lnTo>
                  <a:lnTo>
                    <a:pt x="2655398" y="94083"/>
                  </a:lnTo>
                  <a:lnTo>
                    <a:pt x="2666999" y="152406"/>
                  </a:lnTo>
                  <a:lnTo>
                    <a:pt x="2666999" y="1276493"/>
                  </a:lnTo>
                  <a:lnTo>
                    <a:pt x="2659230" y="1324665"/>
                  </a:lnTo>
                  <a:lnTo>
                    <a:pt x="2637594" y="1366502"/>
                  </a:lnTo>
                  <a:lnTo>
                    <a:pt x="2604602" y="1399494"/>
                  </a:lnTo>
                  <a:lnTo>
                    <a:pt x="2562765" y="1421130"/>
                  </a:lnTo>
                  <a:lnTo>
                    <a:pt x="2514593" y="14288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38500" y="1000124"/>
              <a:ext cx="2667000" cy="1429385"/>
            </a:xfrm>
            <a:custGeom>
              <a:avLst/>
              <a:gdLst/>
              <a:ahLst/>
              <a:cxnLst/>
              <a:rect l="l" t="t" r="r" b="b"/>
              <a:pathLst>
                <a:path w="2667000" h="1429385">
                  <a:moveTo>
                    <a:pt x="0" y="152406"/>
                  </a:moveTo>
                  <a:lnTo>
                    <a:pt x="7769" y="104234"/>
                  </a:lnTo>
                  <a:lnTo>
                    <a:pt x="29405" y="62397"/>
                  </a:lnTo>
                  <a:lnTo>
                    <a:pt x="62397" y="29405"/>
                  </a:lnTo>
                  <a:lnTo>
                    <a:pt x="104234" y="7769"/>
                  </a:lnTo>
                  <a:lnTo>
                    <a:pt x="152406" y="0"/>
                  </a:lnTo>
                  <a:lnTo>
                    <a:pt x="2514593" y="0"/>
                  </a:lnTo>
                  <a:lnTo>
                    <a:pt x="2572916" y="11601"/>
                  </a:lnTo>
                  <a:lnTo>
                    <a:pt x="2622361" y="44638"/>
                  </a:lnTo>
                  <a:lnTo>
                    <a:pt x="2655398" y="94083"/>
                  </a:lnTo>
                  <a:lnTo>
                    <a:pt x="2666999" y="152406"/>
                  </a:lnTo>
                  <a:lnTo>
                    <a:pt x="2666999" y="1276493"/>
                  </a:lnTo>
                  <a:lnTo>
                    <a:pt x="2659230" y="1324665"/>
                  </a:lnTo>
                  <a:lnTo>
                    <a:pt x="2637594" y="1366502"/>
                  </a:lnTo>
                  <a:lnTo>
                    <a:pt x="2604602" y="1399494"/>
                  </a:lnTo>
                  <a:lnTo>
                    <a:pt x="2562765" y="1421130"/>
                  </a:lnTo>
                  <a:lnTo>
                    <a:pt x="2514593" y="1428899"/>
                  </a:lnTo>
                  <a:lnTo>
                    <a:pt x="152406" y="1428899"/>
                  </a:lnTo>
                  <a:lnTo>
                    <a:pt x="104234" y="1421130"/>
                  </a:lnTo>
                  <a:lnTo>
                    <a:pt x="62397" y="1399494"/>
                  </a:lnTo>
                  <a:lnTo>
                    <a:pt x="29405" y="1366502"/>
                  </a:lnTo>
                  <a:lnTo>
                    <a:pt x="7769" y="1324665"/>
                  </a:lnTo>
                  <a:lnTo>
                    <a:pt x="0" y="1276493"/>
                  </a:lnTo>
                  <a:lnTo>
                    <a:pt x="0" y="152406"/>
                  </a:lnTo>
                  <a:close/>
                </a:path>
              </a:pathLst>
            </a:custGeom>
            <a:ln w="14299">
              <a:solidFill>
                <a:srgbClr val="818C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8675" y="1112621"/>
              <a:ext cx="69850" cy="952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2800" y="1356918"/>
              <a:ext cx="60325" cy="603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40100" y="1620443"/>
              <a:ext cx="85725" cy="857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40100" y="1798243"/>
              <a:ext cx="85725" cy="539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43275" y="2061768"/>
              <a:ext cx="79375" cy="793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43275" y="2233218"/>
              <a:ext cx="79375" cy="6032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321050" y="1098651"/>
            <a:ext cx="2422525" cy="1245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solidFill>
                  <a:srgbClr val="818CF7"/>
                </a:solidFill>
                <a:latin typeface="Arial"/>
                <a:cs typeface="Arial"/>
              </a:rPr>
              <a:t>CORE</a:t>
            </a:r>
            <a:r>
              <a:rPr dirty="0" sz="900" spc="50" b="1">
                <a:solidFill>
                  <a:srgbClr val="818CF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818CF7"/>
                </a:solidFill>
                <a:latin typeface="Arial"/>
                <a:cs typeface="Arial"/>
              </a:rPr>
              <a:t>METRICS</a:t>
            </a:r>
            <a:endParaRPr sz="900">
              <a:latin typeface="Arial"/>
              <a:cs typeface="Arial"/>
            </a:endParaRPr>
          </a:p>
          <a:p>
            <a:pPr marL="12700" marR="195580" indent="154940">
              <a:lnSpc>
                <a:spcPct val="102299"/>
              </a:lnSpc>
              <a:spcBef>
                <a:spcPts val="725"/>
              </a:spcBef>
            </a:pP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Support</a:t>
            </a:r>
            <a:r>
              <a:rPr dirty="0" sz="700" spc="1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count:</a:t>
            </a:r>
            <a:r>
              <a:rPr dirty="0" sz="700" spc="15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number</a:t>
            </a:r>
            <a:r>
              <a:rPr dirty="0" sz="700" spc="-1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of</a:t>
            </a:r>
            <a:r>
              <a:rPr dirty="0" sz="700" spc="15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orders</a:t>
            </a:r>
            <a:r>
              <a:rPr dirty="0" sz="700" spc="15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containing</a:t>
            </a:r>
            <a:r>
              <a:rPr dirty="0" sz="700" spc="1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E1E7F0"/>
                </a:solidFill>
                <a:latin typeface="Arial"/>
                <a:cs typeface="Arial"/>
              </a:rPr>
              <a:t>the</a:t>
            </a:r>
            <a:r>
              <a:rPr dirty="0" sz="700" spc="50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E1E7F0"/>
                </a:solidFill>
                <a:latin typeface="Arial"/>
                <a:cs typeface="Arial"/>
              </a:rPr>
              <a:t>pattern</a:t>
            </a:r>
            <a:endParaRPr sz="700">
              <a:latin typeface="Arial"/>
              <a:cs typeface="Arial"/>
            </a:endParaRPr>
          </a:p>
          <a:p>
            <a:pPr marL="167640">
              <a:lnSpc>
                <a:spcPct val="100000"/>
              </a:lnSpc>
              <a:spcBef>
                <a:spcPts val="475"/>
              </a:spcBef>
            </a:pP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Support:</a:t>
            </a:r>
            <a:r>
              <a:rPr dirty="0" sz="700" spc="5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proportion</a:t>
            </a:r>
            <a:r>
              <a:rPr dirty="0" sz="700" spc="1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of</a:t>
            </a:r>
            <a:r>
              <a:rPr dirty="0" sz="700" spc="5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orders</a:t>
            </a:r>
            <a:r>
              <a:rPr dirty="0" sz="700" spc="1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containing</a:t>
            </a:r>
            <a:r>
              <a:rPr dirty="0" sz="700" spc="5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E1E7F0"/>
                </a:solidFill>
                <a:latin typeface="Arial"/>
                <a:cs typeface="Arial"/>
              </a:rPr>
              <a:t>the</a:t>
            </a:r>
            <a:r>
              <a:rPr dirty="0" sz="700" spc="10" b="1">
                <a:solidFill>
                  <a:srgbClr val="E1E7F0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E1E7F0"/>
                </a:solidFill>
                <a:latin typeface="Arial"/>
                <a:cs typeface="Arial"/>
              </a:rPr>
              <a:t>pattern</a:t>
            </a:r>
            <a:endParaRPr sz="700">
              <a:latin typeface="Arial"/>
              <a:cs typeface="Arial"/>
            </a:endParaRPr>
          </a:p>
          <a:p>
            <a:pPr marL="12700" marR="92710" indent="154940">
              <a:lnSpc>
                <a:spcPct val="102299"/>
              </a:lnSpc>
              <a:spcBef>
                <a:spcPts val="415"/>
              </a:spcBef>
            </a:pP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Confidence:</a:t>
            </a:r>
            <a:r>
              <a:rPr dirty="0" sz="7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strength</a:t>
            </a:r>
            <a:r>
              <a:rPr dirty="0" sz="7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rule,</a:t>
            </a:r>
            <a:r>
              <a:rPr dirty="0" sz="7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based</a:t>
            </a:r>
            <a:r>
              <a:rPr dirty="0" sz="7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dirty="0" sz="7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conditional</a:t>
            </a:r>
            <a:r>
              <a:rPr dirty="0" sz="700" spc="5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occurrence</a:t>
            </a:r>
            <a:endParaRPr sz="700">
              <a:latin typeface="Microsoft Sans Serif"/>
              <a:cs typeface="Microsoft Sans Serif"/>
            </a:endParaRPr>
          </a:p>
          <a:p>
            <a:pPr marL="167640" marR="217804">
              <a:lnSpc>
                <a:spcPct val="151800"/>
              </a:lnSpc>
              <a:spcBef>
                <a:spcPts val="40"/>
              </a:spcBef>
            </a:pP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Support</a:t>
            </a:r>
            <a:r>
              <a:rPr dirty="0" sz="7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support</a:t>
            </a:r>
            <a:r>
              <a:rPr dirty="0" sz="7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count</a:t>
            </a:r>
            <a:r>
              <a:rPr dirty="0" sz="700" spc="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dirty="0" sz="7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total</a:t>
            </a:r>
            <a:r>
              <a:rPr dirty="0" sz="7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baskets</a:t>
            </a:r>
            <a:r>
              <a:rPr dirty="0" sz="700" spc="5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Confidence(A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dirty="0" sz="7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B)</a:t>
            </a:r>
            <a:r>
              <a:rPr dirty="0" sz="7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support(A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S PGothic"/>
                <a:cs typeface="MS PGothic"/>
              </a:rPr>
              <a:t>∪</a:t>
            </a:r>
            <a:r>
              <a:rPr dirty="0" sz="70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B)</a:t>
            </a:r>
            <a:r>
              <a:rPr dirty="0" sz="7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support(A)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88850" y="992974"/>
            <a:ext cx="2681605" cy="1443355"/>
            <a:chOff x="6088850" y="992974"/>
            <a:chExt cx="2681605" cy="1443355"/>
          </a:xfrm>
        </p:grpSpPr>
        <p:sp>
          <p:nvSpPr>
            <p:cNvPr id="25" name="object 25"/>
            <p:cNvSpPr/>
            <p:nvPr/>
          </p:nvSpPr>
          <p:spPr>
            <a:xfrm>
              <a:off x="6096000" y="1000124"/>
              <a:ext cx="2667000" cy="1429385"/>
            </a:xfrm>
            <a:custGeom>
              <a:avLst/>
              <a:gdLst/>
              <a:ahLst/>
              <a:cxnLst/>
              <a:rect l="l" t="t" r="r" b="b"/>
              <a:pathLst>
                <a:path w="2667000" h="1429385">
                  <a:moveTo>
                    <a:pt x="2514593" y="1428899"/>
                  </a:moveTo>
                  <a:lnTo>
                    <a:pt x="152406" y="1428899"/>
                  </a:lnTo>
                  <a:lnTo>
                    <a:pt x="104234" y="1421130"/>
                  </a:lnTo>
                  <a:lnTo>
                    <a:pt x="62397" y="1399494"/>
                  </a:lnTo>
                  <a:lnTo>
                    <a:pt x="29405" y="1366502"/>
                  </a:lnTo>
                  <a:lnTo>
                    <a:pt x="7769" y="1324665"/>
                  </a:lnTo>
                  <a:lnTo>
                    <a:pt x="0" y="1276493"/>
                  </a:lnTo>
                  <a:lnTo>
                    <a:pt x="0" y="152406"/>
                  </a:lnTo>
                  <a:lnTo>
                    <a:pt x="7769" y="104234"/>
                  </a:lnTo>
                  <a:lnTo>
                    <a:pt x="29405" y="62397"/>
                  </a:lnTo>
                  <a:lnTo>
                    <a:pt x="62397" y="29405"/>
                  </a:lnTo>
                  <a:lnTo>
                    <a:pt x="104234" y="7769"/>
                  </a:lnTo>
                  <a:lnTo>
                    <a:pt x="152406" y="0"/>
                  </a:lnTo>
                  <a:lnTo>
                    <a:pt x="2514593" y="0"/>
                  </a:lnTo>
                  <a:lnTo>
                    <a:pt x="2572917" y="11601"/>
                  </a:lnTo>
                  <a:lnTo>
                    <a:pt x="2622360" y="44638"/>
                  </a:lnTo>
                  <a:lnTo>
                    <a:pt x="2655398" y="94083"/>
                  </a:lnTo>
                  <a:lnTo>
                    <a:pt x="2666999" y="152406"/>
                  </a:lnTo>
                  <a:lnTo>
                    <a:pt x="2666999" y="1276493"/>
                  </a:lnTo>
                  <a:lnTo>
                    <a:pt x="2659230" y="1324665"/>
                  </a:lnTo>
                  <a:lnTo>
                    <a:pt x="2637594" y="1366502"/>
                  </a:lnTo>
                  <a:lnTo>
                    <a:pt x="2604602" y="1399494"/>
                  </a:lnTo>
                  <a:lnTo>
                    <a:pt x="2562765" y="1421130"/>
                  </a:lnTo>
                  <a:lnTo>
                    <a:pt x="2514593" y="14288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96000" y="1000124"/>
              <a:ext cx="2667000" cy="1429385"/>
            </a:xfrm>
            <a:custGeom>
              <a:avLst/>
              <a:gdLst/>
              <a:ahLst/>
              <a:cxnLst/>
              <a:rect l="l" t="t" r="r" b="b"/>
              <a:pathLst>
                <a:path w="2667000" h="1429385">
                  <a:moveTo>
                    <a:pt x="0" y="152406"/>
                  </a:moveTo>
                  <a:lnTo>
                    <a:pt x="7769" y="104234"/>
                  </a:lnTo>
                  <a:lnTo>
                    <a:pt x="29405" y="62397"/>
                  </a:lnTo>
                  <a:lnTo>
                    <a:pt x="62397" y="29405"/>
                  </a:lnTo>
                  <a:lnTo>
                    <a:pt x="104234" y="7769"/>
                  </a:lnTo>
                  <a:lnTo>
                    <a:pt x="152406" y="0"/>
                  </a:lnTo>
                  <a:lnTo>
                    <a:pt x="2514593" y="0"/>
                  </a:lnTo>
                  <a:lnTo>
                    <a:pt x="2572917" y="11601"/>
                  </a:lnTo>
                  <a:lnTo>
                    <a:pt x="2622360" y="44638"/>
                  </a:lnTo>
                  <a:lnTo>
                    <a:pt x="2655398" y="94083"/>
                  </a:lnTo>
                  <a:lnTo>
                    <a:pt x="2666999" y="152406"/>
                  </a:lnTo>
                  <a:lnTo>
                    <a:pt x="2666999" y="1276493"/>
                  </a:lnTo>
                  <a:lnTo>
                    <a:pt x="2659230" y="1324665"/>
                  </a:lnTo>
                  <a:lnTo>
                    <a:pt x="2637594" y="1366502"/>
                  </a:lnTo>
                  <a:lnTo>
                    <a:pt x="2604602" y="1399494"/>
                  </a:lnTo>
                  <a:lnTo>
                    <a:pt x="2562765" y="1421130"/>
                  </a:lnTo>
                  <a:lnTo>
                    <a:pt x="2514593" y="1428899"/>
                  </a:lnTo>
                  <a:lnTo>
                    <a:pt x="152406" y="1428899"/>
                  </a:lnTo>
                  <a:lnTo>
                    <a:pt x="104234" y="1421130"/>
                  </a:lnTo>
                  <a:lnTo>
                    <a:pt x="62397" y="1399494"/>
                  </a:lnTo>
                  <a:lnTo>
                    <a:pt x="29405" y="1366502"/>
                  </a:lnTo>
                  <a:lnTo>
                    <a:pt x="7769" y="1324665"/>
                  </a:lnTo>
                  <a:lnTo>
                    <a:pt x="0" y="1276493"/>
                  </a:lnTo>
                  <a:lnTo>
                    <a:pt x="0" y="152406"/>
                  </a:lnTo>
                  <a:close/>
                </a:path>
              </a:pathLst>
            </a:custGeom>
            <a:ln w="14299">
              <a:solidFill>
                <a:srgbClr val="F472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03950" y="1114170"/>
              <a:ext cx="139700" cy="114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23000" y="1376552"/>
              <a:ext cx="50800" cy="95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03950" y="1586102"/>
              <a:ext cx="88900" cy="571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00775" y="1763902"/>
              <a:ext cx="95250" cy="825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00775" y="1951227"/>
              <a:ext cx="101600" cy="889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361172" y="1101471"/>
            <a:ext cx="1924050" cy="986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472B6"/>
                </a:solidFill>
                <a:latin typeface="Arial"/>
                <a:cs typeface="Arial"/>
              </a:rPr>
              <a:t>WHY</a:t>
            </a:r>
            <a:r>
              <a:rPr dirty="0" sz="1100" spc="-50" b="1">
                <a:solidFill>
                  <a:srgbClr val="F472B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472B6"/>
                </a:solidFill>
                <a:latin typeface="Arial"/>
                <a:cs typeface="Arial"/>
              </a:rPr>
              <a:t>FP-</a:t>
            </a:r>
            <a:r>
              <a:rPr dirty="0" sz="1100" spc="-10" b="1">
                <a:solidFill>
                  <a:srgbClr val="F472B6"/>
                </a:solidFill>
                <a:latin typeface="Arial"/>
                <a:cs typeface="Arial"/>
              </a:rPr>
              <a:t>GROWTH?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47100"/>
              </a:lnSpc>
              <a:spcBef>
                <a:spcPts val="240"/>
              </a:spcBef>
            </a:pP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8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850" spc="-6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large</a:t>
            </a:r>
            <a:r>
              <a:rPr dirty="0" sz="8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transaction</a:t>
            </a:r>
            <a:r>
              <a:rPr dirty="0" sz="8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E1E7F0"/>
                </a:solidFill>
                <a:latin typeface="Microsoft Sans Serif"/>
                <a:cs typeface="Microsoft Sans Serif"/>
              </a:rPr>
              <a:t>data</a:t>
            </a:r>
            <a:r>
              <a:rPr dirty="0" sz="8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Avoids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excessive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candidate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generation Suitable</a:t>
            </a:r>
            <a:r>
              <a:rPr dirty="0" sz="8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8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full-dataset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pattern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 mining More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suitable</a:t>
            </a:r>
            <a:r>
              <a:rPr dirty="0" sz="8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than</a:t>
            </a:r>
            <a:r>
              <a:rPr dirty="0" sz="8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manual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pair</a:t>
            </a:r>
            <a:r>
              <a:rPr dirty="0" sz="8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counting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6237" y="2566987"/>
            <a:ext cx="8391525" cy="1866900"/>
            <a:chOff x="376237" y="2566987"/>
            <a:chExt cx="8391525" cy="1866900"/>
          </a:xfrm>
        </p:grpSpPr>
        <p:sp>
          <p:nvSpPr>
            <p:cNvPr id="34" name="object 34"/>
            <p:cNvSpPr/>
            <p:nvPr/>
          </p:nvSpPr>
          <p:spPr>
            <a:xfrm>
              <a:off x="381000" y="2571750"/>
              <a:ext cx="8382000" cy="1857375"/>
            </a:xfrm>
            <a:custGeom>
              <a:avLst/>
              <a:gdLst/>
              <a:ahLst/>
              <a:cxnLst/>
              <a:rect l="l" t="t" r="r" b="b"/>
              <a:pathLst>
                <a:path w="8382000" h="1857375">
                  <a:moveTo>
                    <a:pt x="8267719" y="1857299"/>
                  </a:moveTo>
                  <a:lnTo>
                    <a:pt x="114279" y="1857299"/>
                  </a:lnTo>
                  <a:lnTo>
                    <a:pt x="69796" y="1848319"/>
                  </a:lnTo>
                  <a:lnTo>
                    <a:pt x="33471" y="1823828"/>
                  </a:lnTo>
                  <a:lnTo>
                    <a:pt x="8980" y="1787502"/>
                  </a:lnTo>
                  <a:lnTo>
                    <a:pt x="0" y="1743020"/>
                  </a:lnTo>
                  <a:lnTo>
                    <a:pt x="0" y="114279"/>
                  </a:lnTo>
                  <a:lnTo>
                    <a:pt x="8980" y="69796"/>
                  </a:lnTo>
                  <a:lnTo>
                    <a:pt x="33471" y="33471"/>
                  </a:lnTo>
                  <a:lnTo>
                    <a:pt x="69796" y="8980"/>
                  </a:lnTo>
                  <a:lnTo>
                    <a:pt x="114279" y="0"/>
                  </a:lnTo>
                  <a:lnTo>
                    <a:pt x="8267719" y="0"/>
                  </a:lnTo>
                  <a:lnTo>
                    <a:pt x="8311453" y="8699"/>
                  </a:lnTo>
                  <a:lnTo>
                    <a:pt x="8348527" y="33471"/>
                  </a:lnTo>
                  <a:lnTo>
                    <a:pt x="8373300" y="70546"/>
                  </a:lnTo>
                  <a:lnTo>
                    <a:pt x="8381999" y="114279"/>
                  </a:lnTo>
                  <a:lnTo>
                    <a:pt x="8381999" y="1743020"/>
                  </a:lnTo>
                  <a:lnTo>
                    <a:pt x="8373019" y="1787502"/>
                  </a:lnTo>
                  <a:lnTo>
                    <a:pt x="8348528" y="1823828"/>
                  </a:lnTo>
                  <a:lnTo>
                    <a:pt x="8312202" y="1848319"/>
                  </a:lnTo>
                  <a:lnTo>
                    <a:pt x="8267719" y="1857299"/>
                  </a:lnTo>
                  <a:close/>
                </a:path>
              </a:pathLst>
            </a:custGeom>
            <a:solidFill>
              <a:srgbClr val="1E2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81000" y="2571750"/>
              <a:ext cx="8382000" cy="1857375"/>
            </a:xfrm>
            <a:custGeom>
              <a:avLst/>
              <a:gdLst/>
              <a:ahLst/>
              <a:cxnLst/>
              <a:rect l="l" t="t" r="r" b="b"/>
              <a:pathLst>
                <a:path w="8382000" h="1857375">
                  <a:moveTo>
                    <a:pt x="0" y="114279"/>
                  </a:moveTo>
                  <a:lnTo>
                    <a:pt x="8980" y="69796"/>
                  </a:lnTo>
                  <a:lnTo>
                    <a:pt x="33471" y="33471"/>
                  </a:lnTo>
                  <a:lnTo>
                    <a:pt x="69796" y="8980"/>
                  </a:lnTo>
                  <a:lnTo>
                    <a:pt x="114279" y="0"/>
                  </a:lnTo>
                  <a:lnTo>
                    <a:pt x="8267719" y="0"/>
                  </a:lnTo>
                  <a:lnTo>
                    <a:pt x="8311453" y="8699"/>
                  </a:lnTo>
                  <a:lnTo>
                    <a:pt x="8348527" y="33471"/>
                  </a:lnTo>
                  <a:lnTo>
                    <a:pt x="8373300" y="70546"/>
                  </a:lnTo>
                  <a:lnTo>
                    <a:pt x="8381999" y="114279"/>
                  </a:lnTo>
                  <a:lnTo>
                    <a:pt x="8381999" y="1743020"/>
                  </a:lnTo>
                  <a:lnTo>
                    <a:pt x="8373019" y="1787502"/>
                  </a:lnTo>
                  <a:lnTo>
                    <a:pt x="8348528" y="1823828"/>
                  </a:lnTo>
                  <a:lnTo>
                    <a:pt x="8312202" y="1848319"/>
                  </a:lnTo>
                  <a:lnTo>
                    <a:pt x="8267719" y="1857299"/>
                  </a:lnTo>
                  <a:lnTo>
                    <a:pt x="114279" y="1857299"/>
                  </a:lnTo>
                  <a:lnTo>
                    <a:pt x="69796" y="1848319"/>
                  </a:lnTo>
                  <a:lnTo>
                    <a:pt x="33471" y="1823828"/>
                  </a:lnTo>
                  <a:lnTo>
                    <a:pt x="8980" y="1787502"/>
                  </a:lnTo>
                  <a:lnTo>
                    <a:pt x="0" y="1743020"/>
                  </a:lnTo>
                  <a:lnTo>
                    <a:pt x="0" y="114279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19125" y="2662058"/>
              <a:ext cx="152400" cy="1524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76250" y="2905125"/>
              <a:ext cx="8191500" cy="286385"/>
            </a:xfrm>
            <a:custGeom>
              <a:avLst/>
              <a:gdLst/>
              <a:ahLst/>
              <a:cxnLst/>
              <a:rect l="l" t="t" r="r" b="b"/>
              <a:pathLst>
                <a:path w="8191500" h="286385">
                  <a:moveTo>
                    <a:pt x="8153381" y="285899"/>
                  </a:moveTo>
                  <a:lnTo>
                    <a:pt x="38119" y="285899"/>
                  </a:lnTo>
                  <a:lnTo>
                    <a:pt x="23281" y="282904"/>
                  </a:lnTo>
                  <a:lnTo>
                    <a:pt x="11164" y="274735"/>
                  </a:lnTo>
                  <a:lnTo>
                    <a:pt x="2995" y="262618"/>
                  </a:lnTo>
                  <a:lnTo>
                    <a:pt x="0" y="247780"/>
                  </a:lnTo>
                  <a:lnTo>
                    <a:pt x="0" y="38119"/>
                  </a:lnTo>
                  <a:lnTo>
                    <a:pt x="2995" y="23281"/>
                  </a:lnTo>
                  <a:lnTo>
                    <a:pt x="11164" y="11164"/>
                  </a:lnTo>
                  <a:lnTo>
                    <a:pt x="23281" y="2995"/>
                  </a:lnTo>
                  <a:lnTo>
                    <a:pt x="38119" y="0"/>
                  </a:lnTo>
                  <a:lnTo>
                    <a:pt x="8153381" y="0"/>
                  </a:lnTo>
                  <a:lnTo>
                    <a:pt x="8188598" y="23531"/>
                  </a:lnTo>
                  <a:lnTo>
                    <a:pt x="8191499" y="38119"/>
                  </a:lnTo>
                  <a:lnTo>
                    <a:pt x="8191499" y="247780"/>
                  </a:lnTo>
                  <a:lnTo>
                    <a:pt x="8188504" y="262618"/>
                  </a:lnTo>
                  <a:lnTo>
                    <a:pt x="8180335" y="274735"/>
                  </a:lnTo>
                  <a:lnTo>
                    <a:pt x="8168218" y="282904"/>
                  </a:lnTo>
                  <a:lnTo>
                    <a:pt x="8153381" y="285899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060616" y="2954095"/>
            <a:ext cx="546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Analysis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10430" y="2954095"/>
            <a:ext cx="9042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Support</a:t>
            </a:r>
            <a:r>
              <a:rPr dirty="0" sz="1000" spc="-5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Count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44072" y="2668408"/>
            <a:ext cx="200152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83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THRESHOLD</a:t>
            </a:r>
            <a:r>
              <a:rPr dirty="0" sz="1100" spc="-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SUMMARY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1075055" algn="l"/>
              </a:tabLst>
            </a:pP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Confidence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	</a:t>
            </a:r>
            <a:r>
              <a:rPr dirty="0" sz="1000" spc="-25" b="1">
                <a:solidFill>
                  <a:srgbClr val="37BDF7"/>
                </a:solidFill>
                <a:latin typeface="Arial"/>
                <a:cs typeface="Arial"/>
              </a:rPr>
              <a:t>Why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76250" y="3219450"/>
            <a:ext cx="8191500" cy="324485"/>
          </a:xfrm>
          <a:custGeom>
            <a:avLst/>
            <a:gdLst/>
            <a:ahLst/>
            <a:cxnLst/>
            <a:rect l="l" t="t" r="r" b="b"/>
            <a:pathLst>
              <a:path w="8191500" h="324485">
                <a:moveTo>
                  <a:pt x="8134323" y="323999"/>
                </a:moveTo>
                <a:lnTo>
                  <a:pt x="57176" y="323999"/>
                </a:lnTo>
                <a:lnTo>
                  <a:pt x="34920" y="319506"/>
                </a:lnTo>
                <a:lnTo>
                  <a:pt x="16746" y="307253"/>
                </a:lnTo>
                <a:lnTo>
                  <a:pt x="4493" y="289079"/>
                </a:lnTo>
                <a:lnTo>
                  <a:pt x="0" y="266823"/>
                </a:lnTo>
                <a:lnTo>
                  <a:pt x="0" y="57176"/>
                </a:lnTo>
                <a:lnTo>
                  <a:pt x="4493" y="34920"/>
                </a:lnTo>
                <a:lnTo>
                  <a:pt x="16746" y="16746"/>
                </a:lnTo>
                <a:lnTo>
                  <a:pt x="34920" y="4493"/>
                </a:lnTo>
                <a:lnTo>
                  <a:pt x="57176" y="0"/>
                </a:lnTo>
                <a:lnTo>
                  <a:pt x="8134323" y="0"/>
                </a:lnTo>
                <a:lnTo>
                  <a:pt x="8174752" y="16746"/>
                </a:lnTo>
                <a:lnTo>
                  <a:pt x="8191499" y="57176"/>
                </a:lnTo>
                <a:lnTo>
                  <a:pt x="8191499" y="266823"/>
                </a:lnTo>
                <a:lnTo>
                  <a:pt x="8187006" y="289079"/>
                </a:lnTo>
                <a:lnTo>
                  <a:pt x="8174753" y="307253"/>
                </a:lnTo>
                <a:lnTo>
                  <a:pt x="8156579" y="319506"/>
                </a:lnTo>
                <a:lnTo>
                  <a:pt x="8134323" y="323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69051" y="3297136"/>
            <a:ext cx="17310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22D3EE"/>
                </a:solidFill>
                <a:latin typeface="Arial"/>
                <a:cs typeface="Arial"/>
              </a:rPr>
              <a:t>Product-to-product</a:t>
            </a:r>
            <a:r>
              <a:rPr dirty="0" sz="950" spc="-60" b="1">
                <a:solidFill>
                  <a:srgbClr val="22D3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2D3EE"/>
                </a:solidFill>
                <a:latin typeface="Arial"/>
                <a:cs typeface="Arial"/>
              </a:rPr>
              <a:t>rules</a:t>
            </a:r>
            <a:r>
              <a:rPr dirty="0" sz="950" spc="-55" b="1">
                <a:solidFill>
                  <a:srgbClr val="22D3E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22D3EE"/>
                </a:solidFill>
                <a:latin typeface="Arial"/>
                <a:cs typeface="Arial"/>
              </a:rPr>
              <a:t>(6.1)</a:t>
            </a:r>
            <a:endParaRPr sz="9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40563" y="3292119"/>
            <a:ext cx="2438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7FAFC"/>
                </a:solidFill>
                <a:latin typeface="Microsoft Sans Serif"/>
                <a:cs typeface="Microsoft Sans Serif"/>
              </a:rPr>
              <a:t>500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69154" y="3292119"/>
            <a:ext cx="2724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F7FAFC"/>
                </a:solidFill>
                <a:latin typeface="Microsoft Sans Serif"/>
                <a:cs typeface="Microsoft Sans Serif"/>
              </a:rPr>
              <a:t>0.10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06925" y="3302153"/>
            <a:ext cx="3086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Kept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product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without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too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many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rare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76250" y="3581400"/>
            <a:ext cx="8191500" cy="324485"/>
          </a:xfrm>
          <a:custGeom>
            <a:avLst/>
            <a:gdLst/>
            <a:ahLst/>
            <a:cxnLst/>
            <a:rect l="l" t="t" r="r" b="b"/>
            <a:pathLst>
              <a:path w="8191500" h="324485">
                <a:moveTo>
                  <a:pt x="8134323" y="323999"/>
                </a:moveTo>
                <a:lnTo>
                  <a:pt x="57176" y="323999"/>
                </a:lnTo>
                <a:lnTo>
                  <a:pt x="34920" y="319506"/>
                </a:lnTo>
                <a:lnTo>
                  <a:pt x="16746" y="307253"/>
                </a:lnTo>
                <a:lnTo>
                  <a:pt x="4493" y="289079"/>
                </a:lnTo>
                <a:lnTo>
                  <a:pt x="0" y="266823"/>
                </a:lnTo>
                <a:lnTo>
                  <a:pt x="0" y="57176"/>
                </a:lnTo>
                <a:lnTo>
                  <a:pt x="4493" y="34920"/>
                </a:lnTo>
                <a:lnTo>
                  <a:pt x="16746" y="16746"/>
                </a:lnTo>
                <a:lnTo>
                  <a:pt x="34920" y="4493"/>
                </a:lnTo>
                <a:lnTo>
                  <a:pt x="57176" y="0"/>
                </a:lnTo>
                <a:lnTo>
                  <a:pt x="8134323" y="0"/>
                </a:lnTo>
                <a:lnTo>
                  <a:pt x="8174752" y="16746"/>
                </a:lnTo>
                <a:lnTo>
                  <a:pt x="8191499" y="57176"/>
                </a:lnTo>
                <a:lnTo>
                  <a:pt x="8191499" y="266823"/>
                </a:lnTo>
                <a:lnTo>
                  <a:pt x="8187006" y="289079"/>
                </a:lnTo>
                <a:lnTo>
                  <a:pt x="8174753" y="307253"/>
                </a:lnTo>
                <a:lnTo>
                  <a:pt x="8156579" y="319506"/>
                </a:lnTo>
                <a:lnTo>
                  <a:pt x="8134323" y="323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40895" y="3659086"/>
            <a:ext cx="13868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4ADE80"/>
                </a:solidFill>
                <a:latin typeface="Arial"/>
                <a:cs typeface="Arial"/>
              </a:rPr>
              <a:t>Aisle-to-aisle</a:t>
            </a:r>
            <a:r>
              <a:rPr dirty="0" sz="950" spc="-55" b="1">
                <a:solidFill>
                  <a:srgbClr val="4ADE8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DE80"/>
                </a:solidFill>
                <a:latin typeface="Arial"/>
                <a:cs typeface="Arial"/>
              </a:rPr>
              <a:t>rules</a:t>
            </a:r>
            <a:r>
              <a:rPr dirty="0" sz="950" spc="-50" b="1">
                <a:solidFill>
                  <a:srgbClr val="4ADE8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ADE80"/>
                </a:solidFill>
                <a:latin typeface="Arial"/>
                <a:cs typeface="Arial"/>
              </a:rPr>
              <a:t>(6.2)</a:t>
            </a:r>
            <a:endParaRPr sz="9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07366" y="3654069"/>
            <a:ext cx="3098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F7FAFC"/>
                </a:solidFill>
                <a:latin typeface="Microsoft Sans Serif"/>
                <a:cs typeface="Microsoft Sans Serif"/>
              </a:rPr>
              <a:t>1000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69154" y="3654069"/>
            <a:ext cx="2724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F7FAFC"/>
                </a:solidFill>
                <a:latin typeface="Microsoft Sans Serif"/>
                <a:cs typeface="Microsoft Sans Serif"/>
              </a:rPr>
              <a:t>0.10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06925" y="3664103"/>
            <a:ext cx="3863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9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are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broader</a:t>
            </a:r>
            <a:r>
              <a:rPr dirty="0" sz="9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more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frequent,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so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stricter</a:t>
            </a:r>
            <a:r>
              <a:rPr dirty="0" sz="9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1E7F0"/>
                </a:solidFill>
                <a:latin typeface="Microsoft Sans Serif"/>
                <a:cs typeface="Microsoft Sans Serif"/>
              </a:rPr>
              <a:t>support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was</a:t>
            </a:r>
            <a:r>
              <a:rPr dirty="0" sz="9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1E7F0"/>
                </a:solidFill>
                <a:latin typeface="Microsoft Sans Serif"/>
                <a:cs typeface="Microsoft Sans Serif"/>
              </a:rPr>
              <a:t>needed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76250" y="3943350"/>
            <a:ext cx="8191500" cy="324485"/>
          </a:xfrm>
          <a:custGeom>
            <a:avLst/>
            <a:gdLst/>
            <a:ahLst/>
            <a:cxnLst/>
            <a:rect l="l" t="t" r="r" b="b"/>
            <a:pathLst>
              <a:path w="8191500" h="324485">
                <a:moveTo>
                  <a:pt x="8134323" y="323999"/>
                </a:moveTo>
                <a:lnTo>
                  <a:pt x="57176" y="323999"/>
                </a:lnTo>
                <a:lnTo>
                  <a:pt x="34920" y="319506"/>
                </a:lnTo>
                <a:lnTo>
                  <a:pt x="16746" y="307253"/>
                </a:lnTo>
                <a:lnTo>
                  <a:pt x="4493" y="289079"/>
                </a:lnTo>
                <a:lnTo>
                  <a:pt x="0" y="266823"/>
                </a:lnTo>
                <a:lnTo>
                  <a:pt x="0" y="57176"/>
                </a:lnTo>
                <a:lnTo>
                  <a:pt x="4493" y="34920"/>
                </a:lnTo>
                <a:lnTo>
                  <a:pt x="16746" y="16746"/>
                </a:lnTo>
                <a:lnTo>
                  <a:pt x="34920" y="4493"/>
                </a:lnTo>
                <a:lnTo>
                  <a:pt x="57176" y="0"/>
                </a:lnTo>
                <a:lnTo>
                  <a:pt x="8134323" y="0"/>
                </a:lnTo>
                <a:lnTo>
                  <a:pt x="8174752" y="16746"/>
                </a:lnTo>
                <a:lnTo>
                  <a:pt x="8191499" y="57176"/>
                </a:lnTo>
                <a:lnTo>
                  <a:pt x="8191499" y="266823"/>
                </a:lnTo>
                <a:lnTo>
                  <a:pt x="8187006" y="289079"/>
                </a:lnTo>
                <a:lnTo>
                  <a:pt x="8174753" y="307253"/>
                </a:lnTo>
                <a:lnTo>
                  <a:pt x="8156579" y="319506"/>
                </a:lnTo>
                <a:lnTo>
                  <a:pt x="8134323" y="323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95693" y="4021036"/>
            <a:ext cx="16776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FA923C"/>
                </a:solidFill>
                <a:latin typeface="Arial"/>
                <a:cs typeface="Arial"/>
              </a:rPr>
              <a:t>Cross-</a:t>
            </a:r>
            <a:r>
              <a:rPr dirty="0" sz="950" b="1">
                <a:solidFill>
                  <a:srgbClr val="FA923C"/>
                </a:solidFill>
                <a:latin typeface="Arial"/>
                <a:cs typeface="Arial"/>
              </a:rPr>
              <a:t>department</a:t>
            </a:r>
            <a:r>
              <a:rPr dirty="0" sz="950" spc="-25" b="1">
                <a:solidFill>
                  <a:srgbClr val="FA923C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A923C"/>
                </a:solidFill>
                <a:latin typeface="Arial"/>
                <a:cs typeface="Arial"/>
              </a:rPr>
              <a:t>rules</a:t>
            </a:r>
            <a:r>
              <a:rPr dirty="0" sz="950" spc="-25" b="1">
                <a:solidFill>
                  <a:srgbClr val="FA923C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A923C"/>
                </a:solidFill>
                <a:latin typeface="Arial"/>
                <a:cs typeface="Arial"/>
              </a:rPr>
              <a:t>(6.3)</a:t>
            </a:r>
            <a:endParaRPr sz="9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07366" y="4016019"/>
            <a:ext cx="3098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F7FAFC"/>
                </a:solidFill>
                <a:latin typeface="Microsoft Sans Serif"/>
                <a:cs typeface="Microsoft Sans Serif"/>
              </a:rPr>
              <a:t>1000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65980" y="4016019"/>
            <a:ext cx="2787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F7FAFC"/>
                </a:solidFill>
                <a:latin typeface="Microsoft Sans Serif"/>
                <a:cs typeface="Microsoft Sans Serif"/>
              </a:rPr>
              <a:t>0.05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06925" y="3959631"/>
            <a:ext cx="3514090" cy="2882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0"/>
              </a:spcBef>
            </a:pP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Cross-dept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8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20">
                <a:solidFill>
                  <a:srgbClr val="E1E7F0"/>
                </a:solidFill>
                <a:latin typeface="Microsoft Sans Serif"/>
                <a:cs typeface="Microsoft Sans Serif"/>
              </a:rPr>
              <a:t>are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broader</a:t>
            </a:r>
            <a:r>
              <a:rPr dirty="0" sz="8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8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weaker,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so</a:t>
            </a:r>
            <a:r>
              <a:rPr dirty="0" sz="8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slightly</a:t>
            </a:r>
            <a:r>
              <a:rPr dirty="0" sz="8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lower</a:t>
            </a:r>
            <a:r>
              <a:rPr dirty="0" sz="8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E1E7F0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850" spc="-25">
                <a:solidFill>
                  <a:srgbClr val="E1E7F0"/>
                </a:solidFill>
                <a:latin typeface="Microsoft Sans Serif"/>
                <a:cs typeface="Microsoft Sans Serif"/>
              </a:rPr>
              <a:t> was</a:t>
            </a:r>
            <a:r>
              <a:rPr dirty="0" sz="850" spc="-10">
                <a:solidFill>
                  <a:srgbClr val="E1E7F0"/>
                </a:solidFill>
                <a:latin typeface="Microsoft Sans Serif"/>
                <a:cs typeface="Microsoft Sans Serif"/>
              </a:rPr>
              <a:t> appropriate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81000" y="4524375"/>
            <a:ext cx="8382000" cy="429259"/>
            <a:chOff x="381000" y="4524375"/>
            <a:chExt cx="8382000" cy="429259"/>
          </a:xfrm>
        </p:grpSpPr>
        <p:sp>
          <p:nvSpPr>
            <p:cNvPr id="57" name="object 57"/>
            <p:cNvSpPr/>
            <p:nvPr/>
          </p:nvSpPr>
          <p:spPr>
            <a:xfrm>
              <a:off x="381000" y="452437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9868" y="4644808"/>
              <a:ext cx="101600" cy="139700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827639" y="4657508"/>
            <a:ext cx="8205470" cy="382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KEY</a:t>
            </a:r>
            <a:r>
              <a:rPr dirty="0" sz="1000" spc="-1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7FAFC"/>
                </a:solidFill>
                <a:latin typeface="Arial"/>
                <a:cs typeface="Arial"/>
              </a:rPr>
              <a:t>INSIGHT:</a:t>
            </a:r>
            <a:r>
              <a:rPr dirty="0" sz="1000" spc="145" b="1">
                <a:solidFill>
                  <a:srgbClr val="F7FAFC"/>
                </a:solidFill>
                <a:latin typeface="Arial"/>
                <a:cs typeface="Arial"/>
              </a:rPr>
              <a:t> 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provided</a:t>
            </a:r>
            <a:r>
              <a:rPr dirty="0" sz="90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Microsoft Sans Serif"/>
                <a:cs typeface="Microsoft Sans Serif"/>
              </a:rPr>
              <a:t>an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scalable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Microsoft Sans Serif"/>
                <a:cs typeface="Microsoft Sans Serif"/>
              </a:rPr>
              <a:t>way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to</a:t>
            </a:r>
            <a:r>
              <a:rPr dirty="0" sz="90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mine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purchasing</a:t>
            </a:r>
            <a:r>
              <a:rPr dirty="0" sz="90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patterns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across</a:t>
            </a:r>
            <a:r>
              <a:rPr dirty="0" sz="90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product,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Microsoft Sans Serif"/>
                <a:cs typeface="Microsoft Sans Serif"/>
              </a:rPr>
              <a:t>aisle,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900" spc="-3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4E1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9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CBD4E1"/>
                </a:solidFill>
                <a:latin typeface="Microsoft Sans Serif"/>
                <a:cs typeface="Microsoft Sans Serif"/>
              </a:rPr>
              <a:t>levels.</a:t>
            </a:r>
            <a:endParaRPr sz="900">
              <a:latin typeface="Microsoft Sans Serif"/>
              <a:cs typeface="Microsoft Sans Serif"/>
            </a:endParaRPr>
          </a:p>
          <a:p>
            <a:pPr algn="r" marR="508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879327" y="79935"/>
            <a:ext cx="11683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95"/>
              <a:t>Pattern</a:t>
            </a:r>
            <a:r>
              <a:rPr dirty="0" spc="-229"/>
              <a:t> </a:t>
            </a:r>
            <a:r>
              <a:rPr dirty="0" spc="55"/>
              <a:t>Mining</a:t>
            </a:r>
            <a:r>
              <a:rPr dirty="0" spc="-225"/>
              <a:t> </a:t>
            </a:r>
            <a:r>
              <a:rPr dirty="0" spc="55"/>
              <a:t>1: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901881" y="796604"/>
            <a:ext cx="4103370" cy="2353945"/>
            <a:chOff x="4901881" y="796604"/>
            <a:chExt cx="4103370" cy="2353945"/>
          </a:xfrm>
        </p:grpSpPr>
        <p:sp>
          <p:nvSpPr>
            <p:cNvPr id="5" name="object 5"/>
            <p:cNvSpPr/>
            <p:nvPr/>
          </p:nvSpPr>
          <p:spPr>
            <a:xfrm>
              <a:off x="4905374" y="800097"/>
              <a:ext cx="4096385" cy="2346960"/>
            </a:xfrm>
            <a:custGeom>
              <a:avLst/>
              <a:gdLst/>
              <a:ahLst/>
              <a:cxnLst/>
              <a:rect l="l" t="t" r="r" b="b"/>
              <a:pathLst>
                <a:path w="4096384" h="2346960">
                  <a:moveTo>
                    <a:pt x="4013076" y="2346940"/>
                  </a:moveTo>
                  <a:lnTo>
                    <a:pt x="82823" y="2346940"/>
                  </a:lnTo>
                  <a:lnTo>
                    <a:pt x="50585" y="2340432"/>
                  </a:lnTo>
                  <a:lnTo>
                    <a:pt x="24258" y="2322682"/>
                  </a:lnTo>
                  <a:lnTo>
                    <a:pt x="6508" y="2296355"/>
                  </a:lnTo>
                  <a:lnTo>
                    <a:pt x="0" y="2264117"/>
                  </a:lnTo>
                  <a:lnTo>
                    <a:pt x="0" y="82823"/>
                  </a:lnTo>
                  <a:lnTo>
                    <a:pt x="6508" y="50584"/>
                  </a:lnTo>
                  <a:lnTo>
                    <a:pt x="24258" y="24258"/>
                  </a:lnTo>
                  <a:lnTo>
                    <a:pt x="50585" y="6508"/>
                  </a:lnTo>
                  <a:lnTo>
                    <a:pt x="82823" y="0"/>
                  </a:lnTo>
                  <a:lnTo>
                    <a:pt x="4013076" y="0"/>
                  </a:lnTo>
                  <a:lnTo>
                    <a:pt x="4059027" y="13915"/>
                  </a:lnTo>
                  <a:lnTo>
                    <a:pt x="4089595" y="51128"/>
                  </a:lnTo>
                  <a:lnTo>
                    <a:pt x="4095900" y="82823"/>
                  </a:lnTo>
                  <a:lnTo>
                    <a:pt x="4095900" y="2264117"/>
                  </a:lnTo>
                  <a:lnTo>
                    <a:pt x="4089391" y="2296355"/>
                  </a:lnTo>
                  <a:lnTo>
                    <a:pt x="4071642" y="2322682"/>
                  </a:lnTo>
                  <a:lnTo>
                    <a:pt x="4045315" y="2340432"/>
                  </a:lnTo>
                  <a:lnTo>
                    <a:pt x="4013076" y="2346940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05374" y="800097"/>
              <a:ext cx="4096385" cy="2346960"/>
            </a:xfrm>
            <a:custGeom>
              <a:avLst/>
              <a:gdLst/>
              <a:ahLst/>
              <a:cxnLst/>
              <a:rect l="l" t="t" r="r" b="b"/>
              <a:pathLst>
                <a:path w="4096384" h="2346960">
                  <a:moveTo>
                    <a:pt x="0" y="82823"/>
                  </a:moveTo>
                  <a:lnTo>
                    <a:pt x="6508" y="50584"/>
                  </a:lnTo>
                  <a:lnTo>
                    <a:pt x="24258" y="24258"/>
                  </a:lnTo>
                  <a:lnTo>
                    <a:pt x="50585" y="6508"/>
                  </a:lnTo>
                  <a:lnTo>
                    <a:pt x="82823" y="0"/>
                  </a:lnTo>
                  <a:lnTo>
                    <a:pt x="4013076" y="0"/>
                  </a:lnTo>
                  <a:lnTo>
                    <a:pt x="4059027" y="13915"/>
                  </a:lnTo>
                  <a:lnTo>
                    <a:pt x="4089595" y="51128"/>
                  </a:lnTo>
                  <a:lnTo>
                    <a:pt x="4095900" y="82823"/>
                  </a:lnTo>
                  <a:lnTo>
                    <a:pt x="4095900" y="2264117"/>
                  </a:lnTo>
                  <a:lnTo>
                    <a:pt x="4089391" y="2296355"/>
                  </a:lnTo>
                  <a:lnTo>
                    <a:pt x="4071642" y="2322682"/>
                  </a:lnTo>
                  <a:lnTo>
                    <a:pt x="4045315" y="2340432"/>
                  </a:lnTo>
                  <a:lnTo>
                    <a:pt x="4013076" y="2346940"/>
                  </a:lnTo>
                  <a:lnTo>
                    <a:pt x="82823" y="2346940"/>
                  </a:lnTo>
                  <a:lnTo>
                    <a:pt x="50585" y="2340432"/>
                  </a:lnTo>
                  <a:lnTo>
                    <a:pt x="24258" y="2322682"/>
                  </a:lnTo>
                  <a:lnTo>
                    <a:pt x="6508" y="2296355"/>
                  </a:lnTo>
                  <a:lnTo>
                    <a:pt x="0" y="2264117"/>
                  </a:lnTo>
                  <a:lnTo>
                    <a:pt x="0" y="82823"/>
                  </a:lnTo>
                  <a:close/>
                </a:path>
              </a:pathLst>
            </a:custGeom>
            <a:ln w="68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423004" y="302830"/>
            <a:ext cx="4525645" cy="738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55" b="1">
                <a:solidFill>
                  <a:srgbClr val="37BDF7"/>
                </a:solidFill>
                <a:latin typeface="Arial"/>
                <a:cs typeface="Arial"/>
              </a:rPr>
              <a:t>Product-to-</a:t>
            </a:r>
            <a:r>
              <a:rPr dirty="0" sz="2600" spc="65" b="1">
                <a:solidFill>
                  <a:srgbClr val="37BDF7"/>
                </a:solidFill>
                <a:latin typeface="Arial"/>
                <a:cs typeface="Arial"/>
              </a:rPr>
              <a:t>Product</a:t>
            </a:r>
            <a:r>
              <a:rPr dirty="0" sz="2600" spc="-19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35" b="1">
                <a:solidFill>
                  <a:srgbClr val="37BDF7"/>
                </a:solidFill>
                <a:latin typeface="Arial"/>
                <a:cs typeface="Arial"/>
              </a:rPr>
              <a:t>Rules</a:t>
            </a:r>
            <a:endParaRPr sz="2600">
              <a:latin typeface="Arial"/>
              <a:cs typeface="Arial"/>
            </a:endParaRPr>
          </a:p>
          <a:p>
            <a:pPr marL="2548890">
              <a:lnSpc>
                <a:spcPct val="100000"/>
              </a:lnSpc>
              <a:spcBef>
                <a:spcPts val="1540"/>
              </a:spcBef>
            </a:pPr>
            <a:r>
              <a:rPr dirty="0" sz="800" spc="-25" b="1">
                <a:solidFill>
                  <a:srgbClr val="37BDF7"/>
                </a:solidFill>
                <a:latin typeface="Arial"/>
                <a:cs typeface="Arial"/>
              </a:rPr>
              <a:t>Top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Product-</a:t>
            </a:r>
            <a:r>
              <a:rPr dirty="0" sz="800" b="1">
                <a:solidFill>
                  <a:srgbClr val="37BDF7"/>
                </a:solidFill>
                <a:latin typeface="Arial"/>
                <a:cs typeface="Arial"/>
              </a:rPr>
              <a:t>to-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Product</a:t>
            </a:r>
            <a:r>
              <a:rPr dirty="0" sz="800" spc="-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Rules</a:t>
            </a:r>
            <a:r>
              <a:rPr dirty="0" sz="800" spc="-20" b="1">
                <a:solidFill>
                  <a:srgbClr val="37BDF7"/>
                </a:solidFill>
                <a:latin typeface="Arial"/>
                <a:cs typeface="Arial"/>
              </a:rPr>
              <a:t> in</a:t>
            </a:r>
            <a:r>
              <a:rPr dirty="0" sz="800" spc="-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00624" y="1110721"/>
            <a:ext cx="3905885" cy="172720"/>
          </a:xfrm>
          <a:custGeom>
            <a:avLst/>
            <a:gdLst/>
            <a:ahLst/>
            <a:cxnLst/>
            <a:rect l="l" t="t" r="r" b="b"/>
            <a:pathLst>
              <a:path w="3905884" h="172719">
                <a:moveTo>
                  <a:pt x="3877780" y="172623"/>
                </a:moveTo>
                <a:lnTo>
                  <a:pt x="27619" y="172623"/>
                </a:lnTo>
                <a:lnTo>
                  <a:pt x="16869" y="170453"/>
                </a:lnTo>
                <a:lnTo>
                  <a:pt x="8089" y="164533"/>
                </a:lnTo>
                <a:lnTo>
                  <a:pt x="2170" y="155754"/>
                </a:lnTo>
                <a:lnTo>
                  <a:pt x="0" y="145003"/>
                </a:lnTo>
                <a:lnTo>
                  <a:pt x="0" y="27619"/>
                </a:lnTo>
                <a:lnTo>
                  <a:pt x="2170" y="16868"/>
                </a:lnTo>
                <a:lnTo>
                  <a:pt x="8089" y="8089"/>
                </a:lnTo>
                <a:lnTo>
                  <a:pt x="16869" y="2170"/>
                </a:lnTo>
                <a:lnTo>
                  <a:pt x="27619" y="0"/>
                </a:lnTo>
                <a:lnTo>
                  <a:pt x="3885105" y="0"/>
                </a:lnTo>
                <a:lnTo>
                  <a:pt x="3892130" y="2909"/>
                </a:lnTo>
                <a:lnTo>
                  <a:pt x="3902490" y="13269"/>
                </a:lnTo>
                <a:lnTo>
                  <a:pt x="3905400" y="20294"/>
                </a:lnTo>
                <a:lnTo>
                  <a:pt x="3905400" y="145003"/>
                </a:lnTo>
                <a:lnTo>
                  <a:pt x="3903230" y="155754"/>
                </a:lnTo>
                <a:lnTo>
                  <a:pt x="3897310" y="164533"/>
                </a:lnTo>
                <a:lnTo>
                  <a:pt x="3888531" y="170453"/>
                </a:lnTo>
                <a:lnTo>
                  <a:pt x="3877780" y="172623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54600" y="1138525"/>
            <a:ext cx="286258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39264" algn="l"/>
                <a:tab pos="2567305" algn="l"/>
              </a:tabLst>
            </a:pPr>
            <a:r>
              <a:rPr dirty="0" sz="550" spc="-20" b="1">
                <a:solidFill>
                  <a:srgbClr val="37BDF7"/>
                </a:solidFill>
                <a:latin typeface="Arial"/>
                <a:cs typeface="Arial"/>
              </a:rPr>
              <a:t>Rule</a:t>
            </a:r>
            <a:r>
              <a:rPr dirty="0" sz="550" b="1">
                <a:solidFill>
                  <a:srgbClr val="37BDF7"/>
                </a:solidFill>
                <a:latin typeface="Arial"/>
                <a:cs typeface="Arial"/>
              </a:rPr>
              <a:t>	Support</a:t>
            </a:r>
            <a:r>
              <a:rPr dirty="0" sz="550" spc="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Count</a:t>
            </a:r>
            <a:r>
              <a:rPr dirty="0" sz="550" b="1">
                <a:solidFill>
                  <a:srgbClr val="37BDF7"/>
                </a:solidFill>
                <a:latin typeface="Arial"/>
                <a:cs typeface="Arial"/>
              </a:rPr>
              <a:t>	</a:t>
            </a: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Support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10358" y="1138525"/>
            <a:ext cx="42989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Confidence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00624" y="1317804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4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4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54600" y="1414820"/>
            <a:ext cx="151320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Strawberries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Bag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3016" y="1414636"/>
            <a:ext cx="19177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20">
                <a:solidFill>
                  <a:srgbClr val="F7FAFC"/>
                </a:solidFill>
                <a:latin typeface="Microsoft Sans Serif"/>
                <a:cs typeface="Microsoft Sans Serif"/>
              </a:rPr>
              <a:t>3074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37319" y="1414636"/>
            <a:ext cx="25146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0.0317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97297" y="1414636"/>
            <a:ext cx="255904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0.2822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00624" y="1662943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3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3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54600" y="1759958"/>
            <a:ext cx="157035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Hass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Avocado</a:t>
            </a:r>
            <a:r>
              <a:rPr dirty="0" sz="5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Bag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5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52722" y="1759774"/>
            <a:ext cx="1924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20">
                <a:solidFill>
                  <a:srgbClr val="F7FAFC"/>
                </a:solidFill>
                <a:latin typeface="Microsoft Sans Serif"/>
                <a:cs typeface="Microsoft Sans Serif"/>
              </a:rPr>
              <a:t>2420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34967" y="1759774"/>
            <a:ext cx="25654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0.0250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8547" y="1759774"/>
            <a:ext cx="2533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0.3318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00612" y="2008085"/>
            <a:ext cx="3905885" cy="655955"/>
          </a:xfrm>
          <a:custGeom>
            <a:avLst/>
            <a:gdLst/>
            <a:ahLst/>
            <a:cxnLst/>
            <a:rect l="l" t="t" r="r" b="b"/>
            <a:pathLst>
              <a:path w="3905884" h="655955">
                <a:moveTo>
                  <a:pt x="3905402" y="365429"/>
                </a:moveTo>
                <a:lnTo>
                  <a:pt x="3902494" y="358406"/>
                </a:lnTo>
                <a:lnTo>
                  <a:pt x="3892143" y="348043"/>
                </a:lnTo>
                <a:lnTo>
                  <a:pt x="3885120" y="345135"/>
                </a:lnTo>
                <a:lnTo>
                  <a:pt x="27622" y="345135"/>
                </a:lnTo>
                <a:lnTo>
                  <a:pt x="16865" y="347306"/>
                </a:lnTo>
                <a:lnTo>
                  <a:pt x="8089" y="353225"/>
                </a:lnTo>
                <a:lnTo>
                  <a:pt x="2171" y="362000"/>
                </a:lnTo>
                <a:lnTo>
                  <a:pt x="0" y="372757"/>
                </a:lnTo>
                <a:lnTo>
                  <a:pt x="0" y="628205"/>
                </a:lnTo>
                <a:lnTo>
                  <a:pt x="2171" y="638949"/>
                </a:lnTo>
                <a:lnTo>
                  <a:pt x="8089" y="647725"/>
                </a:lnTo>
                <a:lnTo>
                  <a:pt x="16865" y="653643"/>
                </a:lnTo>
                <a:lnTo>
                  <a:pt x="27622" y="655815"/>
                </a:lnTo>
                <a:lnTo>
                  <a:pt x="3877792" y="655815"/>
                </a:lnTo>
                <a:lnTo>
                  <a:pt x="3888536" y="653643"/>
                </a:lnTo>
                <a:lnTo>
                  <a:pt x="3897312" y="647725"/>
                </a:lnTo>
                <a:lnTo>
                  <a:pt x="3903230" y="638949"/>
                </a:lnTo>
                <a:lnTo>
                  <a:pt x="3905402" y="628205"/>
                </a:lnTo>
                <a:lnTo>
                  <a:pt x="3905402" y="365429"/>
                </a:lnTo>
                <a:close/>
              </a:path>
              <a:path w="3905884" h="655955">
                <a:moveTo>
                  <a:pt x="3905402" y="20294"/>
                </a:moveTo>
                <a:lnTo>
                  <a:pt x="3902494" y="13271"/>
                </a:lnTo>
                <a:lnTo>
                  <a:pt x="3892143" y="2908"/>
                </a:lnTo>
                <a:lnTo>
                  <a:pt x="3885120" y="0"/>
                </a:lnTo>
                <a:lnTo>
                  <a:pt x="27622" y="0"/>
                </a:lnTo>
                <a:lnTo>
                  <a:pt x="16865" y="2171"/>
                </a:lnTo>
                <a:lnTo>
                  <a:pt x="8089" y="8089"/>
                </a:lnTo>
                <a:lnTo>
                  <a:pt x="2171" y="16865"/>
                </a:lnTo>
                <a:lnTo>
                  <a:pt x="0" y="27609"/>
                </a:lnTo>
                <a:lnTo>
                  <a:pt x="0" y="283070"/>
                </a:lnTo>
                <a:lnTo>
                  <a:pt x="2171" y="293814"/>
                </a:lnTo>
                <a:lnTo>
                  <a:pt x="8089" y="302590"/>
                </a:lnTo>
                <a:lnTo>
                  <a:pt x="16865" y="308508"/>
                </a:lnTo>
                <a:lnTo>
                  <a:pt x="27622" y="310680"/>
                </a:lnTo>
                <a:lnTo>
                  <a:pt x="3877792" y="310680"/>
                </a:lnTo>
                <a:lnTo>
                  <a:pt x="3888536" y="308508"/>
                </a:lnTo>
                <a:lnTo>
                  <a:pt x="3897312" y="302590"/>
                </a:lnTo>
                <a:lnTo>
                  <a:pt x="3903230" y="293814"/>
                </a:lnTo>
                <a:lnTo>
                  <a:pt x="3905402" y="283070"/>
                </a:lnTo>
                <a:lnTo>
                  <a:pt x="3905402" y="20294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45297" y="2126219"/>
          <a:ext cx="3693160" cy="42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0"/>
                <a:gridCol w="610869"/>
                <a:gridCol w="753744"/>
                <a:gridCol w="518160"/>
              </a:tblGrid>
              <a:tr h="212725">
                <a:tc>
                  <a:txBody>
                    <a:bodyPr/>
                    <a:lstStyle/>
                    <a:p>
                      <a:pPr marL="21590">
                        <a:lnSpc>
                          <a:spcPts val="585"/>
                        </a:lnSpc>
                      </a:pP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Organic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Baby</a:t>
                      </a:r>
                      <a:r>
                        <a:rPr dirty="0" sz="550" spc="-2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Spinach</a:t>
                      </a:r>
                      <a:r>
                        <a:rPr dirty="0" sz="550" spc="-2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Bag</a:t>
                      </a:r>
                      <a:r>
                        <a:rPr dirty="0" sz="550" spc="-2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dirty="0" sz="550" spc="-2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Organic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Bananas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4135">
                        <a:lnSpc>
                          <a:spcPts val="620"/>
                        </a:lnSpc>
                      </a:pPr>
                      <a:r>
                        <a:rPr dirty="0" sz="550" spc="-2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2236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0.0231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0.2285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590">
                        <a:lnSpc>
                          <a:spcPts val="605"/>
                        </a:lnSpc>
                      </a:pP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Organic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Avocado</a:t>
                      </a:r>
                      <a:r>
                        <a:rPr dirty="0" sz="550" spc="-2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-2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Banana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R="64135">
                        <a:lnSpc>
                          <a:spcPts val="570"/>
                        </a:lnSpc>
                      </a:pPr>
                      <a:r>
                        <a:rPr dirty="0" sz="550" spc="-2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2216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0.0229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15875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0.2991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5000624" y="2698358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4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4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054600" y="2795373"/>
            <a:ext cx="76327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Large</a:t>
            </a:r>
            <a:r>
              <a:rPr dirty="0" sz="5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Lemon</a:t>
            </a:r>
            <a:r>
              <a:rPr dirty="0" sz="5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53788" y="2795189"/>
            <a:ext cx="189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20">
                <a:solidFill>
                  <a:srgbClr val="F7FAFC"/>
                </a:solidFill>
                <a:latin typeface="Microsoft Sans Serif"/>
                <a:cs typeface="Microsoft Sans Serif"/>
              </a:rPr>
              <a:t>2158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35113" y="2795189"/>
            <a:ext cx="255904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0.0223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6967" y="2795189"/>
            <a:ext cx="25654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0.2653</a:t>
            </a:r>
            <a:endParaRPr sz="5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243" y="884555"/>
            <a:ext cx="4589780" cy="740410"/>
            <a:chOff x="51243" y="884555"/>
            <a:chExt cx="4589780" cy="740410"/>
          </a:xfrm>
        </p:grpSpPr>
        <p:sp>
          <p:nvSpPr>
            <p:cNvPr id="29" name="object 29"/>
            <p:cNvSpPr/>
            <p:nvPr/>
          </p:nvSpPr>
          <p:spPr>
            <a:xfrm>
              <a:off x="54280" y="887593"/>
              <a:ext cx="4583430" cy="734060"/>
            </a:xfrm>
            <a:custGeom>
              <a:avLst/>
              <a:gdLst/>
              <a:ahLst/>
              <a:cxnLst/>
              <a:rect l="l" t="t" r="r" b="b"/>
              <a:pathLst>
                <a:path w="4583430" h="734060">
                  <a:moveTo>
                    <a:pt x="4524612" y="733740"/>
                  </a:moveTo>
                  <a:lnTo>
                    <a:pt x="58699" y="733740"/>
                  </a:lnTo>
                  <a:lnTo>
                    <a:pt x="35850" y="729127"/>
                  </a:lnTo>
                  <a:lnTo>
                    <a:pt x="17192" y="716547"/>
                  </a:lnTo>
                  <a:lnTo>
                    <a:pt x="4612" y="697889"/>
                  </a:lnTo>
                  <a:lnTo>
                    <a:pt x="0" y="675040"/>
                  </a:lnTo>
                  <a:lnTo>
                    <a:pt x="0" y="58699"/>
                  </a:lnTo>
                  <a:lnTo>
                    <a:pt x="4612" y="35850"/>
                  </a:lnTo>
                  <a:lnTo>
                    <a:pt x="17192" y="17192"/>
                  </a:lnTo>
                  <a:lnTo>
                    <a:pt x="35850" y="4612"/>
                  </a:lnTo>
                  <a:lnTo>
                    <a:pt x="58699" y="0"/>
                  </a:lnTo>
                  <a:lnTo>
                    <a:pt x="4524612" y="0"/>
                  </a:lnTo>
                  <a:lnTo>
                    <a:pt x="4566119" y="17192"/>
                  </a:lnTo>
                  <a:lnTo>
                    <a:pt x="4583311" y="58699"/>
                  </a:lnTo>
                  <a:lnTo>
                    <a:pt x="4583311" y="675040"/>
                  </a:lnTo>
                  <a:lnTo>
                    <a:pt x="4578699" y="697889"/>
                  </a:lnTo>
                  <a:lnTo>
                    <a:pt x="4566119" y="716547"/>
                  </a:lnTo>
                  <a:lnTo>
                    <a:pt x="4547461" y="729127"/>
                  </a:lnTo>
                  <a:lnTo>
                    <a:pt x="4524612" y="733740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4280" y="887593"/>
              <a:ext cx="4583430" cy="734060"/>
            </a:xfrm>
            <a:custGeom>
              <a:avLst/>
              <a:gdLst/>
              <a:ahLst/>
              <a:cxnLst/>
              <a:rect l="l" t="t" r="r" b="b"/>
              <a:pathLst>
                <a:path w="4583430" h="734060">
                  <a:moveTo>
                    <a:pt x="0" y="58699"/>
                  </a:moveTo>
                  <a:lnTo>
                    <a:pt x="4612" y="35850"/>
                  </a:lnTo>
                  <a:lnTo>
                    <a:pt x="17192" y="17192"/>
                  </a:lnTo>
                  <a:lnTo>
                    <a:pt x="35850" y="4612"/>
                  </a:lnTo>
                  <a:lnTo>
                    <a:pt x="58699" y="0"/>
                  </a:lnTo>
                  <a:lnTo>
                    <a:pt x="4524612" y="0"/>
                  </a:lnTo>
                  <a:lnTo>
                    <a:pt x="4566119" y="17192"/>
                  </a:lnTo>
                  <a:lnTo>
                    <a:pt x="4583311" y="58699"/>
                  </a:lnTo>
                  <a:lnTo>
                    <a:pt x="4583311" y="675040"/>
                  </a:lnTo>
                  <a:lnTo>
                    <a:pt x="4578699" y="697889"/>
                  </a:lnTo>
                  <a:lnTo>
                    <a:pt x="4566119" y="716547"/>
                  </a:lnTo>
                  <a:lnTo>
                    <a:pt x="4547461" y="729127"/>
                  </a:lnTo>
                  <a:lnTo>
                    <a:pt x="4524612" y="733740"/>
                  </a:lnTo>
                  <a:lnTo>
                    <a:pt x="58699" y="733740"/>
                  </a:lnTo>
                  <a:lnTo>
                    <a:pt x="35850" y="729127"/>
                  </a:lnTo>
                  <a:lnTo>
                    <a:pt x="17192" y="716547"/>
                  </a:lnTo>
                  <a:lnTo>
                    <a:pt x="4612" y="697889"/>
                  </a:lnTo>
                  <a:lnTo>
                    <a:pt x="0" y="675040"/>
                  </a:lnTo>
                  <a:lnTo>
                    <a:pt x="0" y="58699"/>
                  </a:lnTo>
                  <a:close/>
                </a:path>
              </a:pathLst>
            </a:custGeom>
            <a:ln w="607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0" y="941866"/>
              <a:ext cx="69850" cy="920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7980" y="857185"/>
            <a:ext cx="2158365" cy="58928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590"/>
              </a:spcBef>
            </a:pPr>
            <a:r>
              <a:rPr dirty="0" sz="900" spc="-20" b="1">
                <a:solidFill>
                  <a:srgbClr val="37BDF7"/>
                </a:solidFill>
                <a:latin typeface="Arial"/>
                <a:cs typeface="Arial"/>
              </a:rPr>
              <a:t>ANALYSIS FOCUS</a:t>
            </a:r>
            <a:endParaRPr sz="900">
              <a:latin typeface="Arial"/>
              <a:cs typeface="Arial"/>
            </a:endParaRPr>
          </a:p>
          <a:p>
            <a:pPr marL="208279" indent="-195580">
              <a:lnSpc>
                <a:spcPct val="100000"/>
              </a:lnSpc>
              <a:spcBef>
                <a:spcPts val="360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Built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product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baskets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from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orders</a:t>
            </a:r>
            <a:endParaRPr sz="650">
              <a:latin typeface="Microsoft Sans Serif"/>
              <a:cs typeface="Microsoft Sans Serif"/>
            </a:endParaRPr>
          </a:p>
          <a:p>
            <a:pPr marL="208279" marR="5080" indent="-196215">
              <a:lnSpc>
                <a:spcPts val="750"/>
              </a:lnSpc>
              <a:spcBef>
                <a:spcPts val="24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Applied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mine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product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itemsets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34" name="object 34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9444" y="4748797"/>
              <a:ext cx="88900" cy="1270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107510" y="4767847"/>
            <a:ext cx="7179309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Product-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level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rules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showed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bananas,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berries,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avocados,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spinach,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lemons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formed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some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recurring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co-purchase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patterns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within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Produce.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53062" y="3354550"/>
            <a:ext cx="4200525" cy="1130935"/>
            <a:chOff x="4853062" y="3354550"/>
            <a:chExt cx="4200525" cy="1130935"/>
          </a:xfrm>
        </p:grpSpPr>
        <p:sp>
          <p:nvSpPr>
            <p:cNvPr id="38" name="object 38"/>
            <p:cNvSpPr/>
            <p:nvPr/>
          </p:nvSpPr>
          <p:spPr>
            <a:xfrm>
              <a:off x="4857824" y="3359313"/>
              <a:ext cx="4191000" cy="1121410"/>
            </a:xfrm>
            <a:custGeom>
              <a:avLst/>
              <a:gdLst/>
              <a:ahLst/>
              <a:cxnLst/>
              <a:rect l="l" t="t" r="r" b="b"/>
              <a:pathLst>
                <a:path w="4191000" h="1121410">
                  <a:moveTo>
                    <a:pt x="4068716" y="1121043"/>
                  </a:moveTo>
                  <a:lnTo>
                    <a:pt x="122283" y="1121043"/>
                  </a:lnTo>
                  <a:lnTo>
                    <a:pt x="74685" y="1111433"/>
                  </a:lnTo>
                  <a:lnTo>
                    <a:pt x="35815" y="1085227"/>
                  </a:lnTo>
                  <a:lnTo>
                    <a:pt x="9609" y="1046358"/>
                  </a:lnTo>
                  <a:lnTo>
                    <a:pt x="0" y="998759"/>
                  </a:lnTo>
                  <a:lnTo>
                    <a:pt x="0" y="122283"/>
                  </a:lnTo>
                  <a:lnTo>
                    <a:pt x="9609" y="74685"/>
                  </a:lnTo>
                  <a:lnTo>
                    <a:pt x="35815" y="35816"/>
                  </a:lnTo>
                  <a:lnTo>
                    <a:pt x="74685" y="9609"/>
                  </a:lnTo>
                  <a:lnTo>
                    <a:pt x="122283" y="0"/>
                  </a:lnTo>
                  <a:lnTo>
                    <a:pt x="4068716" y="0"/>
                  </a:lnTo>
                  <a:lnTo>
                    <a:pt x="4115512" y="9308"/>
                  </a:lnTo>
                  <a:lnTo>
                    <a:pt x="4155184" y="35815"/>
                  </a:lnTo>
                  <a:lnTo>
                    <a:pt x="4181691" y="75487"/>
                  </a:lnTo>
                  <a:lnTo>
                    <a:pt x="4190999" y="122283"/>
                  </a:lnTo>
                  <a:lnTo>
                    <a:pt x="4190999" y="998759"/>
                  </a:lnTo>
                  <a:lnTo>
                    <a:pt x="4181390" y="1046358"/>
                  </a:lnTo>
                  <a:lnTo>
                    <a:pt x="4155183" y="1085227"/>
                  </a:lnTo>
                  <a:lnTo>
                    <a:pt x="4116314" y="1111433"/>
                  </a:lnTo>
                  <a:lnTo>
                    <a:pt x="4068716" y="1121043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57824" y="3359313"/>
              <a:ext cx="4191000" cy="1121410"/>
            </a:xfrm>
            <a:custGeom>
              <a:avLst/>
              <a:gdLst/>
              <a:ahLst/>
              <a:cxnLst/>
              <a:rect l="l" t="t" r="r" b="b"/>
              <a:pathLst>
                <a:path w="4191000" h="1121410">
                  <a:moveTo>
                    <a:pt x="0" y="122283"/>
                  </a:moveTo>
                  <a:lnTo>
                    <a:pt x="9609" y="74685"/>
                  </a:lnTo>
                  <a:lnTo>
                    <a:pt x="35815" y="35816"/>
                  </a:lnTo>
                  <a:lnTo>
                    <a:pt x="74685" y="9609"/>
                  </a:lnTo>
                  <a:lnTo>
                    <a:pt x="122283" y="0"/>
                  </a:lnTo>
                  <a:lnTo>
                    <a:pt x="4068716" y="0"/>
                  </a:lnTo>
                  <a:lnTo>
                    <a:pt x="4115512" y="9308"/>
                  </a:lnTo>
                  <a:lnTo>
                    <a:pt x="4155184" y="35815"/>
                  </a:lnTo>
                  <a:lnTo>
                    <a:pt x="4181691" y="75487"/>
                  </a:lnTo>
                  <a:lnTo>
                    <a:pt x="4190999" y="122283"/>
                  </a:lnTo>
                  <a:lnTo>
                    <a:pt x="4190999" y="998759"/>
                  </a:lnTo>
                  <a:lnTo>
                    <a:pt x="4181390" y="1046358"/>
                  </a:lnTo>
                  <a:lnTo>
                    <a:pt x="4155183" y="1085227"/>
                  </a:lnTo>
                  <a:lnTo>
                    <a:pt x="4116314" y="1111433"/>
                  </a:lnTo>
                  <a:lnTo>
                    <a:pt x="4068716" y="1121043"/>
                  </a:lnTo>
                  <a:lnTo>
                    <a:pt x="122283" y="1121043"/>
                  </a:lnTo>
                  <a:lnTo>
                    <a:pt x="74685" y="1111433"/>
                  </a:lnTo>
                  <a:lnTo>
                    <a:pt x="35815" y="1085227"/>
                  </a:lnTo>
                  <a:lnTo>
                    <a:pt x="9609" y="1046358"/>
                  </a:lnTo>
                  <a:lnTo>
                    <a:pt x="0" y="998759"/>
                  </a:lnTo>
                  <a:lnTo>
                    <a:pt x="0" y="122283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0049" y="3404305"/>
              <a:ext cx="107950" cy="1143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087640" y="3406209"/>
            <a:ext cx="108140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37BDF7"/>
                </a:solidFill>
                <a:latin typeface="Arial"/>
                <a:cs typeface="Arial"/>
              </a:rPr>
              <a:t>INTERPRETATION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85540" y="3644064"/>
            <a:ext cx="3689985" cy="74041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29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Bananas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appeared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as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central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product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in</a:t>
            </a:r>
            <a:r>
              <a:rPr dirty="0" sz="7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rule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mining</a:t>
            </a:r>
            <a:endParaRPr sz="700">
              <a:latin typeface="Microsoft Sans Serif"/>
              <a:cs typeface="Microsoft Sans Serif"/>
            </a:endParaRPr>
          </a:p>
          <a:p>
            <a:pPr marL="328930" indent="-316230">
              <a:lnSpc>
                <a:spcPct val="100000"/>
              </a:lnSpc>
              <a:spcBef>
                <a:spcPts val="73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Berries,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avocados,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spinach,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lemons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frequently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appeared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with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banana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endParaRPr sz="700">
              <a:latin typeface="Microsoft Sans Serif"/>
              <a:cs typeface="Microsoft Sans Serif"/>
            </a:endParaRPr>
          </a:p>
          <a:p>
            <a:pPr marL="328930" indent="-316230">
              <a:lnSpc>
                <a:spcPct val="100000"/>
              </a:lnSpc>
              <a:spcBef>
                <a:spcPts val="73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7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show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strong</a:t>
            </a:r>
            <a:r>
              <a:rPr dirty="0" sz="7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co-purchase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behavior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among</a:t>
            </a:r>
            <a:r>
              <a:rPr dirty="0" sz="7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common</a:t>
            </a:r>
            <a:r>
              <a:rPr dirty="0" sz="7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staple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items</a:t>
            </a:r>
            <a:endParaRPr sz="700">
              <a:latin typeface="Microsoft Sans Serif"/>
              <a:cs typeface="Microsoft Sans Serif"/>
            </a:endParaRPr>
          </a:p>
          <a:p>
            <a:pPr marL="328930" indent="-316230">
              <a:lnSpc>
                <a:spcPct val="100000"/>
              </a:lnSpc>
              <a:spcBef>
                <a:spcPts val="509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demand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is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shaped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by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repeated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combinations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everyday</a:t>
            </a:r>
            <a:r>
              <a:rPr dirty="0" sz="7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foods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8219" y="2538318"/>
            <a:ext cx="4584700" cy="2018030"/>
            <a:chOff x="58219" y="2538318"/>
            <a:chExt cx="4584700" cy="2018030"/>
          </a:xfrm>
        </p:grpSpPr>
        <p:sp>
          <p:nvSpPr>
            <p:cNvPr id="44" name="object 44"/>
            <p:cNvSpPr/>
            <p:nvPr/>
          </p:nvSpPr>
          <p:spPr>
            <a:xfrm>
              <a:off x="62981" y="2543081"/>
              <a:ext cx="4575175" cy="2008505"/>
            </a:xfrm>
            <a:custGeom>
              <a:avLst/>
              <a:gdLst/>
              <a:ahLst/>
              <a:cxnLst/>
              <a:rect l="l" t="t" r="r" b="b"/>
              <a:pathLst>
                <a:path w="4575175" h="2008504">
                  <a:moveTo>
                    <a:pt x="4470041" y="2008398"/>
                  </a:moveTo>
                  <a:lnTo>
                    <a:pt x="104758" y="2008398"/>
                  </a:lnTo>
                  <a:lnTo>
                    <a:pt x="63981" y="2000165"/>
                  </a:lnTo>
                  <a:lnTo>
                    <a:pt x="30682" y="1977715"/>
                  </a:lnTo>
                  <a:lnTo>
                    <a:pt x="8232" y="1944416"/>
                  </a:lnTo>
                  <a:lnTo>
                    <a:pt x="0" y="1903639"/>
                  </a:lnTo>
                  <a:lnTo>
                    <a:pt x="0" y="104758"/>
                  </a:lnTo>
                  <a:lnTo>
                    <a:pt x="8232" y="63981"/>
                  </a:lnTo>
                  <a:lnTo>
                    <a:pt x="30682" y="30682"/>
                  </a:lnTo>
                  <a:lnTo>
                    <a:pt x="63981" y="8232"/>
                  </a:lnTo>
                  <a:lnTo>
                    <a:pt x="104758" y="0"/>
                  </a:lnTo>
                  <a:lnTo>
                    <a:pt x="4470041" y="0"/>
                  </a:lnTo>
                  <a:lnTo>
                    <a:pt x="4510130" y="7974"/>
                  </a:lnTo>
                  <a:lnTo>
                    <a:pt x="4544116" y="30682"/>
                  </a:lnTo>
                  <a:lnTo>
                    <a:pt x="4566824" y="64669"/>
                  </a:lnTo>
                  <a:lnTo>
                    <a:pt x="4574798" y="104758"/>
                  </a:lnTo>
                  <a:lnTo>
                    <a:pt x="4574798" y="1903639"/>
                  </a:lnTo>
                  <a:lnTo>
                    <a:pt x="4566566" y="1944416"/>
                  </a:lnTo>
                  <a:lnTo>
                    <a:pt x="4544116" y="1977715"/>
                  </a:lnTo>
                  <a:lnTo>
                    <a:pt x="4510817" y="2000165"/>
                  </a:lnTo>
                  <a:lnTo>
                    <a:pt x="4470041" y="2008398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2981" y="2543081"/>
              <a:ext cx="4575175" cy="2008505"/>
            </a:xfrm>
            <a:custGeom>
              <a:avLst/>
              <a:gdLst/>
              <a:ahLst/>
              <a:cxnLst/>
              <a:rect l="l" t="t" r="r" b="b"/>
              <a:pathLst>
                <a:path w="4575175" h="2008504">
                  <a:moveTo>
                    <a:pt x="0" y="104758"/>
                  </a:moveTo>
                  <a:lnTo>
                    <a:pt x="8232" y="63981"/>
                  </a:lnTo>
                  <a:lnTo>
                    <a:pt x="30682" y="30682"/>
                  </a:lnTo>
                  <a:lnTo>
                    <a:pt x="63981" y="8232"/>
                  </a:lnTo>
                  <a:lnTo>
                    <a:pt x="104758" y="0"/>
                  </a:lnTo>
                  <a:lnTo>
                    <a:pt x="4470041" y="0"/>
                  </a:lnTo>
                  <a:lnTo>
                    <a:pt x="4510130" y="7974"/>
                  </a:lnTo>
                  <a:lnTo>
                    <a:pt x="4544116" y="30682"/>
                  </a:lnTo>
                  <a:lnTo>
                    <a:pt x="4566824" y="64669"/>
                  </a:lnTo>
                  <a:lnTo>
                    <a:pt x="4574798" y="104758"/>
                  </a:lnTo>
                  <a:lnTo>
                    <a:pt x="4574798" y="1903639"/>
                  </a:lnTo>
                  <a:lnTo>
                    <a:pt x="4566566" y="1944416"/>
                  </a:lnTo>
                  <a:lnTo>
                    <a:pt x="4544116" y="1977715"/>
                  </a:lnTo>
                  <a:lnTo>
                    <a:pt x="4510817" y="2000165"/>
                  </a:lnTo>
                  <a:lnTo>
                    <a:pt x="4470041" y="2008398"/>
                  </a:lnTo>
                  <a:lnTo>
                    <a:pt x="104758" y="2008398"/>
                  </a:lnTo>
                  <a:lnTo>
                    <a:pt x="63981" y="2000165"/>
                  </a:lnTo>
                  <a:lnTo>
                    <a:pt x="30682" y="1977715"/>
                  </a:lnTo>
                  <a:lnTo>
                    <a:pt x="8232" y="1944416"/>
                  </a:lnTo>
                  <a:lnTo>
                    <a:pt x="0" y="1903639"/>
                  </a:lnTo>
                  <a:lnTo>
                    <a:pt x="0" y="104758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02" y="2558427"/>
              <a:ext cx="165100" cy="1270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2745358"/>
              <a:ext cx="69850" cy="6032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8922" y="2561602"/>
            <a:ext cx="326199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1100" spc="-1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Banana-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related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products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repeatedly appeared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as the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strongest connection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points in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 rule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mining.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1811" y="2916808"/>
            <a:ext cx="69850" cy="403225"/>
            <a:chOff x="61811" y="2916808"/>
            <a:chExt cx="69850" cy="403225"/>
          </a:xfrm>
        </p:grpSpPr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2916808"/>
              <a:ext cx="69850" cy="6032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3088258"/>
              <a:ext cx="69850" cy="6032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3259708"/>
              <a:ext cx="69850" cy="60325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18911" y="2900933"/>
            <a:ext cx="41706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Organic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berries,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avocados,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spinach,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lemons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were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often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linked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banana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purchases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order.</a:t>
            </a:r>
            <a:endParaRPr sz="550">
              <a:latin typeface="Arial MT"/>
              <a:cs typeface="Arial MT"/>
            </a:endParaRPr>
          </a:p>
          <a:p>
            <a:pPr marL="52705" marR="5080">
              <a:lnSpc>
                <a:spcPct val="204500"/>
              </a:lnSpc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strongest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rules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suggest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customers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frequently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buy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recurring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staple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combinations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rather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isolated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single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items.</a:t>
            </a:r>
            <a:r>
              <a:rPr dirty="0" sz="5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Product-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FP-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Growth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revealed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 tightly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connected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of popular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fresh-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food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items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within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 Produce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department.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55875" y="3544871"/>
            <a:ext cx="157480" cy="362585"/>
            <a:chOff x="155875" y="3544871"/>
            <a:chExt cx="157480" cy="362585"/>
          </a:xfrm>
        </p:grpSpPr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817" y="3544871"/>
              <a:ext cx="152400" cy="1206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875" y="3849888"/>
              <a:ext cx="57150" cy="5715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272148" y="3541696"/>
            <a:ext cx="3589020" cy="41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60A5FA"/>
                </a:solidFill>
                <a:latin typeface="Arial"/>
                <a:cs typeface="Arial"/>
              </a:rPr>
              <a:t>WHY</a:t>
            </a:r>
            <a:r>
              <a:rPr dirty="0" sz="1100" spc="-85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60A5FA"/>
                </a:solidFill>
                <a:latin typeface="Arial"/>
                <a:cs typeface="Arial"/>
              </a:rPr>
              <a:t>THESE </a:t>
            </a:r>
            <a:r>
              <a:rPr dirty="0" sz="1100" spc="-10" b="1">
                <a:solidFill>
                  <a:srgbClr val="60A5FA"/>
                </a:solidFill>
                <a:latin typeface="Arial"/>
                <a:cs typeface="Arial"/>
              </a:rPr>
              <a:t>THRESHOLDS?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Support</a:t>
            </a:r>
            <a:r>
              <a:rPr dirty="0" sz="700" spc="-20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count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500</a:t>
            </a:r>
            <a:r>
              <a:rPr dirty="0" sz="700" spc="-2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kept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product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patterns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without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including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too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many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rare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rules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58" name="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875" y="4063248"/>
            <a:ext cx="57150" cy="57150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272148" y="4034673"/>
            <a:ext cx="411480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60A5FA"/>
                </a:solidFill>
                <a:latin typeface="Microsoft Sans Serif"/>
                <a:cs typeface="Microsoft Sans Serif"/>
              </a:rPr>
              <a:t>0.10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latin typeface="Microsoft Sans Serif"/>
                <a:cs typeface="Microsoft Sans Serif"/>
              </a:rPr>
              <a:t>r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emoved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weak</a:t>
            </a:r>
            <a:r>
              <a:rPr dirty="0" sz="7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associations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while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keeping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useful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grocery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co-purchase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behavior</a:t>
            </a:r>
            <a:r>
              <a:rPr dirty="0" sz="7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visible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1997" y="1761897"/>
            <a:ext cx="4587875" cy="688975"/>
            <a:chOff x="51997" y="1761897"/>
            <a:chExt cx="4587875" cy="688975"/>
          </a:xfrm>
        </p:grpSpPr>
        <p:sp>
          <p:nvSpPr>
            <p:cNvPr id="61" name="object 61"/>
            <p:cNvSpPr/>
            <p:nvPr/>
          </p:nvSpPr>
          <p:spPr>
            <a:xfrm>
              <a:off x="54272" y="1764172"/>
              <a:ext cx="4583430" cy="683895"/>
            </a:xfrm>
            <a:custGeom>
              <a:avLst/>
              <a:gdLst/>
              <a:ahLst/>
              <a:cxnLst/>
              <a:rect l="l" t="t" r="r" b="b"/>
              <a:pathLst>
                <a:path w="4583430" h="683894">
                  <a:moveTo>
                    <a:pt x="4528602" y="683871"/>
                  </a:moveTo>
                  <a:lnTo>
                    <a:pt x="54709" y="683871"/>
                  </a:lnTo>
                  <a:lnTo>
                    <a:pt x="33414" y="679572"/>
                  </a:lnTo>
                  <a:lnTo>
                    <a:pt x="16024" y="667847"/>
                  </a:lnTo>
                  <a:lnTo>
                    <a:pt x="4299" y="650457"/>
                  </a:lnTo>
                  <a:lnTo>
                    <a:pt x="0" y="629161"/>
                  </a:lnTo>
                  <a:lnTo>
                    <a:pt x="0" y="54709"/>
                  </a:lnTo>
                  <a:lnTo>
                    <a:pt x="4299" y="33414"/>
                  </a:lnTo>
                  <a:lnTo>
                    <a:pt x="16024" y="16024"/>
                  </a:lnTo>
                  <a:lnTo>
                    <a:pt x="33414" y="4299"/>
                  </a:lnTo>
                  <a:lnTo>
                    <a:pt x="54709" y="0"/>
                  </a:lnTo>
                  <a:lnTo>
                    <a:pt x="4528602" y="0"/>
                  </a:lnTo>
                  <a:lnTo>
                    <a:pt x="4567287" y="16024"/>
                  </a:lnTo>
                  <a:lnTo>
                    <a:pt x="4583311" y="54709"/>
                  </a:lnTo>
                  <a:lnTo>
                    <a:pt x="4583311" y="629161"/>
                  </a:lnTo>
                  <a:lnTo>
                    <a:pt x="4579012" y="650457"/>
                  </a:lnTo>
                  <a:lnTo>
                    <a:pt x="4567287" y="667847"/>
                  </a:lnTo>
                  <a:lnTo>
                    <a:pt x="4549897" y="679572"/>
                  </a:lnTo>
                  <a:lnTo>
                    <a:pt x="4528602" y="683871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4272" y="1764172"/>
              <a:ext cx="4583430" cy="683895"/>
            </a:xfrm>
            <a:custGeom>
              <a:avLst/>
              <a:gdLst/>
              <a:ahLst/>
              <a:cxnLst/>
              <a:rect l="l" t="t" r="r" b="b"/>
              <a:pathLst>
                <a:path w="4583430" h="683894">
                  <a:moveTo>
                    <a:pt x="0" y="54709"/>
                  </a:moveTo>
                  <a:lnTo>
                    <a:pt x="4299" y="33414"/>
                  </a:lnTo>
                  <a:lnTo>
                    <a:pt x="16024" y="16024"/>
                  </a:lnTo>
                  <a:lnTo>
                    <a:pt x="33414" y="4299"/>
                  </a:lnTo>
                  <a:lnTo>
                    <a:pt x="54709" y="0"/>
                  </a:lnTo>
                  <a:lnTo>
                    <a:pt x="4528602" y="0"/>
                  </a:lnTo>
                  <a:lnTo>
                    <a:pt x="4567287" y="16024"/>
                  </a:lnTo>
                  <a:lnTo>
                    <a:pt x="4583311" y="54709"/>
                  </a:lnTo>
                  <a:lnTo>
                    <a:pt x="4583311" y="629161"/>
                  </a:lnTo>
                  <a:lnTo>
                    <a:pt x="4579012" y="650457"/>
                  </a:lnTo>
                  <a:lnTo>
                    <a:pt x="4567287" y="667847"/>
                  </a:lnTo>
                  <a:lnTo>
                    <a:pt x="4549897" y="679572"/>
                  </a:lnTo>
                  <a:lnTo>
                    <a:pt x="4528602" y="683871"/>
                  </a:lnTo>
                  <a:lnTo>
                    <a:pt x="54709" y="683871"/>
                  </a:lnTo>
                  <a:lnTo>
                    <a:pt x="33414" y="679572"/>
                  </a:lnTo>
                  <a:lnTo>
                    <a:pt x="16024" y="667847"/>
                  </a:lnTo>
                  <a:lnTo>
                    <a:pt x="4299" y="650457"/>
                  </a:lnTo>
                  <a:lnTo>
                    <a:pt x="0" y="629161"/>
                  </a:lnTo>
                  <a:lnTo>
                    <a:pt x="0" y="54709"/>
                  </a:lnTo>
                  <a:close/>
                </a:path>
              </a:pathLst>
            </a:custGeom>
            <a:ln w="454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49" y="1803818"/>
              <a:ext cx="53975" cy="69850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101186" y="1743274"/>
            <a:ext cx="1143000" cy="42418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450"/>
              </a:spcBef>
            </a:pPr>
            <a:r>
              <a:rPr dirty="0" sz="650" b="1">
                <a:solidFill>
                  <a:srgbClr val="37BDF7"/>
                </a:solidFill>
                <a:latin typeface="Arial"/>
                <a:cs typeface="Arial"/>
              </a:rPr>
              <a:t>RULE</a:t>
            </a:r>
            <a:r>
              <a:rPr dirty="0" sz="650" spc="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650" b="1">
                <a:solidFill>
                  <a:srgbClr val="37BDF7"/>
                </a:solidFill>
                <a:latin typeface="Arial"/>
                <a:cs typeface="Arial"/>
              </a:rPr>
              <a:t>MINING</a:t>
            </a:r>
            <a:r>
              <a:rPr dirty="0" sz="650" spc="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37BDF7"/>
                </a:solidFill>
                <a:latin typeface="Arial"/>
                <a:cs typeface="Arial"/>
              </a:rPr>
              <a:t>SUMMARY</a:t>
            </a:r>
            <a:endParaRPr sz="650">
              <a:latin typeface="Arial"/>
              <a:cs typeface="Arial"/>
            </a:endParaRPr>
          </a:p>
          <a:p>
            <a:pPr marL="167640" indent="-154940">
              <a:lnSpc>
                <a:spcPct val="100000"/>
              </a:lnSpc>
              <a:spcBef>
                <a:spcPts val="325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baskets: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96,927</a:t>
            </a:r>
            <a:endParaRPr sz="650">
              <a:latin typeface="Microsoft Sans Serif"/>
              <a:cs typeface="Microsoft Sans Serif"/>
            </a:endParaRPr>
          </a:p>
          <a:p>
            <a:pPr marL="167640" indent="-154940">
              <a:lnSpc>
                <a:spcPct val="100000"/>
              </a:lnSpc>
              <a:spcBef>
                <a:spcPts val="120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65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itemsets:</a:t>
            </a:r>
            <a:r>
              <a:rPr dirty="0" sz="65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345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493605" y="1064132"/>
            <a:ext cx="2037080" cy="2730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2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support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count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500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0.10</a:t>
            </a:r>
            <a:endParaRPr sz="650">
              <a:latin typeface="Microsoft Sans Serif"/>
              <a:cs typeface="Microsoft Sans Serif"/>
            </a:endParaRPr>
          </a:p>
          <a:p>
            <a:pPr marL="208279" indent="-195580">
              <a:lnSpc>
                <a:spcPct val="100000"/>
              </a:lnSpc>
              <a:spcBef>
                <a:spcPts val="1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Focused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co-purchase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relationships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546661" y="1918848"/>
            <a:ext cx="83502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00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Filtered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rules: 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217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943587" y="66421"/>
            <a:ext cx="12065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95"/>
              <a:t>Pattern</a:t>
            </a:r>
            <a:r>
              <a:rPr dirty="0" spc="-229"/>
              <a:t> </a:t>
            </a:r>
            <a:r>
              <a:rPr dirty="0" spc="55"/>
              <a:t>Mining</a:t>
            </a:r>
            <a:r>
              <a:rPr dirty="0" spc="-225"/>
              <a:t> </a:t>
            </a:r>
            <a:r>
              <a:rPr dirty="0" spc="55"/>
              <a:t>2: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901881" y="796604"/>
            <a:ext cx="4103370" cy="2353945"/>
            <a:chOff x="4901881" y="796604"/>
            <a:chExt cx="4103370" cy="2353945"/>
          </a:xfrm>
        </p:grpSpPr>
        <p:sp>
          <p:nvSpPr>
            <p:cNvPr id="5" name="object 5"/>
            <p:cNvSpPr/>
            <p:nvPr/>
          </p:nvSpPr>
          <p:spPr>
            <a:xfrm>
              <a:off x="4905374" y="800097"/>
              <a:ext cx="4096385" cy="2346960"/>
            </a:xfrm>
            <a:custGeom>
              <a:avLst/>
              <a:gdLst/>
              <a:ahLst/>
              <a:cxnLst/>
              <a:rect l="l" t="t" r="r" b="b"/>
              <a:pathLst>
                <a:path w="4096384" h="2346960">
                  <a:moveTo>
                    <a:pt x="4013076" y="2346940"/>
                  </a:moveTo>
                  <a:lnTo>
                    <a:pt x="82823" y="2346940"/>
                  </a:lnTo>
                  <a:lnTo>
                    <a:pt x="50585" y="2340432"/>
                  </a:lnTo>
                  <a:lnTo>
                    <a:pt x="24258" y="2322682"/>
                  </a:lnTo>
                  <a:lnTo>
                    <a:pt x="6508" y="2296355"/>
                  </a:lnTo>
                  <a:lnTo>
                    <a:pt x="0" y="2264117"/>
                  </a:lnTo>
                  <a:lnTo>
                    <a:pt x="0" y="82823"/>
                  </a:lnTo>
                  <a:lnTo>
                    <a:pt x="6508" y="50584"/>
                  </a:lnTo>
                  <a:lnTo>
                    <a:pt x="24258" y="24258"/>
                  </a:lnTo>
                  <a:lnTo>
                    <a:pt x="50585" y="6508"/>
                  </a:lnTo>
                  <a:lnTo>
                    <a:pt x="82823" y="0"/>
                  </a:lnTo>
                  <a:lnTo>
                    <a:pt x="4013076" y="0"/>
                  </a:lnTo>
                  <a:lnTo>
                    <a:pt x="4059027" y="13915"/>
                  </a:lnTo>
                  <a:lnTo>
                    <a:pt x="4089595" y="51128"/>
                  </a:lnTo>
                  <a:lnTo>
                    <a:pt x="4095900" y="82823"/>
                  </a:lnTo>
                  <a:lnTo>
                    <a:pt x="4095900" y="2264117"/>
                  </a:lnTo>
                  <a:lnTo>
                    <a:pt x="4089391" y="2296355"/>
                  </a:lnTo>
                  <a:lnTo>
                    <a:pt x="4071642" y="2322682"/>
                  </a:lnTo>
                  <a:lnTo>
                    <a:pt x="4045315" y="2340432"/>
                  </a:lnTo>
                  <a:lnTo>
                    <a:pt x="4013076" y="2346940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05374" y="800097"/>
              <a:ext cx="4096385" cy="2346960"/>
            </a:xfrm>
            <a:custGeom>
              <a:avLst/>
              <a:gdLst/>
              <a:ahLst/>
              <a:cxnLst/>
              <a:rect l="l" t="t" r="r" b="b"/>
              <a:pathLst>
                <a:path w="4096384" h="2346960">
                  <a:moveTo>
                    <a:pt x="0" y="82823"/>
                  </a:moveTo>
                  <a:lnTo>
                    <a:pt x="6508" y="50584"/>
                  </a:lnTo>
                  <a:lnTo>
                    <a:pt x="24258" y="24258"/>
                  </a:lnTo>
                  <a:lnTo>
                    <a:pt x="50585" y="6508"/>
                  </a:lnTo>
                  <a:lnTo>
                    <a:pt x="82823" y="0"/>
                  </a:lnTo>
                  <a:lnTo>
                    <a:pt x="4013076" y="0"/>
                  </a:lnTo>
                  <a:lnTo>
                    <a:pt x="4059027" y="13915"/>
                  </a:lnTo>
                  <a:lnTo>
                    <a:pt x="4089595" y="51128"/>
                  </a:lnTo>
                  <a:lnTo>
                    <a:pt x="4095900" y="82823"/>
                  </a:lnTo>
                  <a:lnTo>
                    <a:pt x="4095900" y="2264117"/>
                  </a:lnTo>
                  <a:lnTo>
                    <a:pt x="4089391" y="2296355"/>
                  </a:lnTo>
                  <a:lnTo>
                    <a:pt x="4071642" y="2322682"/>
                  </a:lnTo>
                  <a:lnTo>
                    <a:pt x="4045315" y="2340432"/>
                  </a:lnTo>
                  <a:lnTo>
                    <a:pt x="4013076" y="2346940"/>
                  </a:lnTo>
                  <a:lnTo>
                    <a:pt x="82823" y="2346940"/>
                  </a:lnTo>
                  <a:lnTo>
                    <a:pt x="50585" y="2340432"/>
                  </a:lnTo>
                  <a:lnTo>
                    <a:pt x="24258" y="2322682"/>
                  </a:lnTo>
                  <a:lnTo>
                    <a:pt x="6508" y="2296355"/>
                  </a:lnTo>
                  <a:lnTo>
                    <a:pt x="0" y="2264117"/>
                  </a:lnTo>
                  <a:lnTo>
                    <a:pt x="0" y="82823"/>
                  </a:lnTo>
                  <a:close/>
                </a:path>
              </a:pathLst>
            </a:custGeom>
            <a:ln w="68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423004" y="302830"/>
            <a:ext cx="4384675" cy="738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b="1">
                <a:solidFill>
                  <a:srgbClr val="37BDF7"/>
                </a:solidFill>
                <a:latin typeface="Arial"/>
                <a:cs typeface="Arial"/>
              </a:rPr>
              <a:t>Aisle-to-Aisle</a:t>
            </a:r>
            <a:r>
              <a:rPr dirty="0" sz="2600" spc="42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45" b="1">
                <a:solidFill>
                  <a:srgbClr val="37BDF7"/>
                </a:solidFill>
                <a:latin typeface="Arial"/>
                <a:cs typeface="Arial"/>
              </a:rPr>
              <a:t>Rules</a:t>
            </a:r>
            <a:endParaRPr sz="2600">
              <a:latin typeface="Arial"/>
              <a:cs typeface="Arial"/>
            </a:endParaRPr>
          </a:p>
          <a:p>
            <a:pPr marL="2689860">
              <a:lnSpc>
                <a:spcPct val="100000"/>
              </a:lnSpc>
              <a:spcBef>
                <a:spcPts val="1540"/>
              </a:spcBef>
            </a:pPr>
            <a:r>
              <a:rPr dirty="0" sz="800" spc="-25" b="1">
                <a:solidFill>
                  <a:srgbClr val="37BDF7"/>
                </a:solidFill>
                <a:latin typeface="Arial"/>
                <a:cs typeface="Arial"/>
              </a:rPr>
              <a:t>Top</a:t>
            </a:r>
            <a:r>
              <a:rPr dirty="0" sz="800" spc="-3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Aisle-to-Aisle</a:t>
            </a:r>
            <a:r>
              <a:rPr dirty="0" sz="800" spc="-3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Rules</a:t>
            </a:r>
            <a:r>
              <a:rPr dirty="0" sz="800" spc="-3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37BDF7"/>
                </a:solidFill>
                <a:latin typeface="Arial"/>
                <a:cs typeface="Arial"/>
              </a:rPr>
              <a:t>in</a:t>
            </a:r>
            <a:r>
              <a:rPr dirty="0" sz="800" spc="-3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00624" y="1110721"/>
            <a:ext cx="3905885" cy="172720"/>
          </a:xfrm>
          <a:custGeom>
            <a:avLst/>
            <a:gdLst/>
            <a:ahLst/>
            <a:cxnLst/>
            <a:rect l="l" t="t" r="r" b="b"/>
            <a:pathLst>
              <a:path w="3905884" h="172719">
                <a:moveTo>
                  <a:pt x="3877780" y="172623"/>
                </a:moveTo>
                <a:lnTo>
                  <a:pt x="27619" y="172623"/>
                </a:lnTo>
                <a:lnTo>
                  <a:pt x="16869" y="170453"/>
                </a:lnTo>
                <a:lnTo>
                  <a:pt x="8089" y="164533"/>
                </a:lnTo>
                <a:lnTo>
                  <a:pt x="2170" y="155754"/>
                </a:lnTo>
                <a:lnTo>
                  <a:pt x="0" y="145003"/>
                </a:lnTo>
                <a:lnTo>
                  <a:pt x="0" y="27619"/>
                </a:lnTo>
                <a:lnTo>
                  <a:pt x="2170" y="16868"/>
                </a:lnTo>
                <a:lnTo>
                  <a:pt x="8089" y="8089"/>
                </a:lnTo>
                <a:lnTo>
                  <a:pt x="16869" y="2170"/>
                </a:lnTo>
                <a:lnTo>
                  <a:pt x="27619" y="0"/>
                </a:lnTo>
                <a:lnTo>
                  <a:pt x="3885105" y="0"/>
                </a:lnTo>
                <a:lnTo>
                  <a:pt x="3892130" y="2909"/>
                </a:lnTo>
                <a:lnTo>
                  <a:pt x="3902490" y="13269"/>
                </a:lnTo>
                <a:lnTo>
                  <a:pt x="3905400" y="20294"/>
                </a:lnTo>
                <a:lnTo>
                  <a:pt x="3905400" y="145003"/>
                </a:lnTo>
                <a:lnTo>
                  <a:pt x="3903230" y="155754"/>
                </a:lnTo>
                <a:lnTo>
                  <a:pt x="3897310" y="164533"/>
                </a:lnTo>
                <a:lnTo>
                  <a:pt x="3888531" y="170453"/>
                </a:lnTo>
                <a:lnTo>
                  <a:pt x="3877780" y="172623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54600" y="1138525"/>
            <a:ext cx="286258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39264" algn="l"/>
                <a:tab pos="2567305" algn="l"/>
              </a:tabLst>
            </a:pPr>
            <a:r>
              <a:rPr dirty="0" sz="550" spc="-20" b="1">
                <a:solidFill>
                  <a:srgbClr val="37BDF7"/>
                </a:solidFill>
                <a:latin typeface="Arial"/>
                <a:cs typeface="Arial"/>
              </a:rPr>
              <a:t>Rule</a:t>
            </a:r>
            <a:r>
              <a:rPr dirty="0" sz="550" b="1">
                <a:solidFill>
                  <a:srgbClr val="37BDF7"/>
                </a:solidFill>
                <a:latin typeface="Arial"/>
                <a:cs typeface="Arial"/>
              </a:rPr>
              <a:t>	Support</a:t>
            </a:r>
            <a:r>
              <a:rPr dirty="0" sz="550" spc="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Count</a:t>
            </a:r>
            <a:r>
              <a:rPr dirty="0" sz="550" b="1">
                <a:solidFill>
                  <a:srgbClr val="37BDF7"/>
                </a:solidFill>
                <a:latin typeface="Arial"/>
                <a:cs typeface="Arial"/>
              </a:rPr>
              <a:t>	</a:t>
            </a: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Support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10358" y="1138525"/>
            <a:ext cx="42989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Confidence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00624" y="1317804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4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4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54600" y="1414820"/>
            <a:ext cx="94615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5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5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5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2099" y="1414636"/>
            <a:ext cx="233679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42949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37908" y="1414636"/>
            <a:ext cx="25082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0.4431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97665" y="1414636"/>
            <a:ext cx="25527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0.7258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00624" y="1662943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3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3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54600" y="1759958"/>
            <a:ext cx="94615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5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2099" y="1759774"/>
            <a:ext cx="233679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42949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37908" y="1759774"/>
            <a:ext cx="25082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0.4431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6820" y="1759774"/>
            <a:ext cx="25654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0.5950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00612" y="2008085"/>
            <a:ext cx="3905885" cy="655955"/>
          </a:xfrm>
          <a:custGeom>
            <a:avLst/>
            <a:gdLst/>
            <a:ahLst/>
            <a:cxnLst/>
            <a:rect l="l" t="t" r="r" b="b"/>
            <a:pathLst>
              <a:path w="3905884" h="655955">
                <a:moveTo>
                  <a:pt x="3905402" y="365429"/>
                </a:moveTo>
                <a:lnTo>
                  <a:pt x="3902494" y="358406"/>
                </a:lnTo>
                <a:lnTo>
                  <a:pt x="3892143" y="348043"/>
                </a:lnTo>
                <a:lnTo>
                  <a:pt x="3885120" y="345135"/>
                </a:lnTo>
                <a:lnTo>
                  <a:pt x="27622" y="345135"/>
                </a:lnTo>
                <a:lnTo>
                  <a:pt x="16865" y="347306"/>
                </a:lnTo>
                <a:lnTo>
                  <a:pt x="8089" y="353225"/>
                </a:lnTo>
                <a:lnTo>
                  <a:pt x="2171" y="362000"/>
                </a:lnTo>
                <a:lnTo>
                  <a:pt x="0" y="372757"/>
                </a:lnTo>
                <a:lnTo>
                  <a:pt x="0" y="628205"/>
                </a:lnTo>
                <a:lnTo>
                  <a:pt x="2171" y="638949"/>
                </a:lnTo>
                <a:lnTo>
                  <a:pt x="8089" y="647725"/>
                </a:lnTo>
                <a:lnTo>
                  <a:pt x="16865" y="653643"/>
                </a:lnTo>
                <a:lnTo>
                  <a:pt x="27622" y="655815"/>
                </a:lnTo>
                <a:lnTo>
                  <a:pt x="3877792" y="655815"/>
                </a:lnTo>
                <a:lnTo>
                  <a:pt x="3888536" y="653643"/>
                </a:lnTo>
                <a:lnTo>
                  <a:pt x="3897312" y="647725"/>
                </a:lnTo>
                <a:lnTo>
                  <a:pt x="3903230" y="638949"/>
                </a:lnTo>
                <a:lnTo>
                  <a:pt x="3905402" y="628205"/>
                </a:lnTo>
                <a:lnTo>
                  <a:pt x="3905402" y="365429"/>
                </a:lnTo>
                <a:close/>
              </a:path>
              <a:path w="3905884" h="655955">
                <a:moveTo>
                  <a:pt x="3905402" y="20294"/>
                </a:moveTo>
                <a:lnTo>
                  <a:pt x="3902494" y="13271"/>
                </a:lnTo>
                <a:lnTo>
                  <a:pt x="3892143" y="2908"/>
                </a:lnTo>
                <a:lnTo>
                  <a:pt x="3885120" y="0"/>
                </a:lnTo>
                <a:lnTo>
                  <a:pt x="27622" y="0"/>
                </a:lnTo>
                <a:lnTo>
                  <a:pt x="16865" y="2171"/>
                </a:lnTo>
                <a:lnTo>
                  <a:pt x="8089" y="8089"/>
                </a:lnTo>
                <a:lnTo>
                  <a:pt x="2171" y="16865"/>
                </a:lnTo>
                <a:lnTo>
                  <a:pt x="0" y="27609"/>
                </a:lnTo>
                <a:lnTo>
                  <a:pt x="0" y="283070"/>
                </a:lnTo>
                <a:lnTo>
                  <a:pt x="2171" y="293814"/>
                </a:lnTo>
                <a:lnTo>
                  <a:pt x="8089" y="302590"/>
                </a:lnTo>
                <a:lnTo>
                  <a:pt x="16865" y="308508"/>
                </a:lnTo>
                <a:lnTo>
                  <a:pt x="27622" y="310680"/>
                </a:lnTo>
                <a:lnTo>
                  <a:pt x="3877792" y="310680"/>
                </a:lnTo>
                <a:lnTo>
                  <a:pt x="3888536" y="308508"/>
                </a:lnTo>
                <a:lnTo>
                  <a:pt x="3897312" y="302590"/>
                </a:lnTo>
                <a:lnTo>
                  <a:pt x="3903230" y="293814"/>
                </a:lnTo>
                <a:lnTo>
                  <a:pt x="3905402" y="283070"/>
                </a:lnTo>
                <a:lnTo>
                  <a:pt x="3905402" y="20294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45648" y="2126219"/>
          <a:ext cx="3692525" cy="42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705"/>
                <a:gridCol w="777240"/>
                <a:gridCol w="744219"/>
                <a:gridCol w="516890"/>
              </a:tblGrid>
              <a:tr h="212725">
                <a:tc>
                  <a:txBody>
                    <a:bodyPr/>
                    <a:lstStyle/>
                    <a:p>
                      <a:pPr marL="21590">
                        <a:lnSpc>
                          <a:spcPts val="585"/>
                        </a:lnSpc>
                      </a:pP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packaged</a:t>
                      </a:r>
                      <a:r>
                        <a:rPr dirty="0" sz="550" spc="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vegetables</a:t>
                      </a:r>
                      <a:r>
                        <a:rPr dirty="0" sz="550" spc="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fruits</a:t>
                      </a:r>
                      <a:r>
                        <a:rPr dirty="0" sz="550" spc="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fresh</a:t>
                      </a:r>
                      <a:r>
                        <a:rPr dirty="0" sz="550" spc="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fruits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37694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0.3889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0.7500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590">
                        <a:lnSpc>
                          <a:spcPts val="605"/>
                        </a:lnSpc>
                      </a:pP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fresh</a:t>
                      </a:r>
                      <a:r>
                        <a:rPr dirty="0" sz="550" spc="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fruits</a:t>
                      </a:r>
                      <a:r>
                        <a:rPr dirty="0" sz="550" spc="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packaged</a:t>
                      </a:r>
                      <a:r>
                        <a:rPr dirty="0" sz="550" spc="5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vegetables</a:t>
                      </a:r>
                      <a:r>
                        <a:rPr dirty="0" sz="550" spc="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fruits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239395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37694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R="11430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0.3889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13970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0.5222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5000624" y="2698358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4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4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054600" y="2795373"/>
            <a:ext cx="144081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5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5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r>
              <a:rPr dirty="0" sz="5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5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34599" y="2795189"/>
            <a:ext cx="22860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33112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37246" y="2795189"/>
            <a:ext cx="25209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0.3416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6709" y="2795189"/>
            <a:ext cx="25717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0.6589</a:t>
            </a:r>
            <a:endParaRPr sz="5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243" y="884555"/>
            <a:ext cx="4589780" cy="740410"/>
            <a:chOff x="51243" y="884555"/>
            <a:chExt cx="4589780" cy="740410"/>
          </a:xfrm>
        </p:grpSpPr>
        <p:sp>
          <p:nvSpPr>
            <p:cNvPr id="29" name="object 29"/>
            <p:cNvSpPr/>
            <p:nvPr/>
          </p:nvSpPr>
          <p:spPr>
            <a:xfrm>
              <a:off x="54280" y="887593"/>
              <a:ext cx="4583430" cy="734060"/>
            </a:xfrm>
            <a:custGeom>
              <a:avLst/>
              <a:gdLst/>
              <a:ahLst/>
              <a:cxnLst/>
              <a:rect l="l" t="t" r="r" b="b"/>
              <a:pathLst>
                <a:path w="4583430" h="734060">
                  <a:moveTo>
                    <a:pt x="4524612" y="733740"/>
                  </a:moveTo>
                  <a:lnTo>
                    <a:pt x="58699" y="733740"/>
                  </a:lnTo>
                  <a:lnTo>
                    <a:pt x="35850" y="729127"/>
                  </a:lnTo>
                  <a:lnTo>
                    <a:pt x="17192" y="716547"/>
                  </a:lnTo>
                  <a:lnTo>
                    <a:pt x="4612" y="697889"/>
                  </a:lnTo>
                  <a:lnTo>
                    <a:pt x="0" y="675040"/>
                  </a:lnTo>
                  <a:lnTo>
                    <a:pt x="0" y="58699"/>
                  </a:lnTo>
                  <a:lnTo>
                    <a:pt x="4612" y="35850"/>
                  </a:lnTo>
                  <a:lnTo>
                    <a:pt x="17192" y="17192"/>
                  </a:lnTo>
                  <a:lnTo>
                    <a:pt x="35850" y="4612"/>
                  </a:lnTo>
                  <a:lnTo>
                    <a:pt x="58699" y="0"/>
                  </a:lnTo>
                  <a:lnTo>
                    <a:pt x="4524612" y="0"/>
                  </a:lnTo>
                  <a:lnTo>
                    <a:pt x="4566119" y="17192"/>
                  </a:lnTo>
                  <a:lnTo>
                    <a:pt x="4583311" y="58699"/>
                  </a:lnTo>
                  <a:lnTo>
                    <a:pt x="4583311" y="675040"/>
                  </a:lnTo>
                  <a:lnTo>
                    <a:pt x="4578699" y="697889"/>
                  </a:lnTo>
                  <a:lnTo>
                    <a:pt x="4566119" y="716547"/>
                  </a:lnTo>
                  <a:lnTo>
                    <a:pt x="4547461" y="729127"/>
                  </a:lnTo>
                  <a:lnTo>
                    <a:pt x="4524612" y="733740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4280" y="887593"/>
              <a:ext cx="4583430" cy="734060"/>
            </a:xfrm>
            <a:custGeom>
              <a:avLst/>
              <a:gdLst/>
              <a:ahLst/>
              <a:cxnLst/>
              <a:rect l="l" t="t" r="r" b="b"/>
              <a:pathLst>
                <a:path w="4583430" h="734060">
                  <a:moveTo>
                    <a:pt x="0" y="58699"/>
                  </a:moveTo>
                  <a:lnTo>
                    <a:pt x="4612" y="35850"/>
                  </a:lnTo>
                  <a:lnTo>
                    <a:pt x="17192" y="17192"/>
                  </a:lnTo>
                  <a:lnTo>
                    <a:pt x="35850" y="4612"/>
                  </a:lnTo>
                  <a:lnTo>
                    <a:pt x="58699" y="0"/>
                  </a:lnTo>
                  <a:lnTo>
                    <a:pt x="4524612" y="0"/>
                  </a:lnTo>
                  <a:lnTo>
                    <a:pt x="4566119" y="17192"/>
                  </a:lnTo>
                  <a:lnTo>
                    <a:pt x="4583311" y="58699"/>
                  </a:lnTo>
                  <a:lnTo>
                    <a:pt x="4583311" y="675040"/>
                  </a:lnTo>
                  <a:lnTo>
                    <a:pt x="4578699" y="697889"/>
                  </a:lnTo>
                  <a:lnTo>
                    <a:pt x="4566119" y="716547"/>
                  </a:lnTo>
                  <a:lnTo>
                    <a:pt x="4547461" y="729127"/>
                  </a:lnTo>
                  <a:lnTo>
                    <a:pt x="4524612" y="733740"/>
                  </a:lnTo>
                  <a:lnTo>
                    <a:pt x="58699" y="733740"/>
                  </a:lnTo>
                  <a:lnTo>
                    <a:pt x="35850" y="729127"/>
                  </a:lnTo>
                  <a:lnTo>
                    <a:pt x="17192" y="716547"/>
                  </a:lnTo>
                  <a:lnTo>
                    <a:pt x="4612" y="697889"/>
                  </a:lnTo>
                  <a:lnTo>
                    <a:pt x="0" y="675040"/>
                  </a:lnTo>
                  <a:lnTo>
                    <a:pt x="0" y="58699"/>
                  </a:lnTo>
                  <a:close/>
                </a:path>
              </a:pathLst>
            </a:custGeom>
            <a:ln w="607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0" y="941866"/>
              <a:ext cx="69850" cy="920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7980" y="857185"/>
            <a:ext cx="2260600" cy="61785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590"/>
              </a:spcBef>
            </a:pPr>
            <a:r>
              <a:rPr dirty="0" sz="900" spc="-20" b="1">
                <a:solidFill>
                  <a:srgbClr val="37BDF7"/>
                </a:solidFill>
                <a:latin typeface="Arial"/>
                <a:cs typeface="Arial"/>
              </a:rPr>
              <a:t>ANALYSIS FOCUS</a:t>
            </a:r>
            <a:endParaRPr sz="900">
              <a:latin typeface="Arial"/>
              <a:cs typeface="Arial"/>
            </a:endParaRPr>
          </a:p>
          <a:p>
            <a:pPr marL="208279" indent="-195580">
              <a:lnSpc>
                <a:spcPct val="100000"/>
              </a:lnSpc>
              <a:spcBef>
                <a:spcPts val="360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Built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baskets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from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orders</a:t>
            </a:r>
            <a:endParaRPr sz="650">
              <a:latin typeface="Microsoft Sans Serif"/>
              <a:cs typeface="Microsoft Sans Serif"/>
            </a:endParaRPr>
          </a:p>
          <a:p>
            <a:pPr marL="208279" indent="-195580">
              <a:lnSpc>
                <a:spcPct val="100000"/>
              </a:lnSpc>
              <a:spcBef>
                <a:spcPts val="1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Applied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mine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itemsets</a:t>
            </a:r>
            <a:endParaRPr sz="650">
              <a:latin typeface="Microsoft Sans Serif"/>
              <a:cs typeface="Microsoft Sans Serif"/>
            </a:endParaRPr>
          </a:p>
          <a:p>
            <a:pPr marL="208279" indent="-195580">
              <a:lnSpc>
                <a:spcPct val="100000"/>
              </a:lnSpc>
              <a:spcBef>
                <a:spcPts val="1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Generated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one-to-one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association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at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 aisle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level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34" name="object 34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006" y="4748797"/>
              <a:ext cx="88900" cy="1270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211071" y="4767847"/>
            <a:ext cx="69716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Aisle-level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rules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showed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shopping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is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strongly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centered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around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combinations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fresh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vegetables,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fresh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fruits,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packaged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fruits.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53062" y="3354550"/>
            <a:ext cx="4200525" cy="1130935"/>
            <a:chOff x="4853062" y="3354550"/>
            <a:chExt cx="4200525" cy="1130935"/>
          </a:xfrm>
        </p:grpSpPr>
        <p:sp>
          <p:nvSpPr>
            <p:cNvPr id="38" name="object 38"/>
            <p:cNvSpPr/>
            <p:nvPr/>
          </p:nvSpPr>
          <p:spPr>
            <a:xfrm>
              <a:off x="4857824" y="3359313"/>
              <a:ext cx="4191000" cy="1121410"/>
            </a:xfrm>
            <a:custGeom>
              <a:avLst/>
              <a:gdLst/>
              <a:ahLst/>
              <a:cxnLst/>
              <a:rect l="l" t="t" r="r" b="b"/>
              <a:pathLst>
                <a:path w="4191000" h="1121410">
                  <a:moveTo>
                    <a:pt x="4068716" y="1121043"/>
                  </a:moveTo>
                  <a:lnTo>
                    <a:pt x="122283" y="1121043"/>
                  </a:lnTo>
                  <a:lnTo>
                    <a:pt x="74685" y="1111433"/>
                  </a:lnTo>
                  <a:lnTo>
                    <a:pt x="35815" y="1085227"/>
                  </a:lnTo>
                  <a:lnTo>
                    <a:pt x="9609" y="1046358"/>
                  </a:lnTo>
                  <a:lnTo>
                    <a:pt x="0" y="998759"/>
                  </a:lnTo>
                  <a:lnTo>
                    <a:pt x="0" y="122283"/>
                  </a:lnTo>
                  <a:lnTo>
                    <a:pt x="9609" y="74685"/>
                  </a:lnTo>
                  <a:lnTo>
                    <a:pt x="35815" y="35816"/>
                  </a:lnTo>
                  <a:lnTo>
                    <a:pt x="74685" y="9609"/>
                  </a:lnTo>
                  <a:lnTo>
                    <a:pt x="122283" y="0"/>
                  </a:lnTo>
                  <a:lnTo>
                    <a:pt x="4068716" y="0"/>
                  </a:lnTo>
                  <a:lnTo>
                    <a:pt x="4115512" y="9308"/>
                  </a:lnTo>
                  <a:lnTo>
                    <a:pt x="4155184" y="35815"/>
                  </a:lnTo>
                  <a:lnTo>
                    <a:pt x="4181691" y="75487"/>
                  </a:lnTo>
                  <a:lnTo>
                    <a:pt x="4190999" y="122283"/>
                  </a:lnTo>
                  <a:lnTo>
                    <a:pt x="4190999" y="998759"/>
                  </a:lnTo>
                  <a:lnTo>
                    <a:pt x="4181390" y="1046358"/>
                  </a:lnTo>
                  <a:lnTo>
                    <a:pt x="4155183" y="1085227"/>
                  </a:lnTo>
                  <a:lnTo>
                    <a:pt x="4116314" y="1111433"/>
                  </a:lnTo>
                  <a:lnTo>
                    <a:pt x="4068716" y="1121043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57824" y="3359313"/>
              <a:ext cx="4191000" cy="1121410"/>
            </a:xfrm>
            <a:custGeom>
              <a:avLst/>
              <a:gdLst/>
              <a:ahLst/>
              <a:cxnLst/>
              <a:rect l="l" t="t" r="r" b="b"/>
              <a:pathLst>
                <a:path w="4191000" h="1121410">
                  <a:moveTo>
                    <a:pt x="0" y="122283"/>
                  </a:moveTo>
                  <a:lnTo>
                    <a:pt x="9609" y="74685"/>
                  </a:lnTo>
                  <a:lnTo>
                    <a:pt x="35815" y="35816"/>
                  </a:lnTo>
                  <a:lnTo>
                    <a:pt x="74685" y="9609"/>
                  </a:lnTo>
                  <a:lnTo>
                    <a:pt x="122283" y="0"/>
                  </a:lnTo>
                  <a:lnTo>
                    <a:pt x="4068716" y="0"/>
                  </a:lnTo>
                  <a:lnTo>
                    <a:pt x="4115512" y="9308"/>
                  </a:lnTo>
                  <a:lnTo>
                    <a:pt x="4155184" y="35815"/>
                  </a:lnTo>
                  <a:lnTo>
                    <a:pt x="4181691" y="75487"/>
                  </a:lnTo>
                  <a:lnTo>
                    <a:pt x="4190999" y="122283"/>
                  </a:lnTo>
                  <a:lnTo>
                    <a:pt x="4190999" y="998759"/>
                  </a:lnTo>
                  <a:lnTo>
                    <a:pt x="4181390" y="1046358"/>
                  </a:lnTo>
                  <a:lnTo>
                    <a:pt x="4155183" y="1085227"/>
                  </a:lnTo>
                  <a:lnTo>
                    <a:pt x="4116314" y="1111433"/>
                  </a:lnTo>
                  <a:lnTo>
                    <a:pt x="4068716" y="1121043"/>
                  </a:lnTo>
                  <a:lnTo>
                    <a:pt x="122283" y="1121043"/>
                  </a:lnTo>
                  <a:lnTo>
                    <a:pt x="74685" y="1111433"/>
                  </a:lnTo>
                  <a:lnTo>
                    <a:pt x="35815" y="1085227"/>
                  </a:lnTo>
                  <a:lnTo>
                    <a:pt x="9609" y="1046358"/>
                  </a:lnTo>
                  <a:lnTo>
                    <a:pt x="0" y="998759"/>
                  </a:lnTo>
                  <a:lnTo>
                    <a:pt x="0" y="122283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0049" y="3404305"/>
              <a:ext cx="107950" cy="1143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087640" y="3406209"/>
            <a:ext cx="108140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37BDF7"/>
                </a:solidFill>
                <a:latin typeface="Arial"/>
                <a:cs typeface="Arial"/>
              </a:rPr>
              <a:t>INTERPRETATION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02325" y="3875678"/>
            <a:ext cx="350012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was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also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strongly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connected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both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85540" y="3644064"/>
            <a:ext cx="3924935" cy="74041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29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formed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two-way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relationship</a:t>
            </a:r>
            <a:endParaRPr sz="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50" spc="-509">
                <a:solidFill>
                  <a:srgbClr val="37BDF7"/>
                </a:solidFill>
                <a:latin typeface="Arial MT"/>
                <a:cs typeface="Arial MT"/>
              </a:rPr>
              <a:t>●</a:t>
            </a:r>
            <a:endParaRPr sz="1150">
              <a:latin typeface="Arial MT"/>
              <a:cs typeface="Arial MT"/>
            </a:endParaRPr>
          </a:p>
          <a:p>
            <a:pPr marL="328930" indent="-316230">
              <a:lnSpc>
                <a:spcPct val="100000"/>
              </a:lnSpc>
              <a:spcBef>
                <a:spcPts val="695"/>
              </a:spcBef>
              <a:buClr>
                <a:srgbClr val="37BDF7"/>
              </a:buClr>
              <a:buSzPct val="176923"/>
              <a:buFont typeface="Arial MT"/>
              <a:buChar char="●"/>
              <a:tabLst>
                <a:tab pos="328930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orders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often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included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multiple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major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categories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rather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than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only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one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narrow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type</a:t>
            </a:r>
            <a:endParaRPr sz="650">
              <a:latin typeface="Microsoft Sans Serif"/>
              <a:cs typeface="Microsoft Sans Serif"/>
            </a:endParaRPr>
          </a:p>
          <a:p>
            <a:pPr marL="328930" indent="-316230">
              <a:lnSpc>
                <a:spcPct val="100000"/>
              </a:lnSpc>
              <a:spcBef>
                <a:spcPts val="520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Aisle-level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reveal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broader</a:t>
            </a:r>
            <a:r>
              <a:rPr dirty="0" sz="7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than</a:t>
            </a:r>
            <a:r>
              <a:rPr dirty="0" sz="7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product-level</a:t>
            </a:r>
            <a:r>
              <a:rPr dirty="0" sz="7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219" y="2538318"/>
            <a:ext cx="4584700" cy="2018030"/>
            <a:chOff x="58219" y="2538318"/>
            <a:chExt cx="4584700" cy="2018030"/>
          </a:xfrm>
        </p:grpSpPr>
        <p:sp>
          <p:nvSpPr>
            <p:cNvPr id="45" name="object 45"/>
            <p:cNvSpPr/>
            <p:nvPr/>
          </p:nvSpPr>
          <p:spPr>
            <a:xfrm>
              <a:off x="62981" y="2543081"/>
              <a:ext cx="4575175" cy="2008505"/>
            </a:xfrm>
            <a:custGeom>
              <a:avLst/>
              <a:gdLst/>
              <a:ahLst/>
              <a:cxnLst/>
              <a:rect l="l" t="t" r="r" b="b"/>
              <a:pathLst>
                <a:path w="4575175" h="2008504">
                  <a:moveTo>
                    <a:pt x="4470041" y="2008398"/>
                  </a:moveTo>
                  <a:lnTo>
                    <a:pt x="104758" y="2008398"/>
                  </a:lnTo>
                  <a:lnTo>
                    <a:pt x="63981" y="2000165"/>
                  </a:lnTo>
                  <a:lnTo>
                    <a:pt x="30682" y="1977715"/>
                  </a:lnTo>
                  <a:lnTo>
                    <a:pt x="8232" y="1944416"/>
                  </a:lnTo>
                  <a:lnTo>
                    <a:pt x="0" y="1903639"/>
                  </a:lnTo>
                  <a:lnTo>
                    <a:pt x="0" y="104758"/>
                  </a:lnTo>
                  <a:lnTo>
                    <a:pt x="8232" y="63981"/>
                  </a:lnTo>
                  <a:lnTo>
                    <a:pt x="30682" y="30682"/>
                  </a:lnTo>
                  <a:lnTo>
                    <a:pt x="63981" y="8232"/>
                  </a:lnTo>
                  <a:lnTo>
                    <a:pt x="104758" y="0"/>
                  </a:lnTo>
                  <a:lnTo>
                    <a:pt x="4470041" y="0"/>
                  </a:lnTo>
                  <a:lnTo>
                    <a:pt x="4510130" y="7974"/>
                  </a:lnTo>
                  <a:lnTo>
                    <a:pt x="4544116" y="30682"/>
                  </a:lnTo>
                  <a:lnTo>
                    <a:pt x="4566824" y="64669"/>
                  </a:lnTo>
                  <a:lnTo>
                    <a:pt x="4574798" y="104758"/>
                  </a:lnTo>
                  <a:lnTo>
                    <a:pt x="4574798" y="1903639"/>
                  </a:lnTo>
                  <a:lnTo>
                    <a:pt x="4566566" y="1944416"/>
                  </a:lnTo>
                  <a:lnTo>
                    <a:pt x="4544116" y="1977715"/>
                  </a:lnTo>
                  <a:lnTo>
                    <a:pt x="4510817" y="2000165"/>
                  </a:lnTo>
                  <a:lnTo>
                    <a:pt x="4470041" y="2008398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2981" y="2543081"/>
              <a:ext cx="4575175" cy="2008505"/>
            </a:xfrm>
            <a:custGeom>
              <a:avLst/>
              <a:gdLst/>
              <a:ahLst/>
              <a:cxnLst/>
              <a:rect l="l" t="t" r="r" b="b"/>
              <a:pathLst>
                <a:path w="4575175" h="2008504">
                  <a:moveTo>
                    <a:pt x="0" y="104758"/>
                  </a:moveTo>
                  <a:lnTo>
                    <a:pt x="8232" y="63981"/>
                  </a:lnTo>
                  <a:lnTo>
                    <a:pt x="30682" y="30682"/>
                  </a:lnTo>
                  <a:lnTo>
                    <a:pt x="63981" y="8232"/>
                  </a:lnTo>
                  <a:lnTo>
                    <a:pt x="104758" y="0"/>
                  </a:lnTo>
                  <a:lnTo>
                    <a:pt x="4470041" y="0"/>
                  </a:lnTo>
                  <a:lnTo>
                    <a:pt x="4510130" y="7974"/>
                  </a:lnTo>
                  <a:lnTo>
                    <a:pt x="4544116" y="30682"/>
                  </a:lnTo>
                  <a:lnTo>
                    <a:pt x="4566824" y="64669"/>
                  </a:lnTo>
                  <a:lnTo>
                    <a:pt x="4574798" y="104758"/>
                  </a:lnTo>
                  <a:lnTo>
                    <a:pt x="4574798" y="1903639"/>
                  </a:lnTo>
                  <a:lnTo>
                    <a:pt x="4566566" y="1944416"/>
                  </a:lnTo>
                  <a:lnTo>
                    <a:pt x="4544116" y="1977715"/>
                  </a:lnTo>
                  <a:lnTo>
                    <a:pt x="4510817" y="2000165"/>
                  </a:lnTo>
                  <a:lnTo>
                    <a:pt x="4470041" y="2008398"/>
                  </a:lnTo>
                  <a:lnTo>
                    <a:pt x="104758" y="2008398"/>
                  </a:lnTo>
                  <a:lnTo>
                    <a:pt x="63981" y="2000165"/>
                  </a:lnTo>
                  <a:lnTo>
                    <a:pt x="30682" y="1977715"/>
                  </a:lnTo>
                  <a:lnTo>
                    <a:pt x="8232" y="1944416"/>
                  </a:lnTo>
                  <a:lnTo>
                    <a:pt x="0" y="1903639"/>
                  </a:lnTo>
                  <a:lnTo>
                    <a:pt x="0" y="104758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02" y="2558427"/>
              <a:ext cx="165100" cy="1270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2745358"/>
              <a:ext cx="69850" cy="6032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58922" y="2561602"/>
            <a:ext cx="3535679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1100" spc="-1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strongest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aisle-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rules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linked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department’s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major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rather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isolated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minor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aisles.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1811" y="2916808"/>
            <a:ext cx="69850" cy="403225"/>
            <a:chOff x="61811" y="2916808"/>
            <a:chExt cx="69850" cy="403225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2916808"/>
              <a:ext cx="69850" cy="6032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3088258"/>
              <a:ext cx="69850" cy="6032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3259708"/>
              <a:ext cx="69850" cy="6032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138259" y="2900933"/>
            <a:ext cx="36645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Fresh</a:t>
            </a:r>
            <a:r>
              <a:rPr dirty="0" sz="5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vegetables,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fresh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fruits,</a:t>
            </a:r>
            <a:r>
              <a:rPr dirty="0" sz="5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packaged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vegetables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fruits</a:t>
            </a:r>
            <a:r>
              <a:rPr dirty="0" sz="5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formed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strongest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connected</a:t>
            </a:r>
            <a:r>
              <a:rPr dirty="0" sz="5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aisle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Produce.</a:t>
            </a:r>
            <a:endParaRPr sz="550">
              <a:latin typeface="Arial MT"/>
              <a:cs typeface="Arial MT"/>
            </a:endParaRPr>
          </a:p>
          <a:p>
            <a:pPr marL="33020" marR="130175">
              <a:lnSpc>
                <a:spcPct val="204500"/>
              </a:lnSpc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aisle-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customers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often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combine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multiple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major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order.</a:t>
            </a:r>
            <a:r>
              <a:rPr dirty="0" sz="5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FP-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Growth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aisle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revealed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broader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shopping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product-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rules.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55875" y="3544871"/>
            <a:ext cx="157480" cy="362585"/>
            <a:chOff x="155875" y="3544871"/>
            <a:chExt cx="157480" cy="362585"/>
          </a:xfrm>
        </p:grpSpPr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817" y="3544871"/>
              <a:ext cx="152400" cy="12065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875" y="3849888"/>
              <a:ext cx="57150" cy="5715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72148" y="3541696"/>
            <a:ext cx="4226560" cy="41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60A5FA"/>
                </a:solidFill>
                <a:latin typeface="Arial"/>
                <a:cs typeface="Arial"/>
              </a:rPr>
              <a:t>WHY</a:t>
            </a:r>
            <a:r>
              <a:rPr dirty="0" sz="1100" spc="-85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60A5FA"/>
                </a:solidFill>
                <a:latin typeface="Arial"/>
                <a:cs typeface="Arial"/>
              </a:rPr>
              <a:t>THESE </a:t>
            </a:r>
            <a:r>
              <a:rPr dirty="0" sz="1100" spc="-10" b="1">
                <a:solidFill>
                  <a:srgbClr val="60A5FA"/>
                </a:solidFill>
                <a:latin typeface="Arial"/>
                <a:cs typeface="Arial"/>
              </a:rPr>
              <a:t>THRESHOLDS?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Support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count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1000</a:t>
            </a:r>
            <a:r>
              <a:rPr dirty="0" sz="700" spc="-20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kept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only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most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aisle-level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patterns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because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aisle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rules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broader</a:t>
            </a:r>
            <a:r>
              <a:rPr dirty="0" sz="7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7300" y="4034673"/>
            <a:ext cx="168338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naturally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more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frequent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than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product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rules.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60" name="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875" y="4276608"/>
            <a:ext cx="57150" cy="57150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272148" y="4248034"/>
            <a:ext cx="42316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700" spc="-10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10">
                <a:solidFill>
                  <a:srgbClr val="60A5FA"/>
                </a:solidFill>
                <a:latin typeface="Microsoft Sans Serif"/>
                <a:cs typeface="Microsoft Sans Serif"/>
              </a:rPr>
              <a:t> 0.10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removed weak</a:t>
            </a:r>
            <a:r>
              <a:rPr dirty="0" sz="7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associations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while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still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preserving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useful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co-occurrence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behavior.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1997" y="1761897"/>
            <a:ext cx="4587875" cy="688975"/>
            <a:chOff x="51997" y="1761897"/>
            <a:chExt cx="4587875" cy="688975"/>
          </a:xfrm>
        </p:grpSpPr>
        <p:sp>
          <p:nvSpPr>
            <p:cNvPr id="63" name="object 63"/>
            <p:cNvSpPr/>
            <p:nvPr/>
          </p:nvSpPr>
          <p:spPr>
            <a:xfrm>
              <a:off x="54272" y="1764172"/>
              <a:ext cx="4583430" cy="683895"/>
            </a:xfrm>
            <a:custGeom>
              <a:avLst/>
              <a:gdLst/>
              <a:ahLst/>
              <a:cxnLst/>
              <a:rect l="l" t="t" r="r" b="b"/>
              <a:pathLst>
                <a:path w="4583430" h="683894">
                  <a:moveTo>
                    <a:pt x="4528602" y="683871"/>
                  </a:moveTo>
                  <a:lnTo>
                    <a:pt x="54709" y="683871"/>
                  </a:lnTo>
                  <a:lnTo>
                    <a:pt x="33414" y="679572"/>
                  </a:lnTo>
                  <a:lnTo>
                    <a:pt x="16024" y="667847"/>
                  </a:lnTo>
                  <a:lnTo>
                    <a:pt x="4299" y="650457"/>
                  </a:lnTo>
                  <a:lnTo>
                    <a:pt x="0" y="629161"/>
                  </a:lnTo>
                  <a:lnTo>
                    <a:pt x="0" y="54709"/>
                  </a:lnTo>
                  <a:lnTo>
                    <a:pt x="4299" y="33414"/>
                  </a:lnTo>
                  <a:lnTo>
                    <a:pt x="16024" y="16024"/>
                  </a:lnTo>
                  <a:lnTo>
                    <a:pt x="33414" y="4299"/>
                  </a:lnTo>
                  <a:lnTo>
                    <a:pt x="54709" y="0"/>
                  </a:lnTo>
                  <a:lnTo>
                    <a:pt x="4528602" y="0"/>
                  </a:lnTo>
                  <a:lnTo>
                    <a:pt x="4567287" y="16024"/>
                  </a:lnTo>
                  <a:lnTo>
                    <a:pt x="4583311" y="54709"/>
                  </a:lnTo>
                  <a:lnTo>
                    <a:pt x="4583311" y="629161"/>
                  </a:lnTo>
                  <a:lnTo>
                    <a:pt x="4579012" y="650457"/>
                  </a:lnTo>
                  <a:lnTo>
                    <a:pt x="4567287" y="667847"/>
                  </a:lnTo>
                  <a:lnTo>
                    <a:pt x="4549897" y="679572"/>
                  </a:lnTo>
                  <a:lnTo>
                    <a:pt x="4528602" y="683871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4272" y="1764172"/>
              <a:ext cx="4583430" cy="683895"/>
            </a:xfrm>
            <a:custGeom>
              <a:avLst/>
              <a:gdLst/>
              <a:ahLst/>
              <a:cxnLst/>
              <a:rect l="l" t="t" r="r" b="b"/>
              <a:pathLst>
                <a:path w="4583430" h="683894">
                  <a:moveTo>
                    <a:pt x="0" y="54709"/>
                  </a:moveTo>
                  <a:lnTo>
                    <a:pt x="4299" y="33414"/>
                  </a:lnTo>
                  <a:lnTo>
                    <a:pt x="16024" y="16024"/>
                  </a:lnTo>
                  <a:lnTo>
                    <a:pt x="33414" y="4299"/>
                  </a:lnTo>
                  <a:lnTo>
                    <a:pt x="54709" y="0"/>
                  </a:lnTo>
                  <a:lnTo>
                    <a:pt x="4528602" y="0"/>
                  </a:lnTo>
                  <a:lnTo>
                    <a:pt x="4567287" y="16024"/>
                  </a:lnTo>
                  <a:lnTo>
                    <a:pt x="4583311" y="54709"/>
                  </a:lnTo>
                  <a:lnTo>
                    <a:pt x="4583311" y="629161"/>
                  </a:lnTo>
                  <a:lnTo>
                    <a:pt x="4579012" y="650457"/>
                  </a:lnTo>
                  <a:lnTo>
                    <a:pt x="4567287" y="667847"/>
                  </a:lnTo>
                  <a:lnTo>
                    <a:pt x="4549897" y="679572"/>
                  </a:lnTo>
                  <a:lnTo>
                    <a:pt x="4528602" y="683871"/>
                  </a:lnTo>
                  <a:lnTo>
                    <a:pt x="54709" y="683871"/>
                  </a:lnTo>
                  <a:lnTo>
                    <a:pt x="33414" y="679572"/>
                  </a:lnTo>
                  <a:lnTo>
                    <a:pt x="16024" y="667847"/>
                  </a:lnTo>
                  <a:lnTo>
                    <a:pt x="4299" y="650457"/>
                  </a:lnTo>
                  <a:lnTo>
                    <a:pt x="0" y="629161"/>
                  </a:lnTo>
                  <a:lnTo>
                    <a:pt x="0" y="54709"/>
                  </a:lnTo>
                  <a:close/>
                </a:path>
              </a:pathLst>
            </a:custGeom>
            <a:ln w="454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49" y="1803818"/>
              <a:ext cx="53975" cy="6985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101186" y="1743274"/>
            <a:ext cx="1283335" cy="42418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450"/>
              </a:spcBef>
            </a:pPr>
            <a:r>
              <a:rPr dirty="0" sz="650" b="1">
                <a:solidFill>
                  <a:srgbClr val="37BDF7"/>
                </a:solidFill>
                <a:latin typeface="Arial"/>
                <a:cs typeface="Arial"/>
              </a:rPr>
              <a:t>RULE</a:t>
            </a:r>
            <a:r>
              <a:rPr dirty="0" sz="650" spc="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650" b="1">
                <a:solidFill>
                  <a:srgbClr val="37BDF7"/>
                </a:solidFill>
                <a:latin typeface="Arial"/>
                <a:cs typeface="Arial"/>
              </a:rPr>
              <a:t>MINING</a:t>
            </a:r>
            <a:r>
              <a:rPr dirty="0" sz="650" spc="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37BDF7"/>
                </a:solidFill>
                <a:latin typeface="Arial"/>
                <a:cs typeface="Arial"/>
              </a:rPr>
              <a:t>SUMMARY</a:t>
            </a:r>
            <a:endParaRPr sz="650">
              <a:latin typeface="Arial"/>
              <a:cs typeface="Arial"/>
            </a:endParaRPr>
          </a:p>
          <a:p>
            <a:pPr marL="167640" indent="-154940">
              <a:lnSpc>
                <a:spcPct val="100000"/>
              </a:lnSpc>
              <a:spcBef>
                <a:spcPts val="325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baskets: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96,927</a:t>
            </a:r>
            <a:endParaRPr sz="650">
              <a:latin typeface="Microsoft Sans Serif"/>
              <a:cs typeface="Microsoft Sans Serif"/>
            </a:endParaRPr>
          </a:p>
          <a:p>
            <a:pPr marL="167640" indent="-154940">
              <a:lnSpc>
                <a:spcPct val="100000"/>
              </a:lnSpc>
              <a:spcBef>
                <a:spcPts val="120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6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</a:t>
            </a:r>
            <a:r>
              <a:rPr dirty="0" sz="6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itemsets:</a:t>
            </a:r>
            <a:r>
              <a:rPr dirty="0" sz="65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23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493605" y="1064132"/>
            <a:ext cx="2033905" cy="3683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2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support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count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1000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0.10</a:t>
            </a:r>
            <a:endParaRPr sz="650">
              <a:latin typeface="Microsoft Sans Serif"/>
              <a:cs typeface="Microsoft Sans Serif"/>
            </a:endParaRPr>
          </a:p>
          <a:p>
            <a:pPr marL="208279" marR="33020" indent="-196215">
              <a:lnSpc>
                <a:spcPts val="750"/>
              </a:lnSpc>
              <a:spcBef>
                <a:spcPts val="244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Focused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aisle-level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co-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occurrence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546661" y="1918848"/>
            <a:ext cx="97663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00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Filtered aisle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rules: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15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943752" y="118171"/>
            <a:ext cx="12001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9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95"/>
              <a:t>Pattern</a:t>
            </a:r>
            <a:r>
              <a:rPr dirty="0" spc="-229"/>
              <a:t> </a:t>
            </a:r>
            <a:r>
              <a:rPr dirty="0" spc="55"/>
              <a:t>Mining</a:t>
            </a:r>
            <a:r>
              <a:rPr dirty="0" spc="-225"/>
              <a:t> </a:t>
            </a:r>
            <a:r>
              <a:rPr dirty="0" spc="55"/>
              <a:t>3: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901881" y="796604"/>
            <a:ext cx="4103370" cy="2353945"/>
            <a:chOff x="4901881" y="796604"/>
            <a:chExt cx="4103370" cy="2353945"/>
          </a:xfrm>
        </p:grpSpPr>
        <p:sp>
          <p:nvSpPr>
            <p:cNvPr id="5" name="object 5"/>
            <p:cNvSpPr/>
            <p:nvPr/>
          </p:nvSpPr>
          <p:spPr>
            <a:xfrm>
              <a:off x="4905374" y="800097"/>
              <a:ext cx="4096385" cy="2346960"/>
            </a:xfrm>
            <a:custGeom>
              <a:avLst/>
              <a:gdLst/>
              <a:ahLst/>
              <a:cxnLst/>
              <a:rect l="l" t="t" r="r" b="b"/>
              <a:pathLst>
                <a:path w="4096384" h="2346960">
                  <a:moveTo>
                    <a:pt x="4013076" y="2346940"/>
                  </a:moveTo>
                  <a:lnTo>
                    <a:pt x="82823" y="2346940"/>
                  </a:lnTo>
                  <a:lnTo>
                    <a:pt x="50585" y="2340432"/>
                  </a:lnTo>
                  <a:lnTo>
                    <a:pt x="24258" y="2322682"/>
                  </a:lnTo>
                  <a:lnTo>
                    <a:pt x="6508" y="2296355"/>
                  </a:lnTo>
                  <a:lnTo>
                    <a:pt x="0" y="2264117"/>
                  </a:lnTo>
                  <a:lnTo>
                    <a:pt x="0" y="82823"/>
                  </a:lnTo>
                  <a:lnTo>
                    <a:pt x="6508" y="50584"/>
                  </a:lnTo>
                  <a:lnTo>
                    <a:pt x="24258" y="24258"/>
                  </a:lnTo>
                  <a:lnTo>
                    <a:pt x="50585" y="6508"/>
                  </a:lnTo>
                  <a:lnTo>
                    <a:pt x="82823" y="0"/>
                  </a:lnTo>
                  <a:lnTo>
                    <a:pt x="4013076" y="0"/>
                  </a:lnTo>
                  <a:lnTo>
                    <a:pt x="4059027" y="13915"/>
                  </a:lnTo>
                  <a:lnTo>
                    <a:pt x="4089595" y="51128"/>
                  </a:lnTo>
                  <a:lnTo>
                    <a:pt x="4095900" y="82823"/>
                  </a:lnTo>
                  <a:lnTo>
                    <a:pt x="4095900" y="2264117"/>
                  </a:lnTo>
                  <a:lnTo>
                    <a:pt x="4089391" y="2296355"/>
                  </a:lnTo>
                  <a:lnTo>
                    <a:pt x="4071642" y="2322682"/>
                  </a:lnTo>
                  <a:lnTo>
                    <a:pt x="4045315" y="2340432"/>
                  </a:lnTo>
                  <a:lnTo>
                    <a:pt x="4013076" y="2346940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05374" y="800097"/>
              <a:ext cx="4096385" cy="2346960"/>
            </a:xfrm>
            <a:custGeom>
              <a:avLst/>
              <a:gdLst/>
              <a:ahLst/>
              <a:cxnLst/>
              <a:rect l="l" t="t" r="r" b="b"/>
              <a:pathLst>
                <a:path w="4096384" h="2346960">
                  <a:moveTo>
                    <a:pt x="0" y="82823"/>
                  </a:moveTo>
                  <a:lnTo>
                    <a:pt x="6508" y="50584"/>
                  </a:lnTo>
                  <a:lnTo>
                    <a:pt x="24258" y="24258"/>
                  </a:lnTo>
                  <a:lnTo>
                    <a:pt x="50585" y="6508"/>
                  </a:lnTo>
                  <a:lnTo>
                    <a:pt x="82823" y="0"/>
                  </a:lnTo>
                  <a:lnTo>
                    <a:pt x="4013076" y="0"/>
                  </a:lnTo>
                  <a:lnTo>
                    <a:pt x="4059027" y="13915"/>
                  </a:lnTo>
                  <a:lnTo>
                    <a:pt x="4089595" y="51128"/>
                  </a:lnTo>
                  <a:lnTo>
                    <a:pt x="4095900" y="82823"/>
                  </a:lnTo>
                  <a:lnTo>
                    <a:pt x="4095900" y="2264117"/>
                  </a:lnTo>
                  <a:lnTo>
                    <a:pt x="4089391" y="2296355"/>
                  </a:lnTo>
                  <a:lnTo>
                    <a:pt x="4071642" y="2322682"/>
                  </a:lnTo>
                  <a:lnTo>
                    <a:pt x="4045315" y="2340432"/>
                  </a:lnTo>
                  <a:lnTo>
                    <a:pt x="4013076" y="2346940"/>
                  </a:lnTo>
                  <a:lnTo>
                    <a:pt x="82823" y="2346940"/>
                  </a:lnTo>
                  <a:lnTo>
                    <a:pt x="50585" y="2340432"/>
                  </a:lnTo>
                  <a:lnTo>
                    <a:pt x="24258" y="2322682"/>
                  </a:lnTo>
                  <a:lnTo>
                    <a:pt x="6508" y="2296355"/>
                  </a:lnTo>
                  <a:lnTo>
                    <a:pt x="0" y="2264117"/>
                  </a:lnTo>
                  <a:lnTo>
                    <a:pt x="0" y="82823"/>
                  </a:lnTo>
                  <a:close/>
                </a:path>
              </a:pathLst>
            </a:custGeom>
            <a:ln w="689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423004" y="302830"/>
            <a:ext cx="4682490" cy="738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60" b="1">
                <a:solidFill>
                  <a:srgbClr val="37BDF7"/>
                </a:solidFill>
                <a:latin typeface="Arial"/>
                <a:cs typeface="Arial"/>
              </a:rPr>
              <a:t>Cross-</a:t>
            </a:r>
            <a:r>
              <a:rPr dirty="0" sz="2600" spc="85" b="1">
                <a:solidFill>
                  <a:srgbClr val="37BDF7"/>
                </a:solidFill>
                <a:latin typeface="Arial"/>
                <a:cs typeface="Arial"/>
              </a:rPr>
              <a:t>Department</a:t>
            </a:r>
            <a:r>
              <a:rPr dirty="0" sz="2600" spc="-204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2600" spc="45" b="1">
                <a:solidFill>
                  <a:srgbClr val="37BDF7"/>
                </a:solidFill>
                <a:latin typeface="Arial"/>
                <a:cs typeface="Arial"/>
              </a:rPr>
              <a:t>Rules</a:t>
            </a:r>
            <a:endParaRPr sz="2600">
              <a:latin typeface="Arial"/>
              <a:cs typeface="Arial"/>
            </a:endParaRPr>
          </a:p>
          <a:p>
            <a:pPr marL="2392045">
              <a:lnSpc>
                <a:spcPct val="100000"/>
              </a:lnSpc>
              <a:spcBef>
                <a:spcPts val="1540"/>
              </a:spcBef>
            </a:pPr>
            <a:r>
              <a:rPr dirty="0" sz="800" spc="-25" b="1">
                <a:solidFill>
                  <a:srgbClr val="37BDF7"/>
                </a:solidFill>
                <a:latin typeface="Arial"/>
                <a:cs typeface="Arial"/>
              </a:rPr>
              <a:t>Top</a:t>
            </a:r>
            <a:r>
              <a:rPr dirty="0" sz="800" spc="-4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Cross-</a:t>
            </a:r>
            <a:r>
              <a:rPr dirty="0" sz="800" b="1">
                <a:solidFill>
                  <a:srgbClr val="37BDF7"/>
                </a:solidFill>
                <a:latin typeface="Arial"/>
                <a:cs typeface="Arial"/>
              </a:rPr>
              <a:t>Department</a:t>
            </a:r>
            <a:r>
              <a:rPr dirty="0" sz="800" spc="-4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Rules</a:t>
            </a:r>
            <a:r>
              <a:rPr dirty="0" sz="800" spc="-4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Involving</a:t>
            </a:r>
            <a:r>
              <a:rPr dirty="0" sz="800" spc="-4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00624" y="1110721"/>
            <a:ext cx="3905885" cy="172720"/>
          </a:xfrm>
          <a:custGeom>
            <a:avLst/>
            <a:gdLst/>
            <a:ahLst/>
            <a:cxnLst/>
            <a:rect l="l" t="t" r="r" b="b"/>
            <a:pathLst>
              <a:path w="3905884" h="172719">
                <a:moveTo>
                  <a:pt x="3877780" y="172623"/>
                </a:moveTo>
                <a:lnTo>
                  <a:pt x="27619" y="172623"/>
                </a:lnTo>
                <a:lnTo>
                  <a:pt x="16869" y="170453"/>
                </a:lnTo>
                <a:lnTo>
                  <a:pt x="8089" y="164533"/>
                </a:lnTo>
                <a:lnTo>
                  <a:pt x="2170" y="155754"/>
                </a:lnTo>
                <a:lnTo>
                  <a:pt x="0" y="145003"/>
                </a:lnTo>
                <a:lnTo>
                  <a:pt x="0" y="27619"/>
                </a:lnTo>
                <a:lnTo>
                  <a:pt x="2170" y="16868"/>
                </a:lnTo>
                <a:lnTo>
                  <a:pt x="8089" y="8089"/>
                </a:lnTo>
                <a:lnTo>
                  <a:pt x="16869" y="2170"/>
                </a:lnTo>
                <a:lnTo>
                  <a:pt x="27619" y="0"/>
                </a:lnTo>
                <a:lnTo>
                  <a:pt x="3885105" y="0"/>
                </a:lnTo>
                <a:lnTo>
                  <a:pt x="3892130" y="2909"/>
                </a:lnTo>
                <a:lnTo>
                  <a:pt x="3902490" y="13269"/>
                </a:lnTo>
                <a:lnTo>
                  <a:pt x="3905400" y="20294"/>
                </a:lnTo>
                <a:lnTo>
                  <a:pt x="3905400" y="145003"/>
                </a:lnTo>
                <a:lnTo>
                  <a:pt x="3903230" y="155754"/>
                </a:lnTo>
                <a:lnTo>
                  <a:pt x="3897310" y="164533"/>
                </a:lnTo>
                <a:lnTo>
                  <a:pt x="3888531" y="170453"/>
                </a:lnTo>
                <a:lnTo>
                  <a:pt x="3877780" y="172623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54600" y="1138525"/>
            <a:ext cx="286258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39264" algn="l"/>
                <a:tab pos="2567305" algn="l"/>
              </a:tabLst>
            </a:pPr>
            <a:r>
              <a:rPr dirty="0" sz="550" spc="-20" b="1">
                <a:solidFill>
                  <a:srgbClr val="37BDF7"/>
                </a:solidFill>
                <a:latin typeface="Arial"/>
                <a:cs typeface="Arial"/>
              </a:rPr>
              <a:t>Rule</a:t>
            </a:r>
            <a:r>
              <a:rPr dirty="0" sz="550" b="1">
                <a:solidFill>
                  <a:srgbClr val="37BDF7"/>
                </a:solidFill>
                <a:latin typeface="Arial"/>
                <a:cs typeface="Arial"/>
              </a:rPr>
              <a:t>	Support</a:t>
            </a:r>
            <a:r>
              <a:rPr dirty="0" sz="550" spc="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Count</a:t>
            </a:r>
            <a:r>
              <a:rPr dirty="0" sz="550" b="1">
                <a:solidFill>
                  <a:srgbClr val="37BDF7"/>
                </a:solidFill>
                <a:latin typeface="Arial"/>
                <a:cs typeface="Arial"/>
              </a:rPr>
              <a:t>	</a:t>
            </a: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Support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10358" y="1138525"/>
            <a:ext cx="42989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 b="1">
                <a:solidFill>
                  <a:srgbClr val="37BDF7"/>
                </a:solidFill>
                <a:latin typeface="Arial"/>
                <a:cs typeface="Arial"/>
              </a:rPr>
              <a:t>Confidence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00624" y="1317804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4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4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54600" y="1414820"/>
            <a:ext cx="69024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>
                <a:solidFill>
                  <a:srgbClr val="60A5FA"/>
                </a:solidFill>
                <a:latin typeface="Microsoft Sans Serif"/>
                <a:cs typeface="Microsoft Sans Serif"/>
              </a:rPr>
              <a:t>produce</a:t>
            </a:r>
            <a:r>
              <a:rPr dirty="0" sz="550" spc="-20">
                <a:solidFill>
                  <a:srgbClr val="60A5FA"/>
                </a:solidFill>
                <a:latin typeface="Microsoft Sans Serif"/>
                <a:cs typeface="Microsoft Sans Serif"/>
              </a:rPr>
              <a:t> → </a:t>
            </a:r>
            <a:r>
              <a:rPr dirty="0" sz="550" spc="-10">
                <a:solidFill>
                  <a:srgbClr val="60A5FA"/>
                </a:solidFill>
                <a:latin typeface="Microsoft Sans Serif"/>
                <a:cs typeface="Microsoft Sans Serif"/>
              </a:rPr>
              <a:t>dairy</a:t>
            </a:r>
            <a:r>
              <a:rPr dirty="0" sz="55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60A5FA"/>
                </a:solidFill>
                <a:latin typeface="Microsoft Sans Serif"/>
                <a:cs typeface="Microsoft Sans Serif"/>
              </a:rPr>
              <a:t>eggs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3276" y="1414636"/>
            <a:ext cx="23114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60A5FA"/>
                </a:solidFill>
                <a:latin typeface="Microsoft Sans Serif"/>
                <a:cs typeface="Microsoft Sans Serif"/>
              </a:rPr>
              <a:t>71356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35371" y="1414636"/>
            <a:ext cx="255904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60A5FA"/>
                </a:solidFill>
                <a:latin typeface="Microsoft Sans Serif"/>
                <a:cs typeface="Microsoft Sans Serif"/>
              </a:rPr>
              <a:t>0.5438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97628" y="1414636"/>
            <a:ext cx="25527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60A5FA"/>
                </a:solidFill>
                <a:latin typeface="Microsoft Sans Serif"/>
                <a:cs typeface="Microsoft Sans Serif"/>
              </a:rPr>
              <a:t>0.7362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00624" y="1662943"/>
            <a:ext cx="3905885" cy="311150"/>
          </a:xfrm>
          <a:custGeom>
            <a:avLst/>
            <a:gdLst/>
            <a:ahLst/>
            <a:cxnLst/>
            <a:rect l="l" t="t" r="r" b="b"/>
            <a:pathLst>
              <a:path w="3905884" h="311150">
                <a:moveTo>
                  <a:pt x="3877787" y="310678"/>
                </a:moveTo>
                <a:lnTo>
                  <a:pt x="27613" y="310678"/>
                </a:lnTo>
                <a:lnTo>
                  <a:pt x="16865" y="308508"/>
                </a:lnTo>
                <a:lnTo>
                  <a:pt x="8087" y="302591"/>
                </a:lnTo>
                <a:lnTo>
                  <a:pt x="2170" y="293813"/>
                </a:lnTo>
                <a:lnTo>
                  <a:pt x="0" y="283065"/>
                </a:lnTo>
                <a:lnTo>
                  <a:pt x="0" y="27613"/>
                </a:lnTo>
                <a:lnTo>
                  <a:pt x="2170" y="16864"/>
                </a:lnTo>
                <a:lnTo>
                  <a:pt x="8087" y="8087"/>
                </a:lnTo>
                <a:lnTo>
                  <a:pt x="16865" y="2169"/>
                </a:lnTo>
                <a:lnTo>
                  <a:pt x="27613" y="0"/>
                </a:lnTo>
                <a:lnTo>
                  <a:pt x="3885110" y="0"/>
                </a:lnTo>
                <a:lnTo>
                  <a:pt x="3892133" y="2909"/>
                </a:lnTo>
                <a:lnTo>
                  <a:pt x="3902490" y="13266"/>
                </a:lnTo>
                <a:lnTo>
                  <a:pt x="3905400" y="20289"/>
                </a:lnTo>
                <a:lnTo>
                  <a:pt x="3905400" y="283065"/>
                </a:lnTo>
                <a:lnTo>
                  <a:pt x="3903230" y="293813"/>
                </a:lnTo>
                <a:lnTo>
                  <a:pt x="3897312" y="302591"/>
                </a:lnTo>
                <a:lnTo>
                  <a:pt x="3888535" y="308508"/>
                </a:lnTo>
                <a:lnTo>
                  <a:pt x="3877787" y="310678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54600" y="1759958"/>
            <a:ext cx="69659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2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5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550" spc="-10">
                <a:solidFill>
                  <a:srgbClr val="E1E7F0"/>
                </a:solidFill>
                <a:latin typeface="Microsoft Sans Serif"/>
                <a:cs typeface="Microsoft Sans Serif"/>
              </a:rPr>
              <a:t>beverages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1842" y="1759774"/>
            <a:ext cx="23431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44893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37466" y="1759774"/>
            <a:ext cx="25146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0.3421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7554" y="1759774"/>
            <a:ext cx="25527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F7FAFC"/>
                </a:solidFill>
                <a:latin typeface="Microsoft Sans Serif"/>
                <a:cs typeface="Microsoft Sans Serif"/>
              </a:rPr>
              <a:t>0.4632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00612" y="2008085"/>
            <a:ext cx="3905885" cy="1001394"/>
          </a:xfrm>
          <a:custGeom>
            <a:avLst/>
            <a:gdLst/>
            <a:ahLst/>
            <a:cxnLst/>
            <a:rect l="l" t="t" r="r" b="b"/>
            <a:pathLst>
              <a:path w="3905884" h="1001394">
                <a:moveTo>
                  <a:pt x="3905402" y="710565"/>
                </a:moveTo>
                <a:lnTo>
                  <a:pt x="3902494" y="703541"/>
                </a:lnTo>
                <a:lnTo>
                  <a:pt x="3892143" y="693191"/>
                </a:lnTo>
                <a:lnTo>
                  <a:pt x="3885120" y="690283"/>
                </a:lnTo>
                <a:lnTo>
                  <a:pt x="27622" y="690283"/>
                </a:lnTo>
                <a:lnTo>
                  <a:pt x="16865" y="692454"/>
                </a:lnTo>
                <a:lnTo>
                  <a:pt x="8089" y="698360"/>
                </a:lnTo>
                <a:lnTo>
                  <a:pt x="2171" y="707148"/>
                </a:lnTo>
                <a:lnTo>
                  <a:pt x="0" y="717892"/>
                </a:lnTo>
                <a:lnTo>
                  <a:pt x="0" y="973340"/>
                </a:lnTo>
                <a:lnTo>
                  <a:pt x="2171" y="984097"/>
                </a:lnTo>
                <a:lnTo>
                  <a:pt x="8089" y="992873"/>
                </a:lnTo>
                <a:lnTo>
                  <a:pt x="16865" y="998791"/>
                </a:lnTo>
                <a:lnTo>
                  <a:pt x="27622" y="1000963"/>
                </a:lnTo>
                <a:lnTo>
                  <a:pt x="3877792" y="1000963"/>
                </a:lnTo>
                <a:lnTo>
                  <a:pt x="3888536" y="998791"/>
                </a:lnTo>
                <a:lnTo>
                  <a:pt x="3897312" y="992873"/>
                </a:lnTo>
                <a:lnTo>
                  <a:pt x="3903230" y="984097"/>
                </a:lnTo>
                <a:lnTo>
                  <a:pt x="3905402" y="973340"/>
                </a:lnTo>
                <a:lnTo>
                  <a:pt x="3905402" y="710565"/>
                </a:lnTo>
                <a:close/>
              </a:path>
              <a:path w="3905884" h="1001394">
                <a:moveTo>
                  <a:pt x="3905402" y="365429"/>
                </a:moveTo>
                <a:lnTo>
                  <a:pt x="3902494" y="358406"/>
                </a:lnTo>
                <a:lnTo>
                  <a:pt x="3892143" y="348043"/>
                </a:lnTo>
                <a:lnTo>
                  <a:pt x="3885120" y="345135"/>
                </a:lnTo>
                <a:lnTo>
                  <a:pt x="27622" y="345135"/>
                </a:lnTo>
                <a:lnTo>
                  <a:pt x="16865" y="347306"/>
                </a:lnTo>
                <a:lnTo>
                  <a:pt x="8089" y="353225"/>
                </a:lnTo>
                <a:lnTo>
                  <a:pt x="2171" y="362000"/>
                </a:lnTo>
                <a:lnTo>
                  <a:pt x="0" y="372757"/>
                </a:lnTo>
                <a:lnTo>
                  <a:pt x="0" y="628205"/>
                </a:lnTo>
                <a:lnTo>
                  <a:pt x="2171" y="638949"/>
                </a:lnTo>
                <a:lnTo>
                  <a:pt x="8089" y="647725"/>
                </a:lnTo>
                <a:lnTo>
                  <a:pt x="16865" y="653643"/>
                </a:lnTo>
                <a:lnTo>
                  <a:pt x="27622" y="655815"/>
                </a:lnTo>
                <a:lnTo>
                  <a:pt x="3877792" y="655815"/>
                </a:lnTo>
                <a:lnTo>
                  <a:pt x="3888536" y="653643"/>
                </a:lnTo>
                <a:lnTo>
                  <a:pt x="3897312" y="647725"/>
                </a:lnTo>
                <a:lnTo>
                  <a:pt x="3903230" y="638949"/>
                </a:lnTo>
                <a:lnTo>
                  <a:pt x="3905402" y="628205"/>
                </a:lnTo>
                <a:lnTo>
                  <a:pt x="3905402" y="365429"/>
                </a:lnTo>
                <a:close/>
              </a:path>
              <a:path w="3905884" h="1001394">
                <a:moveTo>
                  <a:pt x="3905402" y="20294"/>
                </a:moveTo>
                <a:lnTo>
                  <a:pt x="3902494" y="13271"/>
                </a:lnTo>
                <a:lnTo>
                  <a:pt x="3892143" y="2908"/>
                </a:lnTo>
                <a:lnTo>
                  <a:pt x="3885120" y="0"/>
                </a:lnTo>
                <a:lnTo>
                  <a:pt x="27622" y="0"/>
                </a:lnTo>
                <a:lnTo>
                  <a:pt x="16865" y="2171"/>
                </a:lnTo>
                <a:lnTo>
                  <a:pt x="8089" y="8089"/>
                </a:lnTo>
                <a:lnTo>
                  <a:pt x="2171" y="16865"/>
                </a:lnTo>
                <a:lnTo>
                  <a:pt x="0" y="27609"/>
                </a:lnTo>
                <a:lnTo>
                  <a:pt x="0" y="283070"/>
                </a:lnTo>
                <a:lnTo>
                  <a:pt x="2171" y="293814"/>
                </a:lnTo>
                <a:lnTo>
                  <a:pt x="8089" y="302590"/>
                </a:lnTo>
                <a:lnTo>
                  <a:pt x="16865" y="308508"/>
                </a:lnTo>
                <a:lnTo>
                  <a:pt x="27622" y="310680"/>
                </a:lnTo>
                <a:lnTo>
                  <a:pt x="3877792" y="310680"/>
                </a:lnTo>
                <a:lnTo>
                  <a:pt x="3888536" y="308508"/>
                </a:lnTo>
                <a:lnTo>
                  <a:pt x="3897312" y="302590"/>
                </a:lnTo>
                <a:lnTo>
                  <a:pt x="3903230" y="293814"/>
                </a:lnTo>
                <a:lnTo>
                  <a:pt x="3905402" y="283070"/>
                </a:lnTo>
                <a:lnTo>
                  <a:pt x="3905402" y="20294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45319" y="2126219"/>
          <a:ext cx="3693160" cy="770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3965"/>
                <a:gridCol w="1111249"/>
                <a:gridCol w="744219"/>
                <a:gridCol w="517524"/>
              </a:tblGrid>
              <a:tr h="212725">
                <a:tc>
                  <a:txBody>
                    <a:bodyPr/>
                    <a:lstStyle/>
                    <a:p>
                      <a:pPr marL="21590">
                        <a:lnSpc>
                          <a:spcPts val="585"/>
                        </a:lnSpc>
                      </a:pP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produce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snacks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9395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44389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0.3383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970">
                        <a:lnSpc>
                          <a:spcPts val="62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0.4580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/>
                </a:tc>
              </a:tr>
              <a:tr h="344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produce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frozen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241935">
                        <a:lnSpc>
                          <a:spcPct val="10000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41264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R="10795">
                        <a:lnSpc>
                          <a:spcPct val="10000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0.3145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15240">
                        <a:lnSpc>
                          <a:spcPct val="10000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0.4257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590">
                        <a:lnSpc>
                          <a:spcPts val="605"/>
                        </a:lnSpc>
                      </a:pPr>
                      <a:r>
                        <a:rPr dirty="0" sz="55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produce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2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550" spc="-3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550" spc="-10">
                          <a:solidFill>
                            <a:srgbClr val="E1E7F0"/>
                          </a:solidFill>
                          <a:latin typeface="Microsoft Sans Serif"/>
                          <a:cs typeface="Microsoft Sans Serif"/>
                        </a:rPr>
                        <a:t>pantry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238760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39075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 marR="10795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0.2978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15875">
                        <a:lnSpc>
                          <a:spcPts val="570"/>
                        </a:lnSpc>
                      </a:pPr>
                      <a:r>
                        <a:rPr dirty="0" sz="550" spc="-10">
                          <a:solidFill>
                            <a:srgbClr val="F7FAFC"/>
                          </a:solidFill>
                          <a:latin typeface="Microsoft Sans Serif"/>
                          <a:cs typeface="Microsoft Sans Serif"/>
                        </a:rPr>
                        <a:t>0.4031</a:t>
                      </a:r>
                      <a:endParaRPr sz="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990"/>
                </a:tc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51243" y="884555"/>
            <a:ext cx="4589780" cy="740410"/>
            <a:chOff x="51243" y="884555"/>
            <a:chExt cx="4589780" cy="740410"/>
          </a:xfrm>
        </p:grpSpPr>
        <p:sp>
          <p:nvSpPr>
            <p:cNvPr id="24" name="object 24"/>
            <p:cNvSpPr/>
            <p:nvPr/>
          </p:nvSpPr>
          <p:spPr>
            <a:xfrm>
              <a:off x="54280" y="887593"/>
              <a:ext cx="4583430" cy="734060"/>
            </a:xfrm>
            <a:custGeom>
              <a:avLst/>
              <a:gdLst/>
              <a:ahLst/>
              <a:cxnLst/>
              <a:rect l="l" t="t" r="r" b="b"/>
              <a:pathLst>
                <a:path w="4583430" h="734060">
                  <a:moveTo>
                    <a:pt x="4524612" y="733740"/>
                  </a:moveTo>
                  <a:lnTo>
                    <a:pt x="58699" y="733740"/>
                  </a:lnTo>
                  <a:lnTo>
                    <a:pt x="35850" y="729127"/>
                  </a:lnTo>
                  <a:lnTo>
                    <a:pt x="17192" y="716547"/>
                  </a:lnTo>
                  <a:lnTo>
                    <a:pt x="4612" y="697889"/>
                  </a:lnTo>
                  <a:lnTo>
                    <a:pt x="0" y="675040"/>
                  </a:lnTo>
                  <a:lnTo>
                    <a:pt x="0" y="58699"/>
                  </a:lnTo>
                  <a:lnTo>
                    <a:pt x="4612" y="35850"/>
                  </a:lnTo>
                  <a:lnTo>
                    <a:pt x="17192" y="17192"/>
                  </a:lnTo>
                  <a:lnTo>
                    <a:pt x="35850" y="4612"/>
                  </a:lnTo>
                  <a:lnTo>
                    <a:pt x="58699" y="0"/>
                  </a:lnTo>
                  <a:lnTo>
                    <a:pt x="4524612" y="0"/>
                  </a:lnTo>
                  <a:lnTo>
                    <a:pt x="4566119" y="17192"/>
                  </a:lnTo>
                  <a:lnTo>
                    <a:pt x="4583311" y="58699"/>
                  </a:lnTo>
                  <a:lnTo>
                    <a:pt x="4583311" y="675040"/>
                  </a:lnTo>
                  <a:lnTo>
                    <a:pt x="4578699" y="697889"/>
                  </a:lnTo>
                  <a:lnTo>
                    <a:pt x="4566119" y="716547"/>
                  </a:lnTo>
                  <a:lnTo>
                    <a:pt x="4547461" y="729127"/>
                  </a:lnTo>
                  <a:lnTo>
                    <a:pt x="4524612" y="733740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4280" y="887593"/>
              <a:ext cx="4583430" cy="734060"/>
            </a:xfrm>
            <a:custGeom>
              <a:avLst/>
              <a:gdLst/>
              <a:ahLst/>
              <a:cxnLst/>
              <a:rect l="l" t="t" r="r" b="b"/>
              <a:pathLst>
                <a:path w="4583430" h="734060">
                  <a:moveTo>
                    <a:pt x="0" y="58699"/>
                  </a:moveTo>
                  <a:lnTo>
                    <a:pt x="4612" y="35850"/>
                  </a:lnTo>
                  <a:lnTo>
                    <a:pt x="17192" y="17192"/>
                  </a:lnTo>
                  <a:lnTo>
                    <a:pt x="35850" y="4612"/>
                  </a:lnTo>
                  <a:lnTo>
                    <a:pt x="58699" y="0"/>
                  </a:lnTo>
                  <a:lnTo>
                    <a:pt x="4524612" y="0"/>
                  </a:lnTo>
                  <a:lnTo>
                    <a:pt x="4566119" y="17192"/>
                  </a:lnTo>
                  <a:lnTo>
                    <a:pt x="4583311" y="58699"/>
                  </a:lnTo>
                  <a:lnTo>
                    <a:pt x="4583311" y="675040"/>
                  </a:lnTo>
                  <a:lnTo>
                    <a:pt x="4578699" y="697889"/>
                  </a:lnTo>
                  <a:lnTo>
                    <a:pt x="4566119" y="716547"/>
                  </a:lnTo>
                  <a:lnTo>
                    <a:pt x="4547461" y="729127"/>
                  </a:lnTo>
                  <a:lnTo>
                    <a:pt x="4524612" y="733740"/>
                  </a:lnTo>
                  <a:lnTo>
                    <a:pt x="58699" y="733740"/>
                  </a:lnTo>
                  <a:lnTo>
                    <a:pt x="35850" y="729127"/>
                  </a:lnTo>
                  <a:lnTo>
                    <a:pt x="17192" y="716547"/>
                  </a:lnTo>
                  <a:lnTo>
                    <a:pt x="4612" y="697889"/>
                  </a:lnTo>
                  <a:lnTo>
                    <a:pt x="0" y="675040"/>
                  </a:lnTo>
                  <a:lnTo>
                    <a:pt x="0" y="58699"/>
                  </a:lnTo>
                  <a:close/>
                </a:path>
              </a:pathLst>
            </a:custGeom>
            <a:ln w="607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0" y="941866"/>
              <a:ext cx="69850" cy="9207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37980" y="857185"/>
            <a:ext cx="2174875" cy="71310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590"/>
              </a:spcBef>
            </a:pPr>
            <a:r>
              <a:rPr dirty="0" sz="900" spc="-20" b="1">
                <a:solidFill>
                  <a:srgbClr val="37BDF7"/>
                </a:solidFill>
                <a:latin typeface="Arial"/>
                <a:cs typeface="Arial"/>
              </a:rPr>
              <a:t>ANALYSIS FOCUS</a:t>
            </a:r>
            <a:endParaRPr sz="900">
              <a:latin typeface="Arial"/>
              <a:cs typeface="Arial"/>
            </a:endParaRPr>
          </a:p>
          <a:p>
            <a:pPr marL="208279" indent="-195580">
              <a:lnSpc>
                <a:spcPct val="100000"/>
              </a:lnSpc>
              <a:spcBef>
                <a:spcPts val="360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Built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baskets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from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full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training</a:t>
            </a:r>
            <a:r>
              <a:rPr dirty="0" sz="65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orders</a:t>
            </a:r>
            <a:endParaRPr sz="650">
              <a:latin typeface="Microsoft Sans Serif"/>
              <a:cs typeface="Microsoft Sans Serif"/>
            </a:endParaRPr>
          </a:p>
          <a:p>
            <a:pPr marL="208279" indent="-195580">
              <a:lnSpc>
                <a:spcPct val="100000"/>
              </a:lnSpc>
              <a:spcBef>
                <a:spcPts val="1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Applied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mine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department-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level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itemsets</a:t>
            </a:r>
            <a:endParaRPr sz="650">
              <a:latin typeface="Microsoft Sans Serif"/>
              <a:cs typeface="Microsoft Sans Serif"/>
            </a:endParaRPr>
          </a:p>
          <a:p>
            <a:pPr marL="208279" marR="76835" indent="-196215">
              <a:lnSpc>
                <a:spcPts val="750"/>
              </a:lnSpc>
              <a:spcBef>
                <a:spcPts val="24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Focused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one-to-one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form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50">
                <a:solidFill>
                  <a:srgbClr val="E1E7F0"/>
                </a:solidFill>
                <a:latin typeface="Microsoft Sans Serif"/>
                <a:cs typeface="Microsoft Sans Serif"/>
              </a:rPr>
              <a:t>→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other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departments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29" name="object 29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603" y="4701172"/>
              <a:ext cx="88900" cy="127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93669" y="4705840"/>
            <a:ext cx="7807959" cy="2794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5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Cross-department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FP-Growth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rules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showed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was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strongly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linked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with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dairy</a:t>
            </a:r>
            <a:r>
              <a:rPr dirty="0" sz="650" spc="-2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eggs,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beverages,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snacks,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frozen,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pantry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items.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The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rule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was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→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dairy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eggs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with</a:t>
            </a:r>
            <a:endParaRPr sz="650">
              <a:latin typeface="Microsoft Sans Serif"/>
              <a:cs typeface="Microsoft Sans Serif"/>
            </a:endParaRPr>
          </a:p>
          <a:p>
            <a:pPr algn="ctr" marR="240665">
              <a:lnSpc>
                <a:spcPct val="100000"/>
              </a:lnSpc>
              <a:spcBef>
                <a:spcPts val="90"/>
              </a:spcBef>
            </a:pP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support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count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71,356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1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0.7362.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53062" y="3354550"/>
            <a:ext cx="4200525" cy="1130935"/>
            <a:chOff x="4853062" y="3354550"/>
            <a:chExt cx="4200525" cy="1130935"/>
          </a:xfrm>
        </p:grpSpPr>
        <p:sp>
          <p:nvSpPr>
            <p:cNvPr id="33" name="object 33"/>
            <p:cNvSpPr/>
            <p:nvPr/>
          </p:nvSpPr>
          <p:spPr>
            <a:xfrm>
              <a:off x="4857824" y="3359313"/>
              <a:ext cx="4191000" cy="1121410"/>
            </a:xfrm>
            <a:custGeom>
              <a:avLst/>
              <a:gdLst/>
              <a:ahLst/>
              <a:cxnLst/>
              <a:rect l="l" t="t" r="r" b="b"/>
              <a:pathLst>
                <a:path w="4191000" h="1121410">
                  <a:moveTo>
                    <a:pt x="4068716" y="1121043"/>
                  </a:moveTo>
                  <a:lnTo>
                    <a:pt x="122283" y="1121043"/>
                  </a:lnTo>
                  <a:lnTo>
                    <a:pt x="74685" y="1111433"/>
                  </a:lnTo>
                  <a:lnTo>
                    <a:pt x="35815" y="1085227"/>
                  </a:lnTo>
                  <a:lnTo>
                    <a:pt x="9609" y="1046358"/>
                  </a:lnTo>
                  <a:lnTo>
                    <a:pt x="0" y="998759"/>
                  </a:lnTo>
                  <a:lnTo>
                    <a:pt x="0" y="122283"/>
                  </a:lnTo>
                  <a:lnTo>
                    <a:pt x="9609" y="74685"/>
                  </a:lnTo>
                  <a:lnTo>
                    <a:pt x="35815" y="35816"/>
                  </a:lnTo>
                  <a:lnTo>
                    <a:pt x="74685" y="9609"/>
                  </a:lnTo>
                  <a:lnTo>
                    <a:pt x="122283" y="0"/>
                  </a:lnTo>
                  <a:lnTo>
                    <a:pt x="4068716" y="0"/>
                  </a:lnTo>
                  <a:lnTo>
                    <a:pt x="4115512" y="9308"/>
                  </a:lnTo>
                  <a:lnTo>
                    <a:pt x="4155184" y="35815"/>
                  </a:lnTo>
                  <a:lnTo>
                    <a:pt x="4181691" y="75487"/>
                  </a:lnTo>
                  <a:lnTo>
                    <a:pt x="4190999" y="122283"/>
                  </a:lnTo>
                  <a:lnTo>
                    <a:pt x="4190999" y="998759"/>
                  </a:lnTo>
                  <a:lnTo>
                    <a:pt x="4181390" y="1046358"/>
                  </a:lnTo>
                  <a:lnTo>
                    <a:pt x="4155183" y="1085227"/>
                  </a:lnTo>
                  <a:lnTo>
                    <a:pt x="4116314" y="1111433"/>
                  </a:lnTo>
                  <a:lnTo>
                    <a:pt x="4068716" y="1121043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57824" y="3359313"/>
              <a:ext cx="4191000" cy="1121410"/>
            </a:xfrm>
            <a:custGeom>
              <a:avLst/>
              <a:gdLst/>
              <a:ahLst/>
              <a:cxnLst/>
              <a:rect l="l" t="t" r="r" b="b"/>
              <a:pathLst>
                <a:path w="4191000" h="1121410">
                  <a:moveTo>
                    <a:pt x="0" y="122283"/>
                  </a:moveTo>
                  <a:lnTo>
                    <a:pt x="9609" y="74685"/>
                  </a:lnTo>
                  <a:lnTo>
                    <a:pt x="35815" y="35816"/>
                  </a:lnTo>
                  <a:lnTo>
                    <a:pt x="74685" y="9609"/>
                  </a:lnTo>
                  <a:lnTo>
                    <a:pt x="122283" y="0"/>
                  </a:lnTo>
                  <a:lnTo>
                    <a:pt x="4068716" y="0"/>
                  </a:lnTo>
                  <a:lnTo>
                    <a:pt x="4115512" y="9308"/>
                  </a:lnTo>
                  <a:lnTo>
                    <a:pt x="4155184" y="35815"/>
                  </a:lnTo>
                  <a:lnTo>
                    <a:pt x="4181691" y="75487"/>
                  </a:lnTo>
                  <a:lnTo>
                    <a:pt x="4190999" y="122283"/>
                  </a:lnTo>
                  <a:lnTo>
                    <a:pt x="4190999" y="998759"/>
                  </a:lnTo>
                  <a:lnTo>
                    <a:pt x="4181390" y="1046358"/>
                  </a:lnTo>
                  <a:lnTo>
                    <a:pt x="4155183" y="1085227"/>
                  </a:lnTo>
                  <a:lnTo>
                    <a:pt x="4116314" y="1111433"/>
                  </a:lnTo>
                  <a:lnTo>
                    <a:pt x="4068716" y="1121043"/>
                  </a:lnTo>
                  <a:lnTo>
                    <a:pt x="122283" y="1121043"/>
                  </a:lnTo>
                  <a:lnTo>
                    <a:pt x="74685" y="1111433"/>
                  </a:lnTo>
                  <a:lnTo>
                    <a:pt x="35815" y="1085227"/>
                  </a:lnTo>
                  <a:lnTo>
                    <a:pt x="9609" y="1046358"/>
                  </a:lnTo>
                  <a:lnTo>
                    <a:pt x="0" y="998759"/>
                  </a:lnTo>
                  <a:lnTo>
                    <a:pt x="0" y="122283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0049" y="3388996"/>
              <a:ext cx="107950" cy="1143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087640" y="3390901"/>
            <a:ext cx="108140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37BDF7"/>
                </a:solidFill>
                <a:latin typeface="Arial"/>
                <a:cs typeface="Arial"/>
              </a:rPr>
              <a:t>INTERPRETATION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02325" y="3860369"/>
            <a:ext cx="273621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The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top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 related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departments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 were all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common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 everyday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grocery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 categories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85540" y="3628756"/>
            <a:ext cx="4003675" cy="848994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295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had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connection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with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dairy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eggs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among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all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10">
                <a:solidFill>
                  <a:srgbClr val="E1E7F0"/>
                </a:solidFill>
                <a:latin typeface="Microsoft Sans Serif"/>
                <a:cs typeface="Microsoft Sans Serif"/>
              </a:rPr>
              <a:t>non-Produce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 departments</a:t>
            </a:r>
            <a:endParaRPr sz="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50" spc="-509">
                <a:solidFill>
                  <a:srgbClr val="37BDF7"/>
                </a:solidFill>
                <a:latin typeface="Arial MT"/>
                <a:cs typeface="Arial MT"/>
              </a:rPr>
              <a:t>●</a:t>
            </a:r>
            <a:endParaRPr sz="1150">
              <a:latin typeface="Arial MT"/>
              <a:cs typeface="Arial MT"/>
            </a:endParaRPr>
          </a:p>
          <a:p>
            <a:pPr marL="328930" indent="-316230">
              <a:lnSpc>
                <a:spcPct val="100000"/>
              </a:lnSpc>
              <a:spcBef>
                <a:spcPts val="695"/>
              </a:spcBef>
              <a:buClr>
                <a:srgbClr val="37BDF7"/>
              </a:buClr>
              <a:buSzPct val="176923"/>
              <a:buFont typeface="Arial MT"/>
              <a:buChar char="●"/>
              <a:tabLst>
                <a:tab pos="328930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was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often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purchased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as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part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broader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household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shopping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basket</a:t>
            </a:r>
            <a:endParaRPr sz="650">
              <a:latin typeface="Microsoft Sans Serif"/>
              <a:cs typeface="Microsoft Sans Serif"/>
            </a:endParaRPr>
          </a:p>
          <a:p>
            <a:pPr marL="328930" marR="172085" indent="-316865">
              <a:lnSpc>
                <a:spcPct val="111900"/>
              </a:lnSpc>
              <a:spcBef>
                <a:spcPts val="420"/>
              </a:spcBef>
              <a:buClr>
                <a:srgbClr val="37BDF7"/>
              </a:buClr>
              <a:buSzPct val="164285"/>
              <a:buFont typeface="Arial MT"/>
              <a:buChar char="●"/>
              <a:tabLst>
                <a:tab pos="328930" algn="l"/>
              </a:tabLst>
            </a:pP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Cross-department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rules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reveal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how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interacts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with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rest</a:t>
            </a:r>
            <a:r>
              <a:rPr dirty="0" sz="7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the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store,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not</a:t>
            </a:r>
            <a:r>
              <a:rPr dirty="0" sz="70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0">
                <a:solidFill>
                  <a:srgbClr val="E1E7F0"/>
                </a:solidFill>
                <a:latin typeface="Microsoft Sans Serif"/>
                <a:cs typeface="Microsoft Sans Serif"/>
              </a:rPr>
              <a:t>only</a:t>
            </a:r>
            <a:r>
              <a:rPr dirty="0" sz="70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within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its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E1E7F0"/>
                </a:solidFill>
                <a:latin typeface="Microsoft Sans Serif"/>
                <a:cs typeface="Microsoft Sans Serif"/>
              </a:rPr>
              <a:t>own</a:t>
            </a:r>
            <a:r>
              <a:rPr dirty="0" sz="7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E1E7F0"/>
                </a:solidFill>
                <a:latin typeface="Microsoft Sans Serif"/>
                <a:cs typeface="Microsoft Sans Serif"/>
              </a:rPr>
              <a:t>department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219" y="2538318"/>
            <a:ext cx="4584700" cy="2018030"/>
            <a:chOff x="58219" y="2538318"/>
            <a:chExt cx="4584700" cy="2018030"/>
          </a:xfrm>
        </p:grpSpPr>
        <p:sp>
          <p:nvSpPr>
            <p:cNvPr id="40" name="object 40"/>
            <p:cNvSpPr/>
            <p:nvPr/>
          </p:nvSpPr>
          <p:spPr>
            <a:xfrm>
              <a:off x="62981" y="2543081"/>
              <a:ext cx="4575175" cy="2008505"/>
            </a:xfrm>
            <a:custGeom>
              <a:avLst/>
              <a:gdLst/>
              <a:ahLst/>
              <a:cxnLst/>
              <a:rect l="l" t="t" r="r" b="b"/>
              <a:pathLst>
                <a:path w="4575175" h="2008504">
                  <a:moveTo>
                    <a:pt x="4470041" y="2008398"/>
                  </a:moveTo>
                  <a:lnTo>
                    <a:pt x="104758" y="2008398"/>
                  </a:lnTo>
                  <a:lnTo>
                    <a:pt x="63981" y="2000165"/>
                  </a:lnTo>
                  <a:lnTo>
                    <a:pt x="30682" y="1977715"/>
                  </a:lnTo>
                  <a:lnTo>
                    <a:pt x="8232" y="1944416"/>
                  </a:lnTo>
                  <a:lnTo>
                    <a:pt x="0" y="1903639"/>
                  </a:lnTo>
                  <a:lnTo>
                    <a:pt x="0" y="104758"/>
                  </a:lnTo>
                  <a:lnTo>
                    <a:pt x="8232" y="63981"/>
                  </a:lnTo>
                  <a:lnTo>
                    <a:pt x="30682" y="30682"/>
                  </a:lnTo>
                  <a:lnTo>
                    <a:pt x="63981" y="8232"/>
                  </a:lnTo>
                  <a:lnTo>
                    <a:pt x="104758" y="0"/>
                  </a:lnTo>
                  <a:lnTo>
                    <a:pt x="4470041" y="0"/>
                  </a:lnTo>
                  <a:lnTo>
                    <a:pt x="4510130" y="7974"/>
                  </a:lnTo>
                  <a:lnTo>
                    <a:pt x="4544116" y="30682"/>
                  </a:lnTo>
                  <a:lnTo>
                    <a:pt x="4566824" y="64669"/>
                  </a:lnTo>
                  <a:lnTo>
                    <a:pt x="4574798" y="104758"/>
                  </a:lnTo>
                  <a:lnTo>
                    <a:pt x="4574798" y="1903639"/>
                  </a:lnTo>
                  <a:lnTo>
                    <a:pt x="4566566" y="1944416"/>
                  </a:lnTo>
                  <a:lnTo>
                    <a:pt x="4544116" y="1977715"/>
                  </a:lnTo>
                  <a:lnTo>
                    <a:pt x="4510817" y="2000165"/>
                  </a:lnTo>
                  <a:lnTo>
                    <a:pt x="4470041" y="2008398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2981" y="2543081"/>
              <a:ext cx="4575175" cy="2008505"/>
            </a:xfrm>
            <a:custGeom>
              <a:avLst/>
              <a:gdLst/>
              <a:ahLst/>
              <a:cxnLst/>
              <a:rect l="l" t="t" r="r" b="b"/>
              <a:pathLst>
                <a:path w="4575175" h="2008504">
                  <a:moveTo>
                    <a:pt x="0" y="104758"/>
                  </a:moveTo>
                  <a:lnTo>
                    <a:pt x="8232" y="63981"/>
                  </a:lnTo>
                  <a:lnTo>
                    <a:pt x="30682" y="30682"/>
                  </a:lnTo>
                  <a:lnTo>
                    <a:pt x="63981" y="8232"/>
                  </a:lnTo>
                  <a:lnTo>
                    <a:pt x="104758" y="0"/>
                  </a:lnTo>
                  <a:lnTo>
                    <a:pt x="4470041" y="0"/>
                  </a:lnTo>
                  <a:lnTo>
                    <a:pt x="4510130" y="7974"/>
                  </a:lnTo>
                  <a:lnTo>
                    <a:pt x="4544116" y="30682"/>
                  </a:lnTo>
                  <a:lnTo>
                    <a:pt x="4566824" y="64669"/>
                  </a:lnTo>
                  <a:lnTo>
                    <a:pt x="4574798" y="104758"/>
                  </a:lnTo>
                  <a:lnTo>
                    <a:pt x="4574798" y="1903639"/>
                  </a:lnTo>
                  <a:lnTo>
                    <a:pt x="4566566" y="1944416"/>
                  </a:lnTo>
                  <a:lnTo>
                    <a:pt x="4544116" y="1977715"/>
                  </a:lnTo>
                  <a:lnTo>
                    <a:pt x="4510817" y="2000165"/>
                  </a:lnTo>
                  <a:lnTo>
                    <a:pt x="4470041" y="2008398"/>
                  </a:lnTo>
                  <a:lnTo>
                    <a:pt x="104758" y="2008398"/>
                  </a:lnTo>
                  <a:lnTo>
                    <a:pt x="63981" y="2000165"/>
                  </a:lnTo>
                  <a:lnTo>
                    <a:pt x="30682" y="1977715"/>
                  </a:lnTo>
                  <a:lnTo>
                    <a:pt x="8232" y="1944416"/>
                  </a:lnTo>
                  <a:lnTo>
                    <a:pt x="0" y="1903639"/>
                  </a:lnTo>
                  <a:lnTo>
                    <a:pt x="0" y="104758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02" y="2558427"/>
              <a:ext cx="165100" cy="127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2745358"/>
              <a:ext cx="69850" cy="603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2916808"/>
              <a:ext cx="69850" cy="603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3088258"/>
              <a:ext cx="69850" cy="603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1" y="3259708"/>
              <a:ext cx="69850" cy="6032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18911" y="2561602"/>
            <a:ext cx="4356100" cy="791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1100" spc="-12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1100">
              <a:latin typeface="Arial"/>
              <a:cs typeface="Arial"/>
            </a:endParaRPr>
          </a:p>
          <a:p>
            <a:pPr marL="52705">
              <a:lnSpc>
                <a:spcPct val="100000"/>
              </a:lnSpc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strongest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cross-department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rule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showed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was most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frequently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purchased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dairy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eggs.</a:t>
            </a: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had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strong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relationships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beverages,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snacks,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frozen,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pantry</a:t>
            </a:r>
            <a:r>
              <a:rPr dirty="0" sz="5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items.</a:t>
            </a:r>
            <a:endParaRPr sz="550">
              <a:latin typeface="Arial MT"/>
              <a:cs typeface="Arial MT"/>
            </a:endParaRPr>
          </a:p>
          <a:p>
            <a:pPr marL="52705" marR="5080">
              <a:lnSpc>
                <a:spcPct val="204500"/>
              </a:lnSpc>
            </a:pP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Cross-department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FP-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Growth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showed that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 is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deeply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connected to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 broader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grocery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basket, not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just to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Produce-only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purchases.</a:t>
            </a:r>
            <a:r>
              <a:rPr dirty="0" sz="5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rules suggest that Produce commonly appears as part of larger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multi-department</a:t>
            </a:r>
            <a:r>
              <a:rPr dirty="0" sz="550">
                <a:solidFill>
                  <a:srgbClr val="FFFFFF"/>
                </a:solidFill>
                <a:latin typeface="Arial MT"/>
                <a:cs typeface="Arial MT"/>
              </a:rPr>
              <a:t> shopping</a:t>
            </a:r>
            <a:r>
              <a:rPr dirty="0" sz="5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Arial MT"/>
                <a:cs typeface="Arial MT"/>
              </a:rPr>
              <a:t>trips.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5875" y="3448428"/>
            <a:ext cx="157480" cy="800735"/>
            <a:chOff x="155875" y="3448428"/>
            <a:chExt cx="157480" cy="800735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817" y="3448428"/>
              <a:ext cx="152400" cy="1206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875" y="3764817"/>
              <a:ext cx="57150" cy="571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875" y="4191537"/>
              <a:ext cx="57150" cy="5715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21720" y="3445253"/>
            <a:ext cx="196151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60A5FA"/>
                </a:solidFill>
                <a:latin typeface="Arial"/>
                <a:cs typeface="Arial"/>
              </a:rPr>
              <a:t>WHY</a:t>
            </a:r>
            <a:r>
              <a:rPr dirty="0" sz="1100" spc="-85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60A5FA"/>
                </a:solidFill>
                <a:latin typeface="Arial"/>
                <a:cs typeface="Arial"/>
              </a:rPr>
              <a:t>THESE </a:t>
            </a:r>
            <a:r>
              <a:rPr dirty="0" sz="1100" spc="-10" b="1">
                <a:solidFill>
                  <a:srgbClr val="60A5FA"/>
                </a:solidFill>
                <a:latin typeface="Arial"/>
                <a:cs typeface="Arial"/>
              </a:rPr>
              <a:t>THRESHOLDS?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72148" y="3736242"/>
            <a:ext cx="4110354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Support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count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1000</a:t>
            </a:r>
            <a:r>
              <a:rPr dirty="0" sz="700" spc="-20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kept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only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cross-department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patterns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removed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less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informative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rare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7300" y="3949602"/>
            <a:ext cx="58483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combinations.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2148" y="4162962"/>
            <a:ext cx="391032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=</a:t>
            </a:r>
            <a:r>
              <a:rPr dirty="0" sz="700" spc="-15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60A5FA"/>
                </a:solidFill>
                <a:latin typeface="Microsoft Sans Serif"/>
                <a:cs typeface="Microsoft Sans Serif"/>
              </a:rPr>
              <a:t>0.05</a:t>
            </a:r>
            <a:r>
              <a:rPr dirty="0" sz="700" spc="-20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was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used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because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cross-department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rules 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broader</a:t>
            </a:r>
            <a:r>
              <a:rPr dirty="0" sz="7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naturally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weaker</a:t>
            </a:r>
            <a:r>
              <a:rPr dirty="0" sz="7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than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7300" y="4376322"/>
            <a:ext cx="32346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Produce-only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rules,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so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slightly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lower</a:t>
            </a:r>
            <a:r>
              <a:rPr dirty="0" sz="7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was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more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appropriate.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1997" y="1761897"/>
            <a:ext cx="4587875" cy="688975"/>
            <a:chOff x="51997" y="1761897"/>
            <a:chExt cx="4587875" cy="688975"/>
          </a:xfrm>
        </p:grpSpPr>
        <p:sp>
          <p:nvSpPr>
            <p:cNvPr id="58" name="object 58"/>
            <p:cNvSpPr/>
            <p:nvPr/>
          </p:nvSpPr>
          <p:spPr>
            <a:xfrm>
              <a:off x="54272" y="1764172"/>
              <a:ext cx="4583430" cy="683895"/>
            </a:xfrm>
            <a:custGeom>
              <a:avLst/>
              <a:gdLst/>
              <a:ahLst/>
              <a:cxnLst/>
              <a:rect l="l" t="t" r="r" b="b"/>
              <a:pathLst>
                <a:path w="4583430" h="683894">
                  <a:moveTo>
                    <a:pt x="4528602" y="683871"/>
                  </a:moveTo>
                  <a:lnTo>
                    <a:pt x="54709" y="683871"/>
                  </a:lnTo>
                  <a:lnTo>
                    <a:pt x="33414" y="679572"/>
                  </a:lnTo>
                  <a:lnTo>
                    <a:pt x="16024" y="667847"/>
                  </a:lnTo>
                  <a:lnTo>
                    <a:pt x="4299" y="650457"/>
                  </a:lnTo>
                  <a:lnTo>
                    <a:pt x="0" y="629161"/>
                  </a:lnTo>
                  <a:lnTo>
                    <a:pt x="0" y="54709"/>
                  </a:lnTo>
                  <a:lnTo>
                    <a:pt x="4299" y="33414"/>
                  </a:lnTo>
                  <a:lnTo>
                    <a:pt x="16024" y="16024"/>
                  </a:lnTo>
                  <a:lnTo>
                    <a:pt x="33414" y="4299"/>
                  </a:lnTo>
                  <a:lnTo>
                    <a:pt x="54709" y="0"/>
                  </a:lnTo>
                  <a:lnTo>
                    <a:pt x="4528602" y="0"/>
                  </a:lnTo>
                  <a:lnTo>
                    <a:pt x="4567287" y="16024"/>
                  </a:lnTo>
                  <a:lnTo>
                    <a:pt x="4583311" y="54709"/>
                  </a:lnTo>
                  <a:lnTo>
                    <a:pt x="4583311" y="629161"/>
                  </a:lnTo>
                  <a:lnTo>
                    <a:pt x="4579012" y="650457"/>
                  </a:lnTo>
                  <a:lnTo>
                    <a:pt x="4567287" y="667847"/>
                  </a:lnTo>
                  <a:lnTo>
                    <a:pt x="4549897" y="679572"/>
                  </a:lnTo>
                  <a:lnTo>
                    <a:pt x="4528602" y="683871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4272" y="1764172"/>
              <a:ext cx="4583430" cy="683895"/>
            </a:xfrm>
            <a:custGeom>
              <a:avLst/>
              <a:gdLst/>
              <a:ahLst/>
              <a:cxnLst/>
              <a:rect l="l" t="t" r="r" b="b"/>
              <a:pathLst>
                <a:path w="4583430" h="683894">
                  <a:moveTo>
                    <a:pt x="0" y="54709"/>
                  </a:moveTo>
                  <a:lnTo>
                    <a:pt x="4299" y="33414"/>
                  </a:lnTo>
                  <a:lnTo>
                    <a:pt x="16024" y="16024"/>
                  </a:lnTo>
                  <a:lnTo>
                    <a:pt x="33414" y="4299"/>
                  </a:lnTo>
                  <a:lnTo>
                    <a:pt x="54709" y="0"/>
                  </a:lnTo>
                  <a:lnTo>
                    <a:pt x="4528602" y="0"/>
                  </a:lnTo>
                  <a:lnTo>
                    <a:pt x="4567287" y="16024"/>
                  </a:lnTo>
                  <a:lnTo>
                    <a:pt x="4583311" y="54709"/>
                  </a:lnTo>
                  <a:lnTo>
                    <a:pt x="4583311" y="629161"/>
                  </a:lnTo>
                  <a:lnTo>
                    <a:pt x="4579012" y="650457"/>
                  </a:lnTo>
                  <a:lnTo>
                    <a:pt x="4567287" y="667847"/>
                  </a:lnTo>
                  <a:lnTo>
                    <a:pt x="4549897" y="679572"/>
                  </a:lnTo>
                  <a:lnTo>
                    <a:pt x="4528602" y="683871"/>
                  </a:lnTo>
                  <a:lnTo>
                    <a:pt x="54709" y="683871"/>
                  </a:lnTo>
                  <a:lnTo>
                    <a:pt x="33414" y="679572"/>
                  </a:lnTo>
                  <a:lnTo>
                    <a:pt x="16024" y="667847"/>
                  </a:lnTo>
                  <a:lnTo>
                    <a:pt x="4299" y="650457"/>
                  </a:lnTo>
                  <a:lnTo>
                    <a:pt x="0" y="629161"/>
                  </a:lnTo>
                  <a:lnTo>
                    <a:pt x="0" y="54709"/>
                  </a:lnTo>
                  <a:close/>
                </a:path>
              </a:pathLst>
            </a:custGeom>
            <a:ln w="4549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49" y="1803818"/>
              <a:ext cx="53975" cy="69850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01186" y="1743274"/>
            <a:ext cx="1463040" cy="42418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450"/>
              </a:spcBef>
            </a:pPr>
            <a:r>
              <a:rPr dirty="0" sz="650" b="1">
                <a:solidFill>
                  <a:srgbClr val="37BDF7"/>
                </a:solidFill>
                <a:latin typeface="Arial"/>
                <a:cs typeface="Arial"/>
              </a:rPr>
              <a:t>RULE</a:t>
            </a:r>
            <a:r>
              <a:rPr dirty="0" sz="650" spc="6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650" b="1">
                <a:solidFill>
                  <a:srgbClr val="37BDF7"/>
                </a:solidFill>
                <a:latin typeface="Arial"/>
                <a:cs typeface="Arial"/>
              </a:rPr>
              <a:t>MINING</a:t>
            </a:r>
            <a:r>
              <a:rPr dirty="0" sz="650" spc="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650" spc="-10" b="1">
                <a:solidFill>
                  <a:srgbClr val="37BDF7"/>
                </a:solidFill>
                <a:latin typeface="Arial"/>
                <a:cs typeface="Arial"/>
              </a:rPr>
              <a:t>SUMMARY</a:t>
            </a:r>
            <a:endParaRPr sz="650">
              <a:latin typeface="Arial"/>
              <a:cs typeface="Arial"/>
            </a:endParaRPr>
          </a:p>
          <a:p>
            <a:pPr marL="167640" indent="-154940">
              <a:lnSpc>
                <a:spcPct val="100000"/>
              </a:lnSpc>
              <a:spcBef>
                <a:spcPts val="325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Training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orders: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131,209</a:t>
            </a:r>
            <a:endParaRPr sz="650">
              <a:latin typeface="Microsoft Sans Serif"/>
              <a:cs typeface="Microsoft Sans Serif"/>
            </a:endParaRPr>
          </a:p>
          <a:p>
            <a:pPr marL="167640" indent="-154940">
              <a:lnSpc>
                <a:spcPct val="100000"/>
              </a:lnSpc>
              <a:spcBef>
                <a:spcPts val="120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Orders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containing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Produce: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96,927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93605" y="1064132"/>
            <a:ext cx="2038350" cy="3683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295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support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count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1000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65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≥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0.05</a:t>
            </a:r>
            <a:endParaRPr sz="650">
              <a:latin typeface="Microsoft Sans Serif"/>
              <a:cs typeface="Microsoft Sans Serif"/>
            </a:endParaRPr>
          </a:p>
          <a:p>
            <a:pPr marL="208279" marR="81280" indent="-196215">
              <a:lnSpc>
                <a:spcPts val="750"/>
              </a:lnSpc>
              <a:spcBef>
                <a:spcPts val="244"/>
              </a:spcBef>
              <a:buClr>
                <a:srgbClr val="60A5FA"/>
              </a:buClr>
              <a:buFont typeface="Arial MT"/>
              <a:buChar char="●"/>
              <a:tabLst>
                <a:tab pos="208279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Examined</a:t>
            </a:r>
            <a:r>
              <a:rPr dirty="0" sz="65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broader</a:t>
            </a:r>
            <a:r>
              <a:rPr dirty="0" sz="65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grocery</a:t>
            </a:r>
            <a:r>
              <a:rPr dirty="0" sz="650" spc="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65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beyond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Produce-only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46661" y="1903608"/>
            <a:ext cx="1466850" cy="25400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219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Frequent</a:t>
            </a:r>
            <a:r>
              <a:rPr dirty="0" sz="6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6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itemsets:</a:t>
            </a:r>
            <a:r>
              <a:rPr dirty="0" sz="65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169</a:t>
            </a:r>
            <a:endParaRPr sz="650">
              <a:latin typeface="Microsoft Sans Serif"/>
              <a:cs typeface="Microsoft Sans Serif"/>
            </a:endParaRPr>
          </a:p>
          <a:p>
            <a:pPr marL="167640" indent="-154940">
              <a:lnSpc>
                <a:spcPct val="100000"/>
              </a:lnSpc>
              <a:spcBef>
                <a:spcPts val="120"/>
              </a:spcBef>
              <a:buClr>
                <a:srgbClr val="60A5FA"/>
              </a:buClr>
              <a:buFont typeface="Arial MT"/>
              <a:buChar char="●"/>
              <a:tabLst>
                <a:tab pos="167640" algn="l"/>
              </a:tabLst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Filtered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 cross-department rules: 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16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808011" y="118171"/>
            <a:ext cx="2063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86114" y="107567"/>
            <a:ext cx="3253740" cy="4203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65">
                <a:solidFill>
                  <a:srgbClr val="37BDF7"/>
                </a:solidFill>
              </a:rPr>
              <a:t>Reorder</a:t>
            </a:r>
            <a:r>
              <a:rPr dirty="0" spc="-275">
                <a:solidFill>
                  <a:srgbClr val="37BDF7"/>
                </a:solidFill>
              </a:rPr>
              <a:t> </a:t>
            </a:r>
            <a:r>
              <a:rPr dirty="0" spc="55">
                <a:solidFill>
                  <a:srgbClr val="37BDF7"/>
                </a:solidFill>
              </a:rPr>
              <a:t>Behavior</a:t>
            </a:r>
            <a:r>
              <a:rPr dirty="0" spc="-275">
                <a:solidFill>
                  <a:srgbClr val="37BDF7"/>
                </a:solidFill>
              </a:rPr>
              <a:t> </a:t>
            </a:r>
            <a:r>
              <a:rPr dirty="0" spc="-35">
                <a:solidFill>
                  <a:srgbClr val="37BDF7"/>
                </a:solidFill>
              </a:rPr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07567"/>
            <a:ext cx="3576320" cy="81089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20"/>
              </a:spcBef>
            </a:pPr>
            <a:r>
              <a:rPr dirty="0" sz="2600" spc="90" b="1">
                <a:solidFill>
                  <a:srgbClr val="F7FAFC"/>
                </a:solidFill>
                <a:latin typeface="Arial"/>
                <a:cs typeface="Arial"/>
              </a:rPr>
              <a:t>Extra</a:t>
            </a:r>
            <a:r>
              <a:rPr dirty="0" sz="2600" spc="-2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2600" spc="60" b="1">
                <a:solidFill>
                  <a:srgbClr val="F7FAFC"/>
                </a:solidFill>
                <a:latin typeface="Arial"/>
                <a:cs typeface="Arial"/>
              </a:rPr>
              <a:t>Credit</a:t>
            </a:r>
            <a:r>
              <a:rPr dirty="0" sz="2600" spc="-21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F7FAFC"/>
                </a:solidFill>
                <a:latin typeface="Arial"/>
                <a:cs typeface="Arial"/>
              </a:rPr>
              <a:t>Analysis: </a:t>
            </a:r>
            <a:r>
              <a:rPr dirty="0" sz="2600" spc="55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52635" y="1061337"/>
            <a:ext cx="4063365" cy="1057910"/>
            <a:chOff x="152635" y="1061337"/>
            <a:chExt cx="4063365" cy="1057910"/>
          </a:xfrm>
        </p:grpSpPr>
        <p:sp>
          <p:nvSpPr>
            <p:cNvPr id="6" name="object 6"/>
            <p:cNvSpPr/>
            <p:nvPr/>
          </p:nvSpPr>
          <p:spPr>
            <a:xfrm>
              <a:off x="157397" y="1066100"/>
              <a:ext cx="4053840" cy="1048385"/>
            </a:xfrm>
            <a:custGeom>
              <a:avLst/>
              <a:gdLst/>
              <a:ahLst/>
              <a:cxnLst/>
              <a:rect l="l" t="t" r="r" b="b"/>
              <a:pathLst>
                <a:path w="4053840" h="1048385">
                  <a:moveTo>
                    <a:pt x="3938991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938991" y="0"/>
                  </a:lnTo>
                  <a:lnTo>
                    <a:pt x="3982737" y="8701"/>
                  </a:lnTo>
                  <a:lnTo>
                    <a:pt x="4019824" y="33482"/>
                  </a:lnTo>
                  <a:lnTo>
                    <a:pt x="4044604" y="70568"/>
                  </a:lnTo>
                  <a:lnTo>
                    <a:pt x="4053306" y="114315"/>
                  </a:lnTo>
                  <a:lnTo>
                    <a:pt x="4053306" y="933584"/>
                  </a:lnTo>
                  <a:lnTo>
                    <a:pt x="4044323" y="978081"/>
                  </a:lnTo>
                  <a:lnTo>
                    <a:pt x="4019824" y="1014417"/>
                  </a:lnTo>
                  <a:lnTo>
                    <a:pt x="3983487" y="1038916"/>
                  </a:lnTo>
                  <a:lnTo>
                    <a:pt x="3938991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7397" y="1066100"/>
              <a:ext cx="4053840" cy="1048385"/>
            </a:xfrm>
            <a:custGeom>
              <a:avLst/>
              <a:gdLst/>
              <a:ahLst/>
              <a:cxnLst/>
              <a:rect l="l" t="t" r="r" b="b"/>
              <a:pathLst>
                <a:path w="4053840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3938991" y="0"/>
                  </a:lnTo>
                  <a:lnTo>
                    <a:pt x="3982737" y="8701"/>
                  </a:lnTo>
                  <a:lnTo>
                    <a:pt x="4019824" y="33482"/>
                  </a:lnTo>
                  <a:lnTo>
                    <a:pt x="4044604" y="70568"/>
                  </a:lnTo>
                  <a:lnTo>
                    <a:pt x="4053306" y="114315"/>
                  </a:lnTo>
                  <a:lnTo>
                    <a:pt x="4053306" y="933584"/>
                  </a:lnTo>
                  <a:lnTo>
                    <a:pt x="4044323" y="978081"/>
                  </a:lnTo>
                  <a:lnTo>
                    <a:pt x="4019824" y="1014417"/>
                  </a:lnTo>
                  <a:lnTo>
                    <a:pt x="3983487" y="1038916"/>
                  </a:lnTo>
                  <a:lnTo>
                    <a:pt x="3938991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163" y="1171823"/>
              <a:ext cx="101600" cy="1333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38" y="1447388"/>
              <a:ext cx="98425" cy="984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38" y="1590263"/>
              <a:ext cx="98425" cy="984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38" y="1733138"/>
              <a:ext cx="98425" cy="98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38" y="1876013"/>
              <a:ext cx="98425" cy="984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23730" y="1182301"/>
            <a:ext cx="3174365" cy="8356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14"/>
              </a:spcBef>
            </a:pP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ANALYSIS</a:t>
            </a:r>
            <a:r>
              <a:rPr dirty="0" sz="1000" spc="-8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FOCUS</a:t>
            </a:r>
            <a:endParaRPr sz="1000">
              <a:latin typeface="Arial"/>
              <a:cs typeface="Arial"/>
            </a:endParaRPr>
          </a:p>
          <a:p>
            <a:pPr marL="12700" marR="1017269">
              <a:lnSpc>
                <a:spcPct val="117200"/>
              </a:lnSpc>
              <a:spcBef>
                <a:spcPts val="655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Measured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reorder</a:t>
            </a:r>
            <a:r>
              <a:rPr dirty="0" sz="800" spc="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rates</a:t>
            </a:r>
            <a:r>
              <a:rPr dirty="0" sz="8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across</a:t>
            </a:r>
            <a:r>
              <a:rPr dirty="0" sz="800" spc="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aisles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Ranked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products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by</a:t>
            </a:r>
            <a:r>
              <a:rPr dirty="0" sz="800" spc="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reorder</a:t>
            </a:r>
            <a:r>
              <a:rPr dirty="0" sz="800" spc="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rate</a:t>
            </a:r>
            <a:endParaRPr sz="800">
              <a:latin typeface="Microsoft Sans Serif"/>
              <a:cs typeface="Microsoft Sans Serif"/>
            </a:endParaRPr>
          </a:p>
          <a:p>
            <a:pPr marL="12700" marR="5080">
              <a:lnSpc>
                <a:spcPct val="117200"/>
              </a:lnSpc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Limited</a:t>
            </a:r>
            <a:r>
              <a:rPr dirty="0" sz="8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product-level</a:t>
            </a:r>
            <a:r>
              <a:rPr dirty="0" sz="8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analysis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8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items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with</a:t>
            </a:r>
            <a:r>
              <a:rPr dirty="0" sz="8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at</a:t>
            </a:r>
            <a:r>
              <a:rPr dirty="0" sz="800" spc="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least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60A5FA"/>
                </a:solidFill>
                <a:latin typeface="Microsoft Sans Serif"/>
                <a:cs typeface="Microsoft Sans Serif"/>
              </a:rPr>
              <a:t>1,000</a:t>
            </a:r>
            <a:r>
              <a:rPr dirty="0" sz="800" spc="30">
                <a:solidFill>
                  <a:srgbClr val="60A5FA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60A5FA"/>
                </a:solidFill>
                <a:latin typeface="Microsoft Sans Serif"/>
                <a:cs typeface="Microsoft Sans Serif"/>
              </a:rPr>
              <a:t>purchases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Used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reorder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behavior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to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study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customer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loyalty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repeat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demand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3416" y="3443587"/>
            <a:ext cx="4012565" cy="1057910"/>
            <a:chOff x="203416" y="3443587"/>
            <a:chExt cx="4012565" cy="1057910"/>
          </a:xfrm>
        </p:grpSpPr>
        <p:sp>
          <p:nvSpPr>
            <p:cNvPr id="15" name="object 15"/>
            <p:cNvSpPr/>
            <p:nvPr/>
          </p:nvSpPr>
          <p:spPr>
            <a:xfrm>
              <a:off x="208178" y="3448349"/>
              <a:ext cx="4003040" cy="1048385"/>
            </a:xfrm>
            <a:custGeom>
              <a:avLst/>
              <a:gdLst/>
              <a:ahLst/>
              <a:cxnLst/>
              <a:rect l="l" t="t" r="r" b="b"/>
              <a:pathLst>
                <a:path w="4003040" h="1048385">
                  <a:moveTo>
                    <a:pt x="3888518" y="1047899"/>
                  </a:move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3888518" y="0"/>
                  </a:lnTo>
                  <a:lnTo>
                    <a:pt x="3932261" y="8701"/>
                  </a:lnTo>
                  <a:lnTo>
                    <a:pt x="3969344" y="33479"/>
                  </a:lnTo>
                  <a:lnTo>
                    <a:pt x="3994123" y="70562"/>
                  </a:lnTo>
                  <a:lnTo>
                    <a:pt x="4002824" y="114304"/>
                  </a:lnTo>
                  <a:lnTo>
                    <a:pt x="4002824" y="933594"/>
                  </a:lnTo>
                  <a:lnTo>
                    <a:pt x="3993841" y="978087"/>
                  </a:lnTo>
                  <a:lnTo>
                    <a:pt x="3969344" y="1014420"/>
                  </a:lnTo>
                  <a:lnTo>
                    <a:pt x="3933011" y="1038917"/>
                  </a:lnTo>
                  <a:lnTo>
                    <a:pt x="3888518" y="10478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8178" y="3448349"/>
              <a:ext cx="4003040" cy="1048385"/>
            </a:xfrm>
            <a:custGeom>
              <a:avLst/>
              <a:gdLst/>
              <a:ahLst/>
              <a:cxnLst/>
              <a:rect l="l" t="t" r="r" b="b"/>
              <a:pathLst>
                <a:path w="4003040" h="1048385">
                  <a:moveTo>
                    <a:pt x="0" y="114304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4" y="0"/>
                  </a:lnTo>
                  <a:lnTo>
                    <a:pt x="3888518" y="0"/>
                  </a:lnTo>
                  <a:lnTo>
                    <a:pt x="3932261" y="8701"/>
                  </a:lnTo>
                  <a:lnTo>
                    <a:pt x="3969344" y="33479"/>
                  </a:lnTo>
                  <a:lnTo>
                    <a:pt x="3994123" y="70562"/>
                  </a:lnTo>
                  <a:lnTo>
                    <a:pt x="4002824" y="114304"/>
                  </a:lnTo>
                  <a:lnTo>
                    <a:pt x="4002824" y="933594"/>
                  </a:lnTo>
                  <a:lnTo>
                    <a:pt x="3993841" y="978087"/>
                  </a:lnTo>
                  <a:lnTo>
                    <a:pt x="3969344" y="1014420"/>
                  </a:lnTo>
                  <a:lnTo>
                    <a:pt x="3933011" y="1038917"/>
                  </a:lnTo>
                  <a:lnTo>
                    <a:pt x="3888518" y="1047899"/>
                  </a:lnTo>
                  <a:lnTo>
                    <a:pt x="114304" y="1047899"/>
                  </a:lnTo>
                  <a:lnTo>
                    <a:pt x="69812" y="1038917"/>
                  </a:lnTo>
                  <a:lnTo>
                    <a:pt x="33479" y="1014420"/>
                  </a:lnTo>
                  <a:lnTo>
                    <a:pt x="8982" y="978087"/>
                  </a:lnTo>
                  <a:lnTo>
                    <a:pt x="0" y="933594"/>
                  </a:lnTo>
                  <a:lnTo>
                    <a:pt x="0" y="114304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823" y="3452287"/>
              <a:ext cx="82550" cy="114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0888" y="3430061"/>
            <a:ext cx="11906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37BDF7"/>
                </a:solidFill>
                <a:latin typeface="Arial"/>
                <a:cs typeface="Arial"/>
              </a:rPr>
              <a:t>Summary</a:t>
            </a:r>
            <a:r>
              <a:rPr dirty="0" sz="1100" spc="-9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7BDF7"/>
                </a:solidFill>
                <a:latin typeface="Arial"/>
                <a:cs typeface="Arial"/>
              </a:rPr>
              <a:t>Metrics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787" y="3730544"/>
            <a:ext cx="187134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00"/>
              </a:spcBef>
              <a:buClr>
                <a:srgbClr val="60A5FA"/>
              </a:buClr>
              <a:buChar char="●"/>
              <a:tabLst>
                <a:tab pos="294640" algn="l"/>
              </a:tabLst>
            </a:pP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Overall</a:t>
            </a:r>
            <a:r>
              <a:rPr dirty="0" sz="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Produce</a:t>
            </a:r>
            <a:r>
              <a:rPr dirty="0" sz="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reorder</a:t>
            </a:r>
            <a:r>
              <a:rPr dirty="0" sz="7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rate:</a:t>
            </a:r>
            <a:r>
              <a:rPr dirty="0" sz="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66.46%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787" y="3946444"/>
            <a:ext cx="183133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00"/>
              </a:spcBef>
              <a:buClr>
                <a:srgbClr val="60A5FA"/>
              </a:buClr>
              <a:buChar char="●"/>
              <a:tabLst>
                <a:tab pos="294640" algn="l"/>
              </a:tabLst>
            </a:pP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dirty="0" sz="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aisle</a:t>
            </a:r>
            <a:r>
              <a:rPr dirty="0" sz="7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reorder</a:t>
            </a:r>
            <a:r>
              <a:rPr dirty="0" sz="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rate:</a:t>
            </a:r>
            <a:r>
              <a:rPr dirty="0" sz="7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fresh</a:t>
            </a:r>
            <a:r>
              <a:rPr dirty="0" sz="7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fruits</a:t>
            </a:r>
            <a:r>
              <a:rPr dirty="0" sz="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4054" y="4155994"/>
            <a:ext cx="32702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73.62%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" y="4619625"/>
            <a:ext cx="8382000" cy="429259"/>
            <a:chOff x="381000" y="4619625"/>
            <a:chExt cx="8382000" cy="429259"/>
          </a:xfrm>
        </p:grpSpPr>
        <p:sp>
          <p:nvSpPr>
            <p:cNvPr id="23" name="object 23"/>
            <p:cNvSpPr/>
            <p:nvPr/>
          </p:nvSpPr>
          <p:spPr>
            <a:xfrm>
              <a:off x="381000" y="4619625"/>
              <a:ext cx="8382000" cy="429259"/>
            </a:xfrm>
            <a:custGeom>
              <a:avLst/>
              <a:gdLst/>
              <a:ahLst/>
              <a:cxnLst/>
              <a:rect l="l" t="t" r="r" b="b"/>
              <a:pathLst>
                <a:path w="8382000" h="429260">
                  <a:moveTo>
                    <a:pt x="8305789" y="428699"/>
                  </a:moveTo>
                  <a:lnTo>
                    <a:pt x="76209" y="428699"/>
                  </a:lnTo>
                  <a:lnTo>
                    <a:pt x="46545" y="422711"/>
                  </a:lnTo>
                  <a:lnTo>
                    <a:pt x="22321" y="406378"/>
                  </a:lnTo>
                  <a:lnTo>
                    <a:pt x="5988" y="382154"/>
                  </a:lnTo>
                  <a:lnTo>
                    <a:pt x="0" y="352489"/>
                  </a:lnTo>
                  <a:lnTo>
                    <a:pt x="0" y="76209"/>
                  </a:lnTo>
                  <a:lnTo>
                    <a:pt x="5988" y="46545"/>
                  </a:lnTo>
                  <a:lnTo>
                    <a:pt x="22321" y="22321"/>
                  </a:lnTo>
                  <a:lnTo>
                    <a:pt x="46545" y="5988"/>
                  </a:lnTo>
                  <a:lnTo>
                    <a:pt x="76209" y="0"/>
                  </a:lnTo>
                  <a:lnTo>
                    <a:pt x="8305789" y="0"/>
                  </a:lnTo>
                  <a:lnTo>
                    <a:pt x="8348071" y="12804"/>
                  </a:lnTo>
                  <a:lnTo>
                    <a:pt x="8376198" y="47045"/>
                  </a:lnTo>
                  <a:lnTo>
                    <a:pt x="8381999" y="76209"/>
                  </a:lnTo>
                  <a:lnTo>
                    <a:pt x="8381999" y="352489"/>
                  </a:lnTo>
                  <a:lnTo>
                    <a:pt x="8376011" y="382154"/>
                  </a:lnTo>
                  <a:lnTo>
                    <a:pt x="8359678" y="406378"/>
                  </a:lnTo>
                  <a:lnTo>
                    <a:pt x="8335454" y="422711"/>
                  </a:lnTo>
                  <a:lnTo>
                    <a:pt x="8305789" y="428699"/>
                  </a:lnTo>
                  <a:close/>
                </a:path>
              </a:pathLst>
            </a:custGeom>
            <a:solidFill>
              <a:srgbClr val="064E3B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8437" y="4748797"/>
              <a:ext cx="88900" cy="1270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86502" y="4767847"/>
            <a:ext cx="702119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7FAFC"/>
                </a:solidFill>
                <a:latin typeface="Arial"/>
                <a:cs typeface="Arial"/>
              </a:rPr>
              <a:t>MAIN</a:t>
            </a:r>
            <a:r>
              <a:rPr dirty="0" sz="85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F7FAFC"/>
                </a:solidFill>
                <a:latin typeface="Arial"/>
                <a:cs typeface="Arial"/>
              </a:rPr>
              <a:t>TAKEAWAY:</a:t>
            </a:r>
            <a:r>
              <a:rPr dirty="0" sz="85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Reorder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analysis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showed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many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items,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especially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bananas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fresh-fruit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products,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behave like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staple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purchases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customers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repeatedly </a:t>
            </a:r>
            <a:r>
              <a:rPr dirty="0" sz="650">
                <a:solidFill>
                  <a:srgbClr val="CBD4E1"/>
                </a:solidFill>
                <a:latin typeface="Microsoft Sans Serif"/>
                <a:cs typeface="Microsoft Sans Serif"/>
              </a:rPr>
              <a:t>buy</a:t>
            </a:r>
            <a:r>
              <a:rPr dirty="0" sz="650" spc="-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over</a:t>
            </a:r>
            <a:r>
              <a:rPr dirty="0" sz="650" spc="-2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CBD4E1"/>
                </a:solidFill>
                <a:latin typeface="Microsoft Sans Serif"/>
                <a:cs typeface="Microsoft Sans Serif"/>
              </a:rPr>
              <a:t>time.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9794" y="2157467"/>
            <a:ext cx="4032885" cy="1224280"/>
            <a:chOff x="199794" y="2157467"/>
            <a:chExt cx="4032885" cy="1224280"/>
          </a:xfrm>
        </p:grpSpPr>
        <p:sp>
          <p:nvSpPr>
            <p:cNvPr id="27" name="object 27"/>
            <p:cNvSpPr/>
            <p:nvPr/>
          </p:nvSpPr>
          <p:spPr>
            <a:xfrm>
              <a:off x="204556" y="2162230"/>
              <a:ext cx="4023360" cy="1214755"/>
            </a:xfrm>
            <a:custGeom>
              <a:avLst/>
              <a:gdLst/>
              <a:ahLst/>
              <a:cxnLst/>
              <a:rect l="l" t="t" r="r" b="b"/>
              <a:pathLst>
                <a:path w="4023360" h="1214754">
                  <a:moveTo>
                    <a:pt x="3959546" y="1214415"/>
                  </a:moveTo>
                  <a:lnTo>
                    <a:pt x="63356" y="1214415"/>
                  </a:lnTo>
                  <a:lnTo>
                    <a:pt x="38695" y="1209437"/>
                  </a:lnTo>
                  <a:lnTo>
                    <a:pt x="18556" y="1195859"/>
                  </a:lnTo>
                  <a:lnTo>
                    <a:pt x="4978" y="1175720"/>
                  </a:lnTo>
                  <a:lnTo>
                    <a:pt x="0" y="1151059"/>
                  </a:lnTo>
                  <a:lnTo>
                    <a:pt x="0" y="63355"/>
                  </a:lnTo>
                  <a:lnTo>
                    <a:pt x="4978" y="38694"/>
                  </a:lnTo>
                  <a:lnTo>
                    <a:pt x="18556" y="18556"/>
                  </a:lnTo>
                  <a:lnTo>
                    <a:pt x="38695" y="4978"/>
                  </a:lnTo>
                  <a:lnTo>
                    <a:pt x="63356" y="0"/>
                  </a:lnTo>
                  <a:lnTo>
                    <a:pt x="3959546" y="0"/>
                  </a:lnTo>
                  <a:lnTo>
                    <a:pt x="4004346" y="18556"/>
                  </a:lnTo>
                  <a:lnTo>
                    <a:pt x="4022902" y="63355"/>
                  </a:lnTo>
                  <a:lnTo>
                    <a:pt x="4022902" y="1151059"/>
                  </a:lnTo>
                  <a:lnTo>
                    <a:pt x="4017923" y="1175720"/>
                  </a:lnTo>
                  <a:lnTo>
                    <a:pt x="4004346" y="1195859"/>
                  </a:lnTo>
                  <a:lnTo>
                    <a:pt x="3984207" y="1209437"/>
                  </a:lnTo>
                  <a:lnTo>
                    <a:pt x="3959546" y="1214415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4556" y="2162230"/>
              <a:ext cx="4023360" cy="1214755"/>
            </a:xfrm>
            <a:custGeom>
              <a:avLst/>
              <a:gdLst/>
              <a:ahLst/>
              <a:cxnLst/>
              <a:rect l="l" t="t" r="r" b="b"/>
              <a:pathLst>
                <a:path w="4023360" h="1214754">
                  <a:moveTo>
                    <a:pt x="0" y="63355"/>
                  </a:moveTo>
                  <a:lnTo>
                    <a:pt x="4978" y="38694"/>
                  </a:lnTo>
                  <a:lnTo>
                    <a:pt x="18556" y="18556"/>
                  </a:lnTo>
                  <a:lnTo>
                    <a:pt x="38695" y="4978"/>
                  </a:lnTo>
                  <a:lnTo>
                    <a:pt x="63356" y="0"/>
                  </a:lnTo>
                  <a:lnTo>
                    <a:pt x="3959546" y="0"/>
                  </a:lnTo>
                  <a:lnTo>
                    <a:pt x="4004346" y="18556"/>
                  </a:lnTo>
                  <a:lnTo>
                    <a:pt x="4022902" y="63355"/>
                  </a:lnTo>
                  <a:lnTo>
                    <a:pt x="4022902" y="1151059"/>
                  </a:lnTo>
                  <a:lnTo>
                    <a:pt x="4017923" y="1175720"/>
                  </a:lnTo>
                  <a:lnTo>
                    <a:pt x="4004346" y="1195859"/>
                  </a:lnTo>
                  <a:lnTo>
                    <a:pt x="3984207" y="1209437"/>
                  </a:lnTo>
                  <a:lnTo>
                    <a:pt x="3959546" y="1214415"/>
                  </a:lnTo>
                  <a:lnTo>
                    <a:pt x="63356" y="1214415"/>
                  </a:lnTo>
                  <a:lnTo>
                    <a:pt x="38695" y="1209437"/>
                  </a:lnTo>
                  <a:lnTo>
                    <a:pt x="18556" y="1195859"/>
                  </a:lnTo>
                  <a:lnTo>
                    <a:pt x="4978" y="1175720"/>
                  </a:lnTo>
                  <a:lnTo>
                    <a:pt x="0" y="1151059"/>
                  </a:lnTo>
                  <a:lnTo>
                    <a:pt x="0" y="63355"/>
                  </a:lnTo>
                  <a:close/>
                </a:path>
              </a:pathLst>
            </a:custGeom>
            <a:ln w="92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150" y="2229712"/>
              <a:ext cx="120650" cy="920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4500" y="2492901"/>
              <a:ext cx="57150" cy="5715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46583" y="2233518"/>
            <a:ext cx="3504565" cy="354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solidFill>
                  <a:srgbClr val="37BDF7"/>
                </a:solidFill>
                <a:latin typeface="Arial"/>
                <a:cs typeface="Arial"/>
              </a:rPr>
              <a:t>KEY</a:t>
            </a:r>
            <a:r>
              <a:rPr dirty="0" sz="750" spc="-7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37BDF7"/>
                </a:solidFill>
                <a:latin typeface="Arial"/>
                <a:cs typeface="Arial"/>
              </a:rPr>
              <a:t>DISCOVERIES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600" spc="-3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showed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strong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repeat-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purchase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behavior</a:t>
            </a:r>
            <a:r>
              <a:rPr dirty="0" sz="6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overall,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with</a:t>
            </a:r>
            <a:r>
              <a:rPr dirty="0" sz="600" spc="-3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an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average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reorder</a:t>
            </a:r>
            <a:r>
              <a:rPr dirty="0" sz="600" spc="-5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rate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of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60A5FA"/>
                </a:solidFill>
                <a:latin typeface="Microsoft Sans Serif"/>
                <a:cs typeface="Microsoft Sans Serif"/>
              </a:rPr>
              <a:t>66.46%</a:t>
            </a:r>
            <a:endParaRPr sz="6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4500" y="2692927"/>
            <a:ext cx="57150" cy="457200"/>
            <a:chOff x="244500" y="2692927"/>
            <a:chExt cx="57150" cy="457200"/>
          </a:xfrm>
        </p:grpSpPr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500" y="2692927"/>
              <a:ext cx="57150" cy="571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4500" y="2892952"/>
              <a:ext cx="57150" cy="571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4500" y="3092977"/>
              <a:ext cx="57150" cy="571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46583" y="2670702"/>
            <a:ext cx="37268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solidFill>
                  <a:srgbClr val="60A5FA"/>
                </a:solidFill>
                <a:latin typeface="Arial"/>
                <a:cs typeface="Arial"/>
              </a:rPr>
              <a:t>Fresh</a:t>
            </a:r>
            <a:r>
              <a:rPr dirty="0" sz="600" spc="-25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60A5FA"/>
                </a:solidFill>
                <a:latin typeface="Arial"/>
                <a:cs typeface="Arial"/>
              </a:rPr>
              <a:t>fruits</a:t>
            </a:r>
            <a:r>
              <a:rPr dirty="0" sz="600" spc="-20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had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the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highest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aisle-level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reorder</a:t>
            </a:r>
            <a:r>
              <a:rPr dirty="0" sz="600" spc="-4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rate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at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73.62%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,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followed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by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packaged</a:t>
            </a:r>
            <a:r>
              <a:rPr dirty="0" sz="600" spc="-20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60A5FA"/>
                </a:solidFill>
                <a:latin typeface="Arial"/>
                <a:cs typeface="Arial"/>
              </a:rPr>
              <a:t>produce</a:t>
            </a:r>
            <a:r>
              <a:rPr dirty="0" sz="600" spc="-20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at</a:t>
            </a:r>
            <a:r>
              <a:rPr dirty="0" sz="600" spc="-2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60A5FA"/>
                </a:solidFill>
                <a:latin typeface="Arial"/>
                <a:cs typeface="Arial"/>
              </a:rPr>
              <a:t>71.75%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6583" y="2870727"/>
            <a:ext cx="39058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Banana</a:t>
            </a:r>
            <a:r>
              <a:rPr dirty="0" sz="600" spc="-30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had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the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highest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product-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level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reorder</a:t>
            </a:r>
            <a:r>
              <a:rPr dirty="0" sz="6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rate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at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88.42%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,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followed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by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Bag</a:t>
            </a:r>
            <a:r>
              <a:rPr dirty="0" sz="600" spc="-25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of</a:t>
            </a:r>
            <a:r>
              <a:rPr dirty="0" sz="600" spc="-30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Organic</a:t>
            </a:r>
            <a:r>
              <a:rPr dirty="0" sz="600" spc="-25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60A5FA"/>
                </a:solidFill>
                <a:latin typeface="Arial"/>
                <a:cs typeface="Arial"/>
              </a:rPr>
              <a:t>Bananas</a:t>
            </a:r>
            <a:r>
              <a:rPr dirty="0" sz="600" spc="-30" b="1">
                <a:solidFill>
                  <a:srgbClr val="60A5FA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at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60A5FA"/>
                </a:solidFill>
                <a:latin typeface="Arial"/>
                <a:cs typeface="Arial"/>
              </a:rPr>
              <a:t>86.32%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6583" y="3070752"/>
            <a:ext cx="3307079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The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reorder</a:t>
            </a:r>
            <a:r>
              <a:rPr dirty="0" sz="600" spc="-4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results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suggest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that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many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Produce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items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behave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like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7FAFC"/>
                </a:solidFill>
                <a:latin typeface="Arial"/>
                <a:cs typeface="Arial"/>
              </a:rPr>
              <a:t>staple</a:t>
            </a:r>
            <a:r>
              <a:rPr dirty="0" sz="600" spc="-25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grocery</a:t>
            </a:r>
            <a:r>
              <a:rPr dirty="0" sz="600" spc="-30" b="1">
                <a:solidFill>
                  <a:srgbClr val="F7FAFC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7FAFC"/>
                </a:solidFill>
                <a:latin typeface="Arial"/>
                <a:cs typeface="Arial"/>
              </a:rPr>
              <a:t>purchases.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71987" y="2624137"/>
            <a:ext cx="4391025" cy="1810385"/>
            <a:chOff x="4471987" y="2624137"/>
            <a:chExt cx="4391025" cy="1810385"/>
          </a:xfrm>
        </p:grpSpPr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58579" y="3412641"/>
              <a:ext cx="68099" cy="680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476750" y="2628900"/>
              <a:ext cx="4381500" cy="1800860"/>
            </a:xfrm>
            <a:custGeom>
              <a:avLst/>
              <a:gdLst/>
              <a:ahLst/>
              <a:cxnLst/>
              <a:rect l="l" t="t" r="r" b="b"/>
              <a:pathLst>
                <a:path w="4381500" h="1800860">
                  <a:moveTo>
                    <a:pt x="4305310" y="1800299"/>
                  </a:moveTo>
                  <a:lnTo>
                    <a:pt x="76188" y="1800299"/>
                  </a:lnTo>
                  <a:lnTo>
                    <a:pt x="46532" y="1794312"/>
                  </a:lnTo>
                  <a:lnTo>
                    <a:pt x="22315" y="1777984"/>
                  </a:lnTo>
                  <a:lnTo>
                    <a:pt x="5987" y="1753767"/>
                  </a:lnTo>
                  <a:lnTo>
                    <a:pt x="0" y="1724111"/>
                  </a:lnTo>
                  <a:lnTo>
                    <a:pt x="0" y="76188"/>
                  </a:lnTo>
                  <a:lnTo>
                    <a:pt x="5987" y="46532"/>
                  </a:lnTo>
                  <a:lnTo>
                    <a:pt x="22315" y="22315"/>
                  </a:lnTo>
                  <a:lnTo>
                    <a:pt x="46532" y="5987"/>
                  </a:lnTo>
                  <a:lnTo>
                    <a:pt x="76188" y="0"/>
                  </a:lnTo>
                  <a:lnTo>
                    <a:pt x="4305310" y="0"/>
                  </a:lnTo>
                  <a:lnTo>
                    <a:pt x="4347581" y="12800"/>
                  </a:lnTo>
                  <a:lnTo>
                    <a:pt x="4375700" y="47032"/>
                  </a:lnTo>
                  <a:lnTo>
                    <a:pt x="4381499" y="76188"/>
                  </a:lnTo>
                  <a:lnTo>
                    <a:pt x="4381499" y="1724111"/>
                  </a:lnTo>
                  <a:lnTo>
                    <a:pt x="4375512" y="1753767"/>
                  </a:lnTo>
                  <a:lnTo>
                    <a:pt x="4359184" y="1777984"/>
                  </a:lnTo>
                  <a:lnTo>
                    <a:pt x="4334967" y="1794312"/>
                  </a:lnTo>
                  <a:lnTo>
                    <a:pt x="4305310" y="1800299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476750" y="2628900"/>
              <a:ext cx="4381500" cy="1800860"/>
            </a:xfrm>
            <a:custGeom>
              <a:avLst/>
              <a:gdLst/>
              <a:ahLst/>
              <a:cxnLst/>
              <a:rect l="l" t="t" r="r" b="b"/>
              <a:pathLst>
                <a:path w="4381500" h="1800860">
                  <a:moveTo>
                    <a:pt x="0" y="76188"/>
                  </a:moveTo>
                  <a:lnTo>
                    <a:pt x="5987" y="46532"/>
                  </a:lnTo>
                  <a:lnTo>
                    <a:pt x="22315" y="22315"/>
                  </a:lnTo>
                  <a:lnTo>
                    <a:pt x="46532" y="5987"/>
                  </a:lnTo>
                  <a:lnTo>
                    <a:pt x="76188" y="0"/>
                  </a:lnTo>
                  <a:lnTo>
                    <a:pt x="4305310" y="0"/>
                  </a:lnTo>
                  <a:lnTo>
                    <a:pt x="4347581" y="12800"/>
                  </a:lnTo>
                  <a:lnTo>
                    <a:pt x="4375700" y="47032"/>
                  </a:lnTo>
                  <a:lnTo>
                    <a:pt x="4381499" y="76188"/>
                  </a:lnTo>
                  <a:lnTo>
                    <a:pt x="4381499" y="1724111"/>
                  </a:lnTo>
                  <a:lnTo>
                    <a:pt x="4375512" y="1753767"/>
                  </a:lnTo>
                  <a:lnTo>
                    <a:pt x="4359184" y="1777984"/>
                  </a:lnTo>
                  <a:lnTo>
                    <a:pt x="4334967" y="1794312"/>
                  </a:lnTo>
                  <a:lnTo>
                    <a:pt x="4305310" y="1800299"/>
                  </a:lnTo>
                  <a:lnTo>
                    <a:pt x="76188" y="1800299"/>
                  </a:lnTo>
                  <a:lnTo>
                    <a:pt x="46532" y="1794312"/>
                  </a:lnTo>
                  <a:lnTo>
                    <a:pt x="22315" y="1777984"/>
                  </a:lnTo>
                  <a:lnTo>
                    <a:pt x="5987" y="1753767"/>
                  </a:lnTo>
                  <a:lnTo>
                    <a:pt x="0" y="1724111"/>
                  </a:lnTo>
                  <a:lnTo>
                    <a:pt x="0" y="76188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77000" y="2905137"/>
              <a:ext cx="1684020" cy="343535"/>
            </a:xfrm>
            <a:custGeom>
              <a:avLst/>
              <a:gdLst/>
              <a:ahLst/>
              <a:cxnLst/>
              <a:rect l="l" t="t" r="r" b="b"/>
              <a:pathLst>
                <a:path w="1684020" h="343535">
                  <a:moveTo>
                    <a:pt x="1508696" y="254647"/>
                  </a:moveTo>
                  <a:lnTo>
                    <a:pt x="1507693" y="252222"/>
                  </a:lnTo>
                  <a:lnTo>
                    <a:pt x="1504111" y="248653"/>
                  </a:lnTo>
                  <a:lnTo>
                    <a:pt x="1501686" y="247650"/>
                  </a:lnTo>
                  <a:lnTo>
                    <a:pt x="4267" y="247650"/>
                  </a:lnTo>
                  <a:lnTo>
                    <a:pt x="0" y="251917"/>
                  </a:lnTo>
                  <a:lnTo>
                    <a:pt x="0" y="257187"/>
                  </a:lnTo>
                  <a:lnTo>
                    <a:pt x="0" y="338772"/>
                  </a:lnTo>
                  <a:lnTo>
                    <a:pt x="4267" y="343039"/>
                  </a:lnTo>
                  <a:lnTo>
                    <a:pt x="1504416" y="343039"/>
                  </a:lnTo>
                  <a:lnTo>
                    <a:pt x="1508696" y="338772"/>
                  </a:lnTo>
                  <a:lnTo>
                    <a:pt x="1508696" y="254647"/>
                  </a:lnTo>
                  <a:close/>
                </a:path>
                <a:path w="1684020" h="343535">
                  <a:moveTo>
                    <a:pt x="1575295" y="130822"/>
                  </a:moveTo>
                  <a:lnTo>
                    <a:pt x="1574292" y="128397"/>
                  </a:lnTo>
                  <a:lnTo>
                    <a:pt x="1570710" y="124828"/>
                  </a:lnTo>
                  <a:lnTo>
                    <a:pt x="1568284" y="123825"/>
                  </a:lnTo>
                  <a:lnTo>
                    <a:pt x="4267" y="123825"/>
                  </a:lnTo>
                  <a:lnTo>
                    <a:pt x="0" y="128092"/>
                  </a:lnTo>
                  <a:lnTo>
                    <a:pt x="0" y="133362"/>
                  </a:lnTo>
                  <a:lnTo>
                    <a:pt x="0" y="214947"/>
                  </a:lnTo>
                  <a:lnTo>
                    <a:pt x="4267" y="219214"/>
                  </a:lnTo>
                  <a:lnTo>
                    <a:pt x="1571028" y="219214"/>
                  </a:lnTo>
                  <a:lnTo>
                    <a:pt x="1575295" y="214947"/>
                  </a:lnTo>
                  <a:lnTo>
                    <a:pt x="1575295" y="130822"/>
                  </a:lnTo>
                  <a:close/>
                </a:path>
                <a:path w="1684020" h="343535">
                  <a:moveTo>
                    <a:pt x="1683893" y="6997"/>
                  </a:moveTo>
                  <a:lnTo>
                    <a:pt x="1682889" y="4572"/>
                  </a:lnTo>
                  <a:lnTo>
                    <a:pt x="1679308" y="1003"/>
                  </a:lnTo>
                  <a:lnTo>
                    <a:pt x="1676882" y="0"/>
                  </a:lnTo>
                  <a:lnTo>
                    <a:pt x="4267" y="0"/>
                  </a:lnTo>
                  <a:lnTo>
                    <a:pt x="0" y="4267"/>
                  </a:lnTo>
                  <a:lnTo>
                    <a:pt x="0" y="9537"/>
                  </a:lnTo>
                  <a:lnTo>
                    <a:pt x="0" y="91122"/>
                  </a:lnTo>
                  <a:lnTo>
                    <a:pt x="4267" y="95389"/>
                  </a:lnTo>
                  <a:lnTo>
                    <a:pt x="1679625" y="95389"/>
                  </a:lnTo>
                  <a:lnTo>
                    <a:pt x="1683893" y="91122"/>
                  </a:lnTo>
                  <a:lnTo>
                    <a:pt x="1683893" y="6997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195559" y="3705493"/>
            <a:ext cx="17183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00"/>
              </a:spcBef>
              <a:buClr>
                <a:srgbClr val="60A5FA"/>
              </a:buClr>
              <a:buFont typeface="Arial MT"/>
              <a:buChar char="●"/>
              <a:tabLst>
                <a:tab pos="294640" algn="l"/>
              </a:tabLst>
            </a:pP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Second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 aisle</a:t>
            </a:r>
            <a:r>
              <a:rPr dirty="0" sz="7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reorder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rate: packaged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77825" y="3918854"/>
            <a:ext cx="76708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produce</a:t>
            </a:r>
            <a:r>
              <a:rPr dirty="0" sz="7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r>
              <a:rPr dirty="0" sz="7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71.75%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95559" y="4132214"/>
            <a:ext cx="169608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00"/>
              </a:spcBef>
              <a:buClr>
                <a:srgbClr val="60A5FA"/>
              </a:buClr>
              <a:buFont typeface="Arial MT"/>
              <a:buChar char="●"/>
              <a:tabLst>
                <a:tab pos="294640" algn="l"/>
              </a:tabLst>
            </a:pP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Top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product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reorder</a:t>
            </a:r>
            <a:r>
              <a:rPr dirty="0" sz="7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rate:</a:t>
            </a:r>
            <a:r>
              <a:rPr dirty="0" sz="7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>
                <a:solidFill>
                  <a:srgbClr val="FFFFFF"/>
                </a:solidFill>
                <a:latin typeface="Microsoft Sans Serif"/>
                <a:cs typeface="Microsoft Sans Serif"/>
              </a:rPr>
              <a:t>Banana</a:t>
            </a:r>
            <a:r>
              <a:rPr dirty="0" sz="7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00" spc="-25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77825" y="4345573"/>
            <a:ext cx="3365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Microsoft Sans Serif"/>
                <a:cs typeface="Microsoft Sans Serif"/>
              </a:rPr>
              <a:t>88.42%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471987" y="795337"/>
            <a:ext cx="4391025" cy="1743710"/>
            <a:chOff x="4471987" y="795337"/>
            <a:chExt cx="4391025" cy="1743710"/>
          </a:xfrm>
        </p:grpSpPr>
        <p:sp>
          <p:nvSpPr>
            <p:cNvPr id="49" name="object 49"/>
            <p:cNvSpPr/>
            <p:nvPr/>
          </p:nvSpPr>
          <p:spPr>
            <a:xfrm>
              <a:off x="4476750" y="800100"/>
              <a:ext cx="4381500" cy="1734185"/>
            </a:xfrm>
            <a:custGeom>
              <a:avLst/>
              <a:gdLst/>
              <a:ahLst/>
              <a:cxnLst/>
              <a:rect l="l" t="t" r="r" b="b"/>
              <a:pathLst>
                <a:path w="4381500" h="1734185">
                  <a:moveTo>
                    <a:pt x="4305303" y="1733699"/>
                  </a:moveTo>
                  <a:lnTo>
                    <a:pt x="76195" y="1733699"/>
                  </a:lnTo>
                  <a:lnTo>
                    <a:pt x="46537" y="1727712"/>
                  </a:lnTo>
                  <a:lnTo>
                    <a:pt x="22317" y="1711382"/>
                  </a:lnTo>
                  <a:lnTo>
                    <a:pt x="5987" y="1687162"/>
                  </a:lnTo>
                  <a:lnTo>
                    <a:pt x="0" y="1657503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5" y="0"/>
                  </a:lnTo>
                  <a:lnTo>
                    <a:pt x="4305303" y="0"/>
                  </a:lnTo>
                  <a:lnTo>
                    <a:pt x="4347577" y="12801"/>
                  </a:lnTo>
                  <a:lnTo>
                    <a:pt x="4375699" y="47037"/>
                  </a:lnTo>
                  <a:lnTo>
                    <a:pt x="4381499" y="76196"/>
                  </a:lnTo>
                  <a:lnTo>
                    <a:pt x="4381499" y="1657503"/>
                  </a:lnTo>
                  <a:lnTo>
                    <a:pt x="4375512" y="1687162"/>
                  </a:lnTo>
                  <a:lnTo>
                    <a:pt x="4359182" y="1711382"/>
                  </a:lnTo>
                  <a:lnTo>
                    <a:pt x="4334962" y="1727712"/>
                  </a:lnTo>
                  <a:lnTo>
                    <a:pt x="4305303" y="1733699"/>
                  </a:lnTo>
                  <a:close/>
                </a:path>
              </a:pathLst>
            </a:custGeom>
            <a:solidFill>
              <a:srgbClr val="1E293B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476750" y="800100"/>
              <a:ext cx="4381500" cy="1734185"/>
            </a:xfrm>
            <a:custGeom>
              <a:avLst/>
              <a:gdLst/>
              <a:ahLst/>
              <a:cxnLst/>
              <a:rect l="l" t="t" r="r" b="b"/>
              <a:pathLst>
                <a:path w="4381500" h="1734185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5" y="0"/>
                  </a:lnTo>
                  <a:lnTo>
                    <a:pt x="4305303" y="0"/>
                  </a:lnTo>
                  <a:lnTo>
                    <a:pt x="4347577" y="12801"/>
                  </a:lnTo>
                  <a:lnTo>
                    <a:pt x="4375699" y="47037"/>
                  </a:lnTo>
                  <a:lnTo>
                    <a:pt x="4381499" y="76196"/>
                  </a:lnTo>
                  <a:lnTo>
                    <a:pt x="4381499" y="1657503"/>
                  </a:lnTo>
                  <a:lnTo>
                    <a:pt x="4375512" y="1687162"/>
                  </a:lnTo>
                  <a:lnTo>
                    <a:pt x="4359182" y="1711382"/>
                  </a:lnTo>
                  <a:lnTo>
                    <a:pt x="4334962" y="1727712"/>
                  </a:lnTo>
                  <a:lnTo>
                    <a:pt x="4305303" y="1733699"/>
                  </a:lnTo>
                  <a:lnTo>
                    <a:pt x="76195" y="1733699"/>
                  </a:lnTo>
                  <a:lnTo>
                    <a:pt x="46537" y="1727712"/>
                  </a:lnTo>
                  <a:lnTo>
                    <a:pt x="22317" y="1711382"/>
                  </a:lnTo>
                  <a:lnTo>
                    <a:pt x="5987" y="1687162"/>
                  </a:lnTo>
                  <a:lnTo>
                    <a:pt x="0" y="1657503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726416" y="896620"/>
            <a:ext cx="18834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r>
              <a:rPr dirty="0" sz="1000" spc="-7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Aisle</a:t>
            </a:r>
            <a:r>
              <a:rPr dirty="0" sz="1000" spc="-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Reorder</a:t>
            </a:r>
            <a:r>
              <a:rPr dirty="0" sz="1000" spc="-8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rate</a:t>
            </a:r>
            <a:r>
              <a:rPr dirty="0" sz="1000" spc="-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37BDF7"/>
                </a:solidFill>
                <a:latin typeface="Arial"/>
                <a:cs typeface="Arial"/>
              </a:rPr>
              <a:t>(%)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905500" y="1143000"/>
            <a:ext cx="2103120" cy="142875"/>
          </a:xfrm>
          <a:custGeom>
            <a:avLst/>
            <a:gdLst/>
            <a:ahLst/>
            <a:cxnLst/>
            <a:rect l="l" t="t" r="r" b="b"/>
            <a:pathLst>
              <a:path w="2103120" h="142875">
                <a:moveTo>
                  <a:pt x="2083959" y="142799"/>
                </a:moveTo>
                <a:lnTo>
                  <a:pt x="19039" y="142799"/>
                </a:lnTo>
                <a:lnTo>
                  <a:pt x="11628" y="141303"/>
                </a:lnTo>
                <a:lnTo>
                  <a:pt x="5576" y="137223"/>
                </a:lnTo>
                <a:lnTo>
                  <a:pt x="1496" y="131171"/>
                </a:lnTo>
                <a:lnTo>
                  <a:pt x="0" y="123760"/>
                </a:lnTo>
                <a:lnTo>
                  <a:pt x="0" y="19039"/>
                </a:lnTo>
                <a:lnTo>
                  <a:pt x="1496" y="11628"/>
                </a:lnTo>
                <a:lnTo>
                  <a:pt x="5576" y="5576"/>
                </a:lnTo>
                <a:lnTo>
                  <a:pt x="11628" y="1496"/>
                </a:lnTo>
                <a:lnTo>
                  <a:pt x="19039" y="0"/>
                </a:lnTo>
                <a:lnTo>
                  <a:pt x="2089009" y="0"/>
                </a:lnTo>
                <a:lnTo>
                  <a:pt x="2093852" y="2005"/>
                </a:lnTo>
                <a:lnTo>
                  <a:pt x="2100993" y="9147"/>
                </a:lnTo>
                <a:lnTo>
                  <a:pt x="2102999" y="13989"/>
                </a:lnTo>
                <a:lnTo>
                  <a:pt x="2102999" y="123760"/>
                </a:lnTo>
                <a:lnTo>
                  <a:pt x="2101503" y="131171"/>
                </a:lnTo>
                <a:lnTo>
                  <a:pt x="2097423" y="137223"/>
                </a:lnTo>
                <a:lnTo>
                  <a:pt x="2091371" y="141303"/>
                </a:lnTo>
                <a:lnTo>
                  <a:pt x="2083959" y="1427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374335" y="1135723"/>
            <a:ext cx="4972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35925" y="1135723"/>
            <a:ext cx="2838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73.62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905500" y="1381125"/>
            <a:ext cx="2050414" cy="142875"/>
          </a:xfrm>
          <a:custGeom>
            <a:avLst/>
            <a:gdLst/>
            <a:ahLst/>
            <a:cxnLst/>
            <a:rect l="l" t="t" r="r" b="b"/>
            <a:pathLst>
              <a:path w="2050415" h="142875">
                <a:moveTo>
                  <a:pt x="2030859" y="142799"/>
                </a:moveTo>
                <a:lnTo>
                  <a:pt x="19039" y="142799"/>
                </a:lnTo>
                <a:lnTo>
                  <a:pt x="11628" y="141303"/>
                </a:lnTo>
                <a:lnTo>
                  <a:pt x="5576" y="137223"/>
                </a:lnTo>
                <a:lnTo>
                  <a:pt x="1496" y="131171"/>
                </a:lnTo>
                <a:lnTo>
                  <a:pt x="0" y="123760"/>
                </a:lnTo>
                <a:lnTo>
                  <a:pt x="0" y="19039"/>
                </a:lnTo>
                <a:lnTo>
                  <a:pt x="1496" y="11628"/>
                </a:lnTo>
                <a:lnTo>
                  <a:pt x="5576" y="5576"/>
                </a:lnTo>
                <a:lnTo>
                  <a:pt x="11628" y="1496"/>
                </a:lnTo>
                <a:lnTo>
                  <a:pt x="19039" y="0"/>
                </a:lnTo>
                <a:lnTo>
                  <a:pt x="2035909" y="0"/>
                </a:lnTo>
                <a:lnTo>
                  <a:pt x="2040752" y="2005"/>
                </a:lnTo>
                <a:lnTo>
                  <a:pt x="2047893" y="9147"/>
                </a:lnTo>
                <a:lnTo>
                  <a:pt x="2049899" y="13989"/>
                </a:lnTo>
                <a:lnTo>
                  <a:pt x="2049899" y="123760"/>
                </a:lnTo>
                <a:lnTo>
                  <a:pt x="2048403" y="131171"/>
                </a:lnTo>
                <a:lnTo>
                  <a:pt x="2044323" y="137223"/>
                </a:lnTo>
                <a:lnTo>
                  <a:pt x="2038271" y="141303"/>
                </a:lnTo>
                <a:lnTo>
                  <a:pt x="2030859" y="1427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012585" y="1373848"/>
            <a:ext cx="8591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88300" y="1373848"/>
            <a:ext cx="2768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71.75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905500" y="1619250"/>
            <a:ext cx="1960245" cy="142875"/>
          </a:xfrm>
          <a:custGeom>
            <a:avLst/>
            <a:gdLst/>
            <a:ahLst/>
            <a:cxnLst/>
            <a:rect l="l" t="t" r="r" b="b"/>
            <a:pathLst>
              <a:path w="1960245" h="142875">
                <a:moveTo>
                  <a:pt x="1941159" y="142799"/>
                </a:moveTo>
                <a:lnTo>
                  <a:pt x="19039" y="142799"/>
                </a:lnTo>
                <a:lnTo>
                  <a:pt x="11628" y="141303"/>
                </a:lnTo>
                <a:lnTo>
                  <a:pt x="5576" y="137223"/>
                </a:lnTo>
                <a:lnTo>
                  <a:pt x="1496" y="131171"/>
                </a:lnTo>
                <a:lnTo>
                  <a:pt x="0" y="123760"/>
                </a:lnTo>
                <a:lnTo>
                  <a:pt x="0" y="19039"/>
                </a:lnTo>
                <a:lnTo>
                  <a:pt x="1496" y="11628"/>
                </a:lnTo>
                <a:lnTo>
                  <a:pt x="5576" y="5576"/>
                </a:lnTo>
                <a:lnTo>
                  <a:pt x="11628" y="1496"/>
                </a:lnTo>
                <a:lnTo>
                  <a:pt x="19039" y="0"/>
                </a:lnTo>
                <a:lnTo>
                  <a:pt x="1946209" y="0"/>
                </a:lnTo>
                <a:lnTo>
                  <a:pt x="1951052" y="2005"/>
                </a:lnTo>
                <a:lnTo>
                  <a:pt x="1958193" y="9147"/>
                </a:lnTo>
                <a:lnTo>
                  <a:pt x="1960199" y="13989"/>
                </a:lnTo>
                <a:lnTo>
                  <a:pt x="1960199" y="123760"/>
                </a:lnTo>
                <a:lnTo>
                  <a:pt x="1958703" y="131171"/>
                </a:lnTo>
                <a:lnTo>
                  <a:pt x="1954623" y="137223"/>
                </a:lnTo>
                <a:lnTo>
                  <a:pt x="1948571" y="141303"/>
                </a:lnTo>
                <a:lnTo>
                  <a:pt x="1941159" y="1427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646873" y="1611973"/>
            <a:ext cx="12255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93050" y="1611973"/>
            <a:ext cx="2844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65.64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905500" y="1857375"/>
            <a:ext cx="1686560" cy="142875"/>
          </a:xfrm>
          <a:custGeom>
            <a:avLst/>
            <a:gdLst/>
            <a:ahLst/>
            <a:cxnLst/>
            <a:rect l="l" t="t" r="r" b="b"/>
            <a:pathLst>
              <a:path w="1686559" h="142875">
                <a:moveTo>
                  <a:pt x="1666959" y="142799"/>
                </a:moveTo>
                <a:lnTo>
                  <a:pt x="19039" y="142799"/>
                </a:lnTo>
                <a:lnTo>
                  <a:pt x="11628" y="141303"/>
                </a:lnTo>
                <a:lnTo>
                  <a:pt x="5576" y="137223"/>
                </a:lnTo>
                <a:lnTo>
                  <a:pt x="1496" y="131171"/>
                </a:lnTo>
                <a:lnTo>
                  <a:pt x="0" y="123760"/>
                </a:lnTo>
                <a:lnTo>
                  <a:pt x="0" y="19039"/>
                </a:lnTo>
                <a:lnTo>
                  <a:pt x="1496" y="11628"/>
                </a:lnTo>
                <a:lnTo>
                  <a:pt x="5576" y="5576"/>
                </a:lnTo>
                <a:lnTo>
                  <a:pt x="11628" y="1496"/>
                </a:lnTo>
                <a:lnTo>
                  <a:pt x="19039" y="0"/>
                </a:lnTo>
                <a:lnTo>
                  <a:pt x="1672009" y="0"/>
                </a:lnTo>
                <a:lnTo>
                  <a:pt x="1676852" y="2005"/>
                </a:lnTo>
                <a:lnTo>
                  <a:pt x="1683993" y="9146"/>
                </a:lnTo>
                <a:lnTo>
                  <a:pt x="1685999" y="13989"/>
                </a:lnTo>
                <a:lnTo>
                  <a:pt x="1685999" y="123760"/>
                </a:lnTo>
                <a:lnTo>
                  <a:pt x="1684503" y="131171"/>
                </a:lnTo>
                <a:lnTo>
                  <a:pt x="1680423" y="137223"/>
                </a:lnTo>
                <a:lnTo>
                  <a:pt x="1674371" y="141303"/>
                </a:lnTo>
                <a:lnTo>
                  <a:pt x="1666959" y="1427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106675" y="1850098"/>
            <a:ext cx="7651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626350" y="1850098"/>
            <a:ext cx="2844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60.67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905500" y="2095500"/>
            <a:ext cx="1546225" cy="142875"/>
          </a:xfrm>
          <a:custGeom>
            <a:avLst/>
            <a:gdLst/>
            <a:ahLst/>
            <a:cxnLst/>
            <a:rect l="l" t="t" r="r" b="b"/>
            <a:pathLst>
              <a:path w="1546225" h="142875">
                <a:moveTo>
                  <a:pt x="1526859" y="142799"/>
                </a:moveTo>
                <a:lnTo>
                  <a:pt x="19039" y="142799"/>
                </a:lnTo>
                <a:lnTo>
                  <a:pt x="11628" y="141303"/>
                </a:lnTo>
                <a:lnTo>
                  <a:pt x="5576" y="137223"/>
                </a:lnTo>
                <a:lnTo>
                  <a:pt x="1496" y="131171"/>
                </a:lnTo>
                <a:lnTo>
                  <a:pt x="0" y="123760"/>
                </a:lnTo>
                <a:lnTo>
                  <a:pt x="0" y="19039"/>
                </a:lnTo>
                <a:lnTo>
                  <a:pt x="1496" y="11628"/>
                </a:lnTo>
                <a:lnTo>
                  <a:pt x="5576" y="5576"/>
                </a:lnTo>
                <a:lnTo>
                  <a:pt x="11628" y="1496"/>
                </a:lnTo>
                <a:lnTo>
                  <a:pt x="19039" y="0"/>
                </a:lnTo>
                <a:lnTo>
                  <a:pt x="1531909" y="0"/>
                </a:lnTo>
                <a:lnTo>
                  <a:pt x="1536752" y="2005"/>
                </a:lnTo>
                <a:lnTo>
                  <a:pt x="1543893" y="9146"/>
                </a:lnTo>
                <a:lnTo>
                  <a:pt x="1545899" y="13989"/>
                </a:lnTo>
                <a:lnTo>
                  <a:pt x="1545899" y="123760"/>
                </a:lnTo>
                <a:lnTo>
                  <a:pt x="1544403" y="131171"/>
                </a:lnTo>
                <a:lnTo>
                  <a:pt x="1540323" y="137223"/>
                </a:lnTo>
                <a:lnTo>
                  <a:pt x="1534271" y="141303"/>
                </a:lnTo>
                <a:lnTo>
                  <a:pt x="1526859" y="1427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342463" y="2088223"/>
            <a:ext cx="5289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herbs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83475" y="2088223"/>
            <a:ext cx="2863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53.30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16875" y="2864064"/>
            <a:ext cx="406400" cy="39687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2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88.42</a:t>
            </a:r>
            <a:endParaRPr sz="650">
              <a:latin typeface="Microsoft Sans Serif"/>
              <a:cs typeface="Microsoft Sans Serif"/>
            </a:endParaRPr>
          </a:p>
          <a:p>
            <a:pPr marL="79375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86.32</a:t>
            </a:r>
            <a:endParaRPr sz="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84.03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477000" y="3276600"/>
            <a:ext cx="1440815" cy="95885"/>
          </a:xfrm>
          <a:custGeom>
            <a:avLst/>
            <a:gdLst/>
            <a:ahLst/>
            <a:cxnLst/>
            <a:rect l="l" t="t" r="r" b="b"/>
            <a:pathLst>
              <a:path w="1440815" h="95885">
                <a:moveTo>
                  <a:pt x="1436028" y="95399"/>
                </a:moveTo>
                <a:lnTo>
                  <a:pt x="4270" y="95399"/>
                </a:lnTo>
                <a:lnTo>
                  <a:pt x="0" y="91128"/>
                </a:lnTo>
                <a:lnTo>
                  <a:pt x="0" y="9539"/>
                </a:lnTo>
                <a:lnTo>
                  <a:pt x="0" y="4270"/>
                </a:lnTo>
                <a:lnTo>
                  <a:pt x="4270" y="0"/>
                </a:lnTo>
                <a:lnTo>
                  <a:pt x="1433289" y="0"/>
                </a:lnTo>
                <a:lnTo>
                  <a:pt x="1435716" y="1004"/>
                </a:lnTo>
                <a:lnTo>
                  <a:pt x="1439294" y="4583"/>
                </a:lnTo>
                <a:lnTo>
                  <a:pt x="1440299" y="7009"/>
                </a:lnTo>
                <a:lnTo>
                  <a:pt x="1440299" y="91128"/>
                </a:lnTo>
                <a:lnTo>
                  <a:pt x="1436028" y="95399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5369499" y="2610886"/>
            <a:ext cx="2597785" cy="77406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00" spc="-30" b="1">
                <a:solidFill>
                  <a:srgbClr val="37BDF7"/>
                </a:solidFill>
                <a:latin typeface="Arial"/>
                <a:cs typeface="Arial"/>
              </a:rPr>
              <a:t>Top</a:t>
            </a:r>
            <a:r>
              <a:rPr dirty="0" sz="1000" spc="-7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Produce</a:t>
            </a:r>
            <a:r>
              <a:rPr dirty="0" sz="1000" spc="-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Products</a:t>
            </a:r>
            <a:r>
              <a:rPr dirty="0" sz="1000" spc="-6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37BDF7"/>
                </a:solidFill>
                <a:latin typeface="Arial"/>
                <a:cs typeface="Arial"/>
              </a:rPr>
              <a:t>by</a:t>
            </a:r>
            <a:r>
              <a:rPr dirty="0" sz="1000" spc="-7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Reorder</a:t>
            </a:r>
            <a:r>
              <a:rPr dirty="0" sz="1000" spc="-85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37BDF7"/>
                </a:solidFill>
                <a:latin typeface="Arial"/>
                <a:cs typeface="Arial"/>
              </a:rPr>
              <a:t>Rate</a:t>
            </a:r>
            <a:r>
              <a:rPr dirty="0" sz="1000" spc="-70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37BDF7"/>
                </a:solidFill>
                <a:latin typeface="Arial"/>
                <a:cs typeface="Arial"/>
              </a:rPr>
              <a:t>(%)</a:t>
            </a:r>
            <a:endParaRPr sz="1000">
              <a:latin typeface="Arial"/>
              <a:cs typeface="Arial"/>
            </a:endParaRPr>
          </a:p>
          <a:p>
            <a:pPr algn="r" marL="174625" marR="1529080" indent="600710">
              <a:lnSpc>
                <a:spcPct val="125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Bag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of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Bananas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Avocado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Hass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Avocado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50200" y="3260685"/>
            <a:ext cx="23622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82.85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477000" y="3400437"/>
            <a:ext cx="1415415" cy="715010"/>
          </a:xfrm>
          <a:custGeom>
            <a:avLst/>
            <a:gdLst/>
            <a:ahLst/>
            <a:cxnLst/>
            <a:rect l="l" t="t" r="r" b="b"/>
            <a:pathLst>
              <a:path w="1415415" h="715010">
                <a:moveTo>
                  <a:pt x="1285798" y="626122"/>
                </a:moveTo>
                <a:lnTo>
                  <a:pt x="1284782" y="623697"/>
                </a:lnTo>
                <a:lnTo>
                  <a:pt x="1281214" y="620128"/>
                </a:lnTo>
                <a:lnTo>
                  <a:pt x="1278788" y="619125"/>
                </a:lnTo>
                <a:lnTo>
                  <a:pt x="4267" y="619125"/>
                </a:lnTo>
                <a:lnTo>
                  <a:pt x="0" y="623392"/>
                </a:lnTo>
                <a:lnTo>
                  <a:pt x="0" y="628662"/>
                </a:lnTo>
                <a:lnTo>
                  <a:pt x="0" y="710247"/>
                </a:lnTo>
                <a:lnTo>
                  <a:pt x="4267" y="714514"/>
                </a:lnTo>
                <a:lnTo>
                  <a:pt x="1281518" y="714514"/>
                </a:lnTo>
                <a:lnTo>
                  <a:pt x="1285798" y="710247"/>
                </a:lnTo>
                <a:lnTo>
                  <a:pt x="1285798" y="626122"/>
                </a:lnTo>
                <a:close/>
              </a:path>
              <a:path w="1415415" h="715010">
                <a:moveTo>
                  <a:pt x="1301089" y="502297"/>
                </a:moveTo>
                <a:lnTo>
                  <a:pt x="1300086" y="499872"/>
                </a:lnTo>
                <a:lnTo>
                  <a:pt x="1296504" y="496303"/>
                </a:lnTo>
                <a:lnTo>
                  <a:pt x="1294079" y="495300"/>
                </a:lnTo>
                <a:lnTo>
                  <a:pt x="4267" y="495300"/>
                </a:lnTo>
                <a:lnTo>
                  <a:pt x="0" y="499567"/>
                </a:lnTo>
                <a:lnTo>
                  <a:pt x="0" y="504837"/>
                </a:lnTo>
                <a:lnTo>
                  <a:pt x="0" y="586422"/>
                </a:lnTo>
                <a:lnTo>
                  <a:pt x="4267" y="590689"/>
                </a:lnTo>
                <a:lnTo>
                  <a:pt x="1296822" y="590689"/>
                </a:lnTo>
                <a:lnTo>
                  <a:pt x="1301089" y="586422"/>
                </a:lnTo>
                <a:lnTo>
                  <a:pt x="1301089" y="502297"/>
                </a:lnTo>
                <a:close/>
              </a:path>
              <a:path w="1415415" h="715010">
                <a:moveTo>
                  <a:pt x="1322095" y="378472"/>
                </a:moveTo>
                <a:lnTo>
                  <a:pt x="1321092" y="376047"/>
                </a:lnTo>
                <a:lnTo>
                  <a:pt x="1317510" y="372478"/>
                </a:lnTo>
                <a:lnTo>
                  <a:pt x="1315085" y="371475"/>
                </a:lnTo>
                <a:lnTo>
                  <a:pt x="4267" y="371475"/>
                </a:lnTo>
                <a:lnTo>
                  <a:pt x="0" y="375742"/>
                </a:lnTo>
                <a:lnTo>
                  <a:pt x="0" y="381012"/>
                </a:lnTo>
                <a:lnTo>
                  <a:pt x="0" y="462597"/>
                </a:lnTo>
                <a:lnTo>
                  <a:pt x="4267" y="466864"/>
                </a:lnTo>
                <a:lnTo>
                  <a:pt x="1317828" y="466864"/>
                </a:lnTo>
                <a:lnTo>
                  <a:pt x="1322095" y="462597"/>
                </a:lnTo>
                <a:lnTo>
                  <a:pt x="1322095" y="378472"/>
                </a:lnTo>
                <a:close/>
              </a:path>
              <a:path w="1415415" h="715010">
                <a:moveTo>
                  <a:pt x="1333500" y="254647"/>
                </a:moveTo>
                <a:lnTo>
                  <a:pt x="1332484" y="252222"/>
                </a:lnTo>
                <a:lnTo>
                  <a:pt x="1328915" y="248653"/>
                </a:lnTo>
                <a:lnTo>
                  <a:pt x="1326489" y="247650"/>
                </a:lnTo>
                <a:lnTo>
                  <a:pt x="4267" y="247650"/>
                </a:lnTo>
                <a:lnTo>
                  <a:pt x="0" y="251917"/>
                </a:lnTo>
                <a:lnTo>
                  <a:pt x="0" y="257187"/>
                </a:lnTo>
                <a:lnTo>
                  <a:pt x="0" y="338772"/>
                </a:lnTo>
                <a:lnTo>
                  <a:pt x="4267" y="343039"/>
                </a:lnTo>
                <a:lnTo>
                  <a:pt x="1329220" y="343039"/>
                </a:lnTo>
                <a:lnTo>
                  <a:pt x="1333500" y="338772"/>
                </a:lnTo>
                <a:lnTo>
                  <a:pt x="1333500" y="254647"/>
                </a:lnTo>
                <a:close/>
              </a:path>
              <a:path w="1415415" h="715010">
                <a:moveTo>
                  <a:pt x="1371600" y="130822"/>
                </a:moveTo>
                <a:lnTo>
                  <a:pt x="1370584" y="128397"/>
                </a:lnTo>
                <a:lnTo>
                  <a:pt x="1367015" y="124828"/>
                </a:lnTo>
                <a:lnTo>
                  <a:pt x="1364589" y="123825"/>
                </a:lnTo>
                <a:lnTo>
                  <a:pt x="4267" y="123825"/>
                </a:lnTo>
                <a:lnTo>
                  <a:pt x="0" y="128092"/>
                </a:lnTo>
                <a:lnTo>
                  <a:pt x="0" y="133362"/>
                </a:lnTo>
                <a:lnTo>
                  <a:pt x="0" y="214947"/>
                </a:lnTo>
                <a:lnTo>
                  <a:pt x="4267" y="219214"/>
                </a:lnTo>
                <a:lnTo>
                  <a:pt x="1367320" y="219214"/>
                </a:lnTo>
                <a:lnTo>
                  <a:pt x="1371600" y="214947"/>
                </a:lnTo>
                <a:lnTo>
                  <a:pt x="1371600" y="130822"/>
                </a:lnTo>
                <a:close/>
              </a:path>
              <a:path w="1415415" h="715010">
                <a:moveTo>
                  <a:pt x="1415389" y="6997"/>
                </a:moveTo>
                <a:lnTo>
                  <a:pt x="1414386" y="4572"/>
                </a:lnTo>
                <a:lnTo>
                  <a:pt x="1410804" y="1003"/>
                </a:lnTo>
                <a:lnTo>
                  <a:pt x="1408379" y="0"/>
                </a:lnTo>
                <a:lnTo>
                  <a:pt x="4267" y="0"/>
                </a:lnTo>
                <a:lnTo>
                  <a:pt x="0" y="4267"/>
                </a:lnTo>
                <a:lnTo>
                  <a:pt x="0" y="9537"/>
                </a:lnTo>
                <a:lnTo>
                  <a:pt x="0" y="91122"/>
                </a:lnTo>
                <a:lnTo>
                  <a:pt x="4267" y="95389"/>
                </a:lnTo>
                <a:lnTo>
                  <a:pt x="1411122" y="95389"/>
                </a:lnTo>
                <a:lnTo>
                  <a:pt x="1415389" y="91122"/>
                </a:lnTo>
                <a:lnTo>
                  <a:pt x="1415389" y="6997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5071505" y="3359364"/>
            <a:ext cx="137223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530225">
              <a:lnSpc>
                <a:spcPct val="125000"/>
              </a:lnSpc>
              <a:spcBef>
                <a:spcPts val="100"/>
              </a:spcBef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Baby</a:t>
            </a:r>
            <a:r>
              <a:rPr dirty="0" sz="65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Spinach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Large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Extra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Fancy</a:t>
            </a:r>
            <a:r>
              <a:rPr dirty="0" sz="6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Fuji</a:t>
            </a:r>
            <a:r>
              <a:rPr dirty="0" sz="6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Apple</a:t>
            </a:r>
            <a:endParaRPr sz="650">
              <a:latin typeface="Microsoft Sans Serif"/>
              <a:cs typeface="Microsoft Sans Serif"/>
            </a:endParaRPr>
          </a:p>
          <a:p>
            <a:pPr algn="r" marL="607060" marR="5080" indent="-18415">
              <a:lnSpc>
                <a:spcPct val="125000"/>
              </a:lnSpc>
            </a:pP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Strawberries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Raspberries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Organic</a:t>
            </a:r>
            <a:r>
              <a:rPr dirty="0" sz="65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Blueberries</a:t>
            </a:r>
            <a:r>
              <a:rPr dirty="0" sz="6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>
                <a:solidFill>
                  <a:srgbClr val="E1E7F0"/>
                </a:solidFill>
                <a:latin typeface="Microsoft Sans Serif"/>
                <a:cs typeface="Microsoft Sans Serif"/>
              </a:rPr>
              <a:t>Honeycrisp</a:t>
            </a:r>
            <a:r>
              <a:rPr dirty="0" sz="65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Apple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97800" y="3359364"/>
            <a:ext cx="360680" cy="76835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82.33</a:t>
            </a:r>
            <a:endParaRPr sz="650">
              <a:latin typeface="Microsoft Sans Serif"/>
              <a:cs typeface="Microsoft Sans Serif"/>
            </a:endParaRPr>
          </a:p>
          <a:p>
            <a:pPr marL="98425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79.14</a:t>
            </a:r>
            <a:endParaRPr sz="650">
              <a:latin typeface="Microsoft Sans Serif"/>
              <a:cs typeface="Microsoft Sans Serif"/>
            </a:endParaRPr>
          </a:p>
          <a:p>
            <a:pPr marL="60325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78.97</a:t>
            </a:r>
            <a:endParaRPr sz="65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77.90</a:t>
            </a:r>
            <a:endParaRPr sz="650">
              <a:latin typeface="Microsoft Sans Serif"/>
              <a:cs typeface="Microsoft Sans Serif"/>
            </a:endParaRPr>
          </a:p>
          <a:p>
            <a:pPr marL="22225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77.15</a:t>
            </a:r>
            <a:endParaRPr sz="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650" spc="-10">
                <a:solidFill>
                  <a:srgbClr val="E1E7F0"/>
                </a:solidFill>
                <a:latin typeface="Microsoft Sans Serif"/>
                <a:cs typeface="Microsoft Sans Serif"/>
              </a:rPr>
              <a:t>74.77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866344" y="118171"/>
            <a:ext cx="1974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4000500"/>
            <a:ext cx="8382000" cy="762000"/>
            <a:chOff x="381000" y="4000500"/>
            <a:chExt cx="8382000" cy="762000"/>
          </a:xfrm>
        </p:grpSpPr>
        <p:sp>
          <p:nvSpPr>
            <p:cNvPr id="3" name="object 3"/>
            <p:cNvSpPr/>
            <p:nvPr/>
          </p:nvSpPr>
          <p:spPr>
            <a:xfrm>
              <a:off x="381000" y="4000500"/>
              <a:ext cx="8382000" cy="762000"/>
            </a:xfrm>
            <a:custGeom>
              <a:avLst/>
              <a:gdLst/>
              <a:ahLst/>
              <a:cxnLst/>
              <a:rect l="l" t="t" r="r" b="b"/>
              <a:pathLst>
                <a:path w="8382000" h="762000">
                  <a:moveTo>
                    <a:pt x="8267699" y="761999"/>
                  </a:moveTo>
                  <a:lnTo>
                    <a:pt x="114299" y="761999"/>
                  </a:lnTo>
                  <a:lnTo>
                    <a:pt x="69809" y="753017"/>
                  </a:lnTo>
                  <a:lnTo>
                    <a:pt x="33477" y="728522"/>
                  </a:lnTo>
                  <a:lnTo>
                    <a:pt x="8982" y="692190"/>
                  </a:lnTo>
                  <a:lnTo>
                    <a:pt x="0" y="6476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8267699" y="0"/>
                  </a:lnTo>
                  <a:lnTo>
                    <a:pt x="8311440" y="8700"/>
                  </a:lnTo>
                  <a:lnTo>
                    <a:pt x="8348522" y="33477"/>
                  </a:lnTo>
                  <a:lnTo>
                    <a:pt x="8373299" y="70559"/>
                  </a:lnTo>
                  <a:lnTo>
                    <a:pt x="8381999" y="114299"/>
                  </a:lnTo>
                  <a:lnTo>
                    <a:pt x="8381999" y="647699"/>
                  </a:lnTo>
                  <a:lnTo>
                    <a:pt x="8373017" y="692190"/>
                  </a:lnTo>
                  <a:lnTo>
                    <a:pt x="8348522" y="728522"/>
                  </a:lnTo>
                  <a:lnTo>
                    <a:pt x="8312190" y="753017"/>
                  </a:lnTo>
                  <a:lnTo>
                    <a:pt x="8267699" y="761999"/>
                  </a:lnTo>
                  <a:close/>
                </a:path>
              </a:pathLst>
            </a:custGeom>
            <a:solidFill>
              <a:srgbClr val="064E3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900" y="4170172"/>
              <a:ext cx="152400" cy="1714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58800" y="4195572"/>
            <a:ext cx="7576184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0835">
              <a:lnSpc>
                <a:spcPct val="111400"/>
              </a:lnSpc>
              <a:spcBef>
                <a:spcPts val="100"/>
              </a:spcBef>
            </a:pPr>
            <a:r>
              <a:rPr dirty="0" sz="1100" b="1">
                <a:solidFill>
                  <a:srgbClr val="34D399"/>
                </a:solidFill>
                <a:latin typeface="Arial"/>
                <a:cs typeface="Arial"/>
              </a:rPr>
              <a:t>FINAL</a:t>
            </a:r>
            <a:r>
              <a:rPr dirty="0" sz="1100" spc="-70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00" spc="-35" b="1">
                <a:solidFill>
                  <a:srgbClr val="34D399"/>
                </a:solidFill>
                <a:latin typeface="Arial"/>
                <a:cs typeface="Arial"/>
              </a:rPr>
              <a:t>TAKEAWAY:</a:t>
            </a:r>
            <a:r>
              <a:rPr dirty="0" sz="1100" spc="-85" b="1">
                <a:solidFill>
                  <a:srgbClr val="34D39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The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analysis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showed</a:t>
            </a:r>
            <a:r>
              <a:rPr dirty="0" sz="1100" spc="-4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that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Produce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plays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CBD4E1"/>
                </a:solidFill>
                <a:latin typeface="Microsoft Sans Serif"/>
                <a:cs typeface="Microsoft Sans Serif"/>
              </a:rPr>
              <a:t>a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central</a:t>
            </a:r>
            <a:r>
              <a:rPr dirty="0" sz="1100" spc="-4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role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in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routine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grocery</a:t>
            </a:r>
            <a:r>
              <a:rPr dirty="0" sz="1100" spc="-4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shopping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through</a:t>
            </a:r>
            <a:r>
              <a:rPr dirty="0" sz="1100" spc="-40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strong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demand,</a:t>
            </a:r>
            <a:r>
              <a:rPr dirty="0" sz="11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11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associations,</a:t>
            </a:r>
            <a:r>
              <a:rPr dirty="0" sz="11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CBD4E1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repeat</a:t>
            </a:r>
            <a:r>
              <a:rPr dirty="0" sz="1100" spc="-35">
                <a:solidFill>
                  <a:srgbClr val="CBD4E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CBD4E1"/>
                </a:solidFill>
                <a:latin typeface="Microsoft Sans Serif"/>
                <a:cs typeface="Microsoft Sans Serif"/>
              </a:rPr>
              <a:t>purchases.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68300" y="302830"/>
            <a:ext cx="7566025" cy="4203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Final</a:t>
            </a:r>
            <a:r>
              <a:rPr dirty="0" spc="-90"/>
              <a:t> </a:t>
            </a:r>
            <a:r>
              <a:rPr dirty="0"/>
              <a:t>Findings</a:t>
            </a:r>
            <a:r>
              <a:rPr dirty="0" spc="-90"/>
              <a:t> </a:t>
            </a:r>
            <a:r>
              <a:rPr dirty="0" spc="650"/>
              <a:t>3</a:t>
            </a:r>
            <a:r>
              <a:rPr dirty="0" spc="325"/>
              <a:t>  </a:t>
            </a:r>
            <a:r>
              <a:rPr dirty="0">
                <a:solidFill>
                  <a:srgbClr val="37BDF7"/>
                </a:solidFill>
              </a:rPr>
              <a:t>Business</a:t>
            </a:r>
            <a:r>
              <a:rPr dirty="0" spc="-85">
                <a:solidFill>
                  <a:srgbClr val="37BDF7"/>
                </a:solidFill>
              </a:rPr>
              <a:t> </a:t>
            </a:r>
            <a:r>
              <a:rPr dirty="0" spc="60">
                <a:solidFill>
                  <a:srgbClr val="37BDF7"/>
                </a:solidFill>
              </a:rPr>
              <a:t>Recommendations</a:t>
            </a:r>
          </a:p>
        </p:txBody>
      </p:sp>
      <p:sp>
        <p:nvSpPr>
          <p:cNvPr id="7" name="object 7"/>
          <p:cNvSpPr/>
          <p:nvPr/>
        </p:nvSpPr>
        <p:spPr>
          <a:xfrm>
            <a:off x="381000" y="762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37BD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376237" y="947737"/>
            <a:ext cx="4105910" cy="2676525"/>
            <a:chOff x="376237" y="947737"/>
            <a:chExt cx="4105910" cy="2676525"/>
          </a:xfrm>
        </p:grpSpPr>
        <p:sp>
          <p:nvSpPr>
            <p:cNvPr id="9" name="object 9"/>
            <p:cNvSpPr/>
            <p:nvPr/>
          </p:nvSpPr>
          <p:spPr>
            <a:xfrm>
              <a:off x="381000" y="952500"/>
              <a:ext cx="4096385" cy="2667000"/>
            </a:xfrm>
            <a:custGeom>
              <a:avLst/>
              <a:gdLst/>
              <a:ahLst/>
              <a:cxnLst/>
              <a:rect l="l" t="t" r="r" b="b"/>
              <a:pathLst>
                <a:path w="4096385" h="2667000">
                  <a:moveTo>
                    <a:pt x="3981619" y="2666999"/>
                  </a:moveTo>
                  <a:lnTo>
                    <a:pt x="114280" y="2666999"/>
                  </a:lnTo>
                  <a:lnTo>
                    <a:pt x="69797" y="2658019"/>
                  </a:lnTo>
                  <a:lnTo>
                    <a:pt x="33472" y="2633527"/>
                  </a:lnTo>
                  <a:lnTo>
                    <a:pt x="8980" y="2597202"/>
                  </a:lnTo>
                  <a:lnTo>
                    <a:pt x="0" y="2552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3981619" y="0"/>
                  </a:lnTo>
                  <a:lnTo>
                    <a:pt x="4025352" y="8699"/>
                  </a:lnTo>
                  <a:lnTo>
                    <a:pt x="4062427" y="33472"/>
                  </a:lnTo>
                  <a:lnTo>
                    <a:pt x="4087200" y="70547"/>
                  </a:lnTo>
                  <a:lnTo>
                    <a:pt x="4095899" y="114280"/>
                  </a:lnTo>
                  <a:lnTo>
                    <a:pt x="4095899" y="2552719"/>
                  </a:lnTo>
                  <a:lnTo>
                    <a:pt x="4086919" y="2597202"/>
                  </a:lnTo>
                  <a:lnTo>
                    <a:pt x="4062427" y="2633527"/>
                  </a:lnTo>
                  <a:lnTo>
                    <a:pt x="4026102" y="2658019"/>
                  </a:lnTo>
                  <a:lnTo>
                    <a:pt x="3981619" y="26669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1000" y="952500"/>
              <a:ext cx="4096385" cy="2667000"/>
            </a:xfrm>
            <a:custGeom>
              <a:avLst/>
              <a:gdLst/>
              <a:ahLst/>
              <a:cxnLst/>
              <a:rect l="l" t="t" r="r" b="b"/>
              <a:pathLst>
                <a:path w="4096385" h="2667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3981619" y="0"/>
                  </a:lnTo>
                  <a:lnTo>
                    <a:pt x="4025352" y="8699"/>
                  </a:lnTo>
                  <a:lnTo>
                    <a:pt x="4062427" y="33472"/>
                  </a:lnTo>
                  <a:lnTo>
                    <a:pt x="4087200" y="70547"/>
                  </a:lnTo>
                  <a:lnTo>
                    <a:pt x="4095899" y="114280"/>
                  </a:lnTo>
                  <a:lnTo>
                    <a:pt x="4095899" y="2552719"/>
                  </a:lnTo>
                  <a:lnTo>
                    <a:pt x="4086919" y="2597202"/>
                  </a:lnTo>
                  <a:lnTo>
                    <a:pt x="4062427" y="2633527"/>
                  </a:lnTo>
                  <a:lnTo>
                    <a:pt x="4026102" y="2658019"/>
                  </a:lnTo>
                  <a:lnTo>
                    <a:pt x="3981619" y="2666999"/>
                  </a:lnTo>
                  <a:lnTo>
                    <a:pt x="114280" y="2666999"/>
                  </a:lnTo>
                  <a:lnTo>
                    <a:pt x="69797" y="2658019"/>
                  </a:lnTo>
                  <a:lnTo>
                    <a:pt x="33472" y="2633527"/>
                  </a:lnTo>
                  <a:lnTo>
                    <a:pt x="8980" y="2597202"/>
                  </a:lnTo>
                  <a:lnTo>
                    <a:pt x="0" y="2552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8114" y="1101038"/>
              <a:ext cx="165100" cy="1270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968909" y="1066112"/>
            <a:ext cx="12109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7BDF7"/>
                </a:solidFill>
                <a:latin typeface="Arial"/>
                <a:cs typeface="Arial"/>
              </a:rPr>
              <a:t>Final</a:t>
            </a:r>
            <a:r>
              <a:rPr dirty="0" sz="1400" spc="-114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37BDF7"/>
                </a:solidFill>
                <a:latin typeface="Arial"/>
                <a:cs typeface="Arial"/>
              </a:rPr>
              <a:t>Findings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100" y="1386713"/>
            <a:ext cx="142875" cy="1524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11175" y="1574165"/>
            <a:ext cx="118110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7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was</a:t>
            </a:r>
            <a:r>
              <a:rPr dirty="0" sz="7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concentrated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in</a:t>
            </a:r>
            <a:r>
              <a:rPr dirty="0" sz="75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7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few</a:t>
            </a:r>
            <a:r>
              <a:rPr dirty="0" sz="7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dominant</a:t>
            </a:r>
            <a:r>
              <a:rPr dirty="0" sz="75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aisles,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especially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packaged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vegetables</a:t>
            </a:r>
            <a:r>
              <a:rPr dirty="0" sz="75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fruits,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50" spc="5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vegetables,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E1E7F0"/>
                </a:solidFill>
                <a:latin typeface="Microsoft Sans Serif"/>
                <a:cs typeface="Microsoft Sans Serif"/>
              </a:rPr>
              <a:t>fresh</a:t>
            </a:r>
            <a:r>
              <a:rPr dirty="0" sz="75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16100" y="1386713"/>
            <a:ext cx="1444625" cy="152400"/>
            <a:chOff x="1816100" y="1386713"/>
            <a:chExt cx="1444625" cy="15240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6100" y="1386713"/>
              <a:ext cx="165100" cy="1428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8325" y="1386713"/>
              <a:ext cx="152400" cy="1524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797050" y="1573910"/>
            <a:ext cx="932180" cy="5187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Bananas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dominated purchases,</a:t>
            </a:r>
            <a:r>
              <a:rPr dirty="0" sz="800" spc="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showing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strong</a:t>
            </a:r>
            <a:r>
              <a:rPr dirty="0" sz="80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staple-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item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 demand.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82925" y="1573910"/>
            <a:ext cx="1091565" cy="5187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purchases followed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a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daytime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pattern,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peaking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around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14:00–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15:00.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3875" y="2421763"/>
            <a:ext cx="177800" cy="17145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11175" y="2621661"/>
            <a:ext cx="1066800" cy="5187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Recurring</a:t>
            </a:r>
            <a:r>
              <a:rPr dirty="0" sz="80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product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combinations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included bananas,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berries, avocados, and lemons.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22450" y="2428113"/>
            <a:ext cx="1422400" cy="165100"/>
            <a:chOff x="1822450" y="2428113"/>
            <a:chExt cx="1422400" cy="1651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2450" y="2443988"/>
              <a:ext cx="152400" cy="1333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24200" y="2428113"/>
              <a:ext cx="120650" cy="1651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797050" y="2621661"/>
            <a:ext cx="1169035" cy="5187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Aisle-level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patterns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linked fresh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vegetables,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fresh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fruits,</a:t>
            </a:r>
            <a:r>
              <a:rPr dirty="0" sz="800" spc="-4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8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packaged vegetables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fruits.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82925" y="2621661"/>
            <a:ext cx="1127760" cy="6426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showed</a:t>
            </a:r>
            <a:r>
              <a:rPr dirty="0" sz="800" spc="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strong repeat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purchasing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cross-department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links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with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dairy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eggs,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snacks,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frozen,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and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pantry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items.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62487" y="947737"/>
            <a:ext cx="4105910" cy="2676525"/>
            <a:chOff x="4662487" y="947737"/>
            <a:chExt cx="4105910" cy="2676525"/>
          </a:xfrm>
        </p:grpSpPr>
        <p:sp>
          <p:nvSpPr>
            <p:cNvPr id="28" name="object 28"/>
            <p:cNvSpPr/>
            <p:nvPr/>
          </p:nvSpPr>
          <p:spPr>
            <a:xfrm>
              <a:off x="4667250" y="952500"/>
              <a:ext cx="4096385" cy="2667000"/>
            </a:xfrm>
            <a:custGeom>
              <a:avLst/>
              <a:gdLst/>
              <a:ahLst/>
              <a:cxnLst/>
              <a:rect l="l" t="t" r="r" b="b"/>
              <a:pathLst>
                <a:path w="4096384" h="2667000">
                  <a:moveTo>
                    <a:pt x="3981618" y="2666999"/>
                  </a:moveTo>
                  <a:lnTo>
                    <a:pt x="114280" y="2666999"/>
                  </a:lnTo>
                  <a:lnTo>
                    <a:pt x="69797" y="2658019"/>
                  </a:lnTo>
                  <a:lnTo>
                    <a:pt x="33472" y="2633527"/>
                  </a:lnTo>
                  <a:lnTo>
                    <a:pt x="8980" y="2597202"/>
                  </a:lnTo>
                  <a:lnTo>
                    <a:pt x="0" y="2552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3981618" y="0"/>
                  </a:lnTo>
                  <a:lnTo>
                    <a:pt x="4025352" y="8699"/>
                  </a:lnTo>
                  <a:lnTo>
                    <a:pt x="4062427" y="33472"/>
                  </a:lnTo>
                  <a:lnTo>
                    <a:pt x="4087200" y="70547"/>
                  </a:lnTo>
                  <a:lnTo>
                    <a:pt x="4095899" y="114280"/>
                  </a:lnTo>
                  <a:lnTo>
                    <a:pt x="4095899" y="2552719"/>
                  </a:lnTo>
                  <a:lnTo>
                    <a:pt x="4086919" y="2597202"/>
                  </a:lnTo>
                  <a:lnTo>
                    <a:pt x="4062427" y="2633527"/>
                  </a:lnTo>
                  <a:lnTo>
                    <a:pt x="4026102" y="2658019"/>
                  </a:lnTo>
                  <a:lnTo>
                    <a:pt x="3981618" y="2666999"/>
                  </a:lnTo>
                  <a:close/>
                </a:path>
              </a:pathLst>
            </a:custGeom>
            <a:solidFill>
              <a:srgbClr val="1E293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667250" y="952500"/>
              <a:ext cx="4096385" cy="2667000"/>
            </a:xfrm>
            <a:custGeom>
              <a:avLst/>
              <a:gdLst/>
              <a:ahLst/>
              <a:cxnLst/>
              <a:rect l="l" t="t" r="r" b="b"/>
              <a:pathLst>
                <a:path w="4096384" h="2667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3981618" y="0"/>
                  </a:lnTo>
                  <a:lnTo>
                    <a:pt x="4025352" y="8699"/>
                  </a:lnTo>
                  <a:lnTo>
                    <a:pt x="4062427" y="33472"/>
                  </a:lnTo>
                  <a:lnTo>
                    <a:pt x="4087200" y="70547"/>
                  </a:lnTo>
                  <a:lnTo>
                    <a:pt x="4095899" y="114280"/>
                  </a:lnTo>
                  <a:lnTo>
                    <a:pt x="4095899" y="2552719"/>
                  </a:lnTo>
                  <a:lnTo>
                    <a:pt x="4086919" y="2597202"/>
                  </a:lnTo>
                  <a:lnTo>
                    <a:pt x="4062427" y="2633527"/>
                  </a:lnTo>
                  <a:lnTo>
                    <a:pt x="4026102" y="2658019"/>
                  </a:lnTo>
                  <a:lnTo>
                    <a:pt x="3981618" y="2666999"/>
                  </a:lnTo>
                  <a:lnTo>
                    <a:pt x="114280" y="2666999"/>
                  </a:lnTo>
                  <a:lnTo>
                    <a:pt x="69797" y="2658019"/>
                  </a:lnTo>
                  <a:lnTo>
                    <a:pt x="33472" y="2633527"/>
                  </a:lnTo>
                  <a:lnTo>
                    <a:pt x="8980" y="2597202"/>
                  </a:lnTo>
                  <a:lnTo>
                    <a:pt x="0" y="2552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37BDF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1076" y="1091513"/>
              <a:ext cx="107950" cy="1524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633296" y="1066112"/>
            <a:ext cx="24555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7BDF7"/>
                </a:solidFill>
                <a:latin typeface="Arial"/>
                <a:cs typeface="Arial"/>
              </a:rPr>
              <a:t>Business</a:t>
            </a:r>
            <a:r>
              <a:rPr dirty="0" sz="1400" spc="-114" b="1">
                <a:solidFill>
                  <a:srgbClr val="37BDF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37BDF7"/>
                </a:solidFill>
                <a:latin typeface="Arial"/>
                <a:cs typeface="Arial"/>
              </a:rPr>
              <a:t>Recommendations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22825" y="1386713"/>
            <a:ext cx="152400" cy="15240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797425" y="1573910"/>
            <a:ext cx="1151255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Prioritize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availability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 staple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items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like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bananas and</a:t>
            </a:r>
            <a:r>
              <a:rPr dirty="0" sz="8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berries.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02350" y="1380363"/>
            <a:ext cx="165100" cy="1651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083300" y="1573910"/>
            <a:ext cx="1041400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Use</a:t>
            </a:r>
            <a:r>
              <a:rPr dirty="0" sz="800" spc="1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Produce-centered bundles</a:t>
            </a:r>
            <a:r>
              <a:rPr dirty="0" sz="800" spc="-1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for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strong combinations.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04100" y="1386713"/>
            <a:ext cx="155575" cy="1651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369175" y="1573910"/>
            <a:ext cx="1003935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Schedule</a:t>
            </a:r>
            <a:r>
              <a:rPr dirty="0" sz="800" spc="-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promotions during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peak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afternoon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shopping</a:t>
            </a:r>
            <a:r>
              <a:rPr dirty="0" sz="800" spc="-5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hours.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822825" y="2434463"/>
            <a:ext cx="1438275" cy="152400"/>
            <a:chOff x="4822825" y="2434463"/>
            <a:chExt cx="1438275" cy="152400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22825" y="2472563"/>
              <a:ext cx="152400" cy="762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8700" y="2434463"/>
              <a:ext cx="152400" cy="1524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4797425" y="2621661"/>
            <a:ext cx="1118235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Create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recommendation links</a:t>
            </a:r>
            <a:r>
              <a:rPr dirty="0" sz="8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with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dairy,</a:t>
            </a:r>
            <a:r>
              <a:rPr dirty="0" sz="8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snacks, and</a:t>
            </a:r>
            <a:r>
              <a:rPr dirty="0" sz="800" spc="-3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frozen.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83300" y="2621661"/>
            <a:ext cx="1198245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Highlight</a:t>
            </a:r>
            <a:r>
              <a:rPr dirty="0" sz="800" spc="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high-reorder Produce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items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in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retention and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reorder</a:t>
            </a:r>
            <a:r>
              <a:rPr dirty="0" sz="800" spc="-4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features.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404100" y="2443988"/>
            <a:ext cx="133350" cy="13335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369175" y="2621661"/>
            <a:ext cx="1104900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Improve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category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layout based</a:t>
            </a:r>
            <a:r>
              <a:rPr dirty="0" sz="800" spc="-30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E1E7F0"/>
                </a:solidFill>
                <a:latin typeface="Microsoft Sans Serif"/>
                <a:cs typeface="Microsoft Sans Serif"/>
              </a:rPr>
              <a:t>on</a:t>
            </a:r>
            <a:r>
              <a:rPr dirty="0" sz="800" spc="-25">
                <a:solidFill>
                  <a:srgbClr val="E1E7F0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aisle-</a:t>
            </a:r>
            <a:r>
              <a:rPr dirty="0" sz="800" spc="-20">
                <a:solidFill>
                  <a:srgbClr val="E1E7F0"/>
                </a:solidFill>
                <a:latin typeface="Microsoft Sans Serif"/>
                <a:cs typeface="Microsoft Sans Serif"/>
              </a:rPr>
              <a:t>level</a:t>
            </a:r>
            <a:r>
              <a:rPr dirty="0" sz="800" spc="-10">
                <a:solidFill>
                  <a:srgbClr val="E1E7F0"/>
                </a:solidFill>
                <a:latin typeface="Microsoft Sans Serif"/>
                <a:cs typeface="Microsoft Sans Serif"/>
              </a:rPr>
              <a:t> patterns.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858751" y="118171"/>
            <a:ext cx="20510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12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60" b="0">
                <a:solidFill>
                  <a:srgbClr val="37BDF7"/>
                </a:solidFill>
                <a:latin typeface="Arial Black"/>
                <a:cs typeface="Arial Black"/>
              </a:rPr>
              <a:t>THANK</a:t>
            </a:r>
            <a:r>
              <a:rPr dirty="0" sz="6400" spc="-1445" b="0">
                <a:solidFill>
                  <a:srgbClr val="37BDF7"/>
                </a:solidFill>
                <a:latin typeface="Arial Black"/>
                <a:cs typeface="Arial Black"/>
              </a:rPr>
              <a:t> </a:t>
            </a:r>
            <a:r>
              <a:rPr dirty="0" sz="6400" spc="-25" b="0">
                <a:solidFill>
                  <a:srgbClr val="37BDF7"/>
                </a:solidFill>
                <a:latin typeface="Arial Black"/>
                <a:cs typeface="Arial Black"/>
              </a:rPr>
              <a:t>YOU</a:t>
            </a:r>
            <a:endParaRPr sz="6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0628" y="3008122"/>
            <a:ext cx="33242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CBD4E1"/>
                </a:solidFill>
                <a:latin typeface="Arial MT"/>
                <a:cs typeface="Arial MT"/>
              </a:rPr>
              <a:t>Thank</a:t>
            </a:r>
            <a:r>
              <a:rPr dirty="0" sz="1600" spc="-145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1600" spc="-20">
                <a:solidFill>
                  <a:srgbClr val="CBD4E1"/>
                </a:solidFill>
                <a:latin typeface="Arial MT"/>
                <a:cs typeface="Arial MT"/>
              </a:rPr>
              <a:t>you</a:t>
            </a:r>
            <a:r>
              <a:rPr dirty="0" sz="1600" spc="-8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1600" spc="-30">
                <a:solidFill>
                  <a:srgbClr val="CBD4E1"/>
                </a:solidFill>
                <a:latin typeface="Arial MT"/>
                <a:cs typeface="Arial MT"/>
              </a:rPr>
              <a:t>for</a:t>
            </a:r>
            <a:r>
              <a:rPr dirty="0" sz="1600" spc="-11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CBD4E1"/>
                </a:solidFill>
                <a:latin typeface="Arial MT"/>
                <a:cs typeface="Arial MT"/>
              </a:rPr>
              <a:t>your</a:t>
            </a:r>
            <a:r>
              <a:rPr dirty="0" sz="1600" spc="-11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CBD4E1"/>
                </a:solidFill>
                <a:latin typeface="Arial MT"/>
                <a:cs typeface="Arial MT"/>
              </a:rPr>
              <a:t>attention</a:t>
            </a:r>
            <a:r>
              <a:rPr dirty="0" sz="1600" spc="-8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CBD4E1"/>
                </a:solidFill>
                <a:latin typeface="Arial MT"/>
                <a:cs typeface="Arial MT"/>
              </a:rPr>
              <a:t>and</a:t>
            </a:r>
            <a:r>
              <a:rPr dirty="0" sz="1600" spc="-80">
                <a:solidFill>
                  <a:srgbClr val="CBD4E1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CBD4E1"/>
                </a:solidFill>
                <a:latin typeface="Arial MT"/>
                <a:cs typeface="Arial MT"/>
              </a:rPr>
              <a:t>time.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4504" y="1044131"/>
            <a:ext cx="254000" cy="2857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33450" y="9334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37BD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23950" y="9334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37BD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14450" y="9334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37BD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33450" y="11239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37BD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72450" y="41719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818C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81950" y="41719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818C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91450" y="41719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818C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72450" y="39814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49" y="38099"/>
                </a:move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24102" y="0"/>
                </a:lnTo>
                <a:lnTo>
                  <a:pt x="28947" y="2006"/>
                </a:lnTo>
                <a:lnTo>
                  <a:pt x="36092" y="9152"/>
                </a:lnTo>
                <a:lnTo>
                  <a:pt x="38099" y="13997"/>
                </a:lnTo>
                <a:lnTo>
                  <a:pt x="38099" y="19049"/>
                </a:lnTo>
                <a:lnTo>
                  <a:pt x="36602" y="26465"/>
                </a:lnTo>
                <a:lnTo>
                  <a:pt x="32520" y="32520"/>
                </a:lnTo>
                <a:lnTo>
                  <a:pt x="26465" y="36602"/>
                </a:lnTo>
                <a:lnTo>
                  <a:pt x="19049" y="38099"/>
                </a:lnTo>
                <a:close/>
              </a:path>
            </a:pathLst>
          </a:custGeom>
          <a:solidFill>
            <a:srgbClr val="818CF7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830560" y="103320"/>
            <a:ext cx="2063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13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terms:created xsi:type="dcterms:W3CDTF">2026-05-05T05:44:34Z</dcterms:created>
  <dcterms:modified xsi:type="dcterms:W3CDTF">2026-05-05T05:44:34Z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2026-05-05T00:00:00Z</vt:filetime>
  </property>
  <property fmtid="{D5CDD505-2E9C-101B-9397-08002B2CF9AE}" pid="4" name="Creator">
    <vt:lpwstr>Google</vt:lpwstr>
  </property>
  <property fmtid="{D5CDD505-2E9C-101B-9397-08002B2CF9AE}" pid="5" name="LastSaved">
    <vt:filetime>2026-05-05T00:00:00Z</vt:filetime>
  </property>
</Properties>
</file>